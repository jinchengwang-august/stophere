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4668d4cced142f1" /><Relationship Type="http://schemas.openxmlformats.org/officeDocument/2006/relationships/extended-properties" Target="/docProps/app.xml" Id="Ra46a7a6405d0458c" /><Relationship Type="http://schemas.openxmlformats.org/officeDocument/2006/relationships/officeDocument" Target="/ppt/presentation.xml" Id="R567a46b2e6074070" /></Relationships>
</file>

<file path=ppt/presentation.xml><?xml version="1.0" encoding="utf-8"?>
<p:presentation xmlns:p="http://schemas.openxmlformats.org/presentationml/2006/main">
  <p:sldMasterIdLst>
    <p:sldMasterId xmlns:r="http://schemas.openxmlformats.org/officeDocument/2006/relationships" id="2147483648" r:id="R60d626c20a7d44b2"/>
  </p:sldMasterIdLst>
  <p:notesMasterIdLst>
    <p:notesMasterId xmlns:r="http://schemas.openxmlformats.org/officeDocument/2006/relationships" r:id="R899f5014182e48d1"/>
  </p:notesMasterIdLst>
  <p:sldIdLst>
    <p:sldId xmlns:r="http://schemas.openxmlformats.org/officeDocument/2006/relationships" id="256" r:id="R5b603a11bce44379"/>
    <p:sldId xmlns:r="http://schemas.openxmlformats.org/officeDocument/2006/relationships" id="257" r:id="R009dc7619a8e4eed"/>
    <p:sldId xmlns:r="http://schemas.openxmlformats.org/officeDocument/2006/relationships" id="258" r:id="Rba53b7feb4164fb2"/>
    <p:sldId xmlns:r="http://schemas.openxmlformats.org/officeDocument/2006/relationships" id="259" r:id="R9980d581828f4714"/>
    <p:sldId xmlns:r="http://schemas.openxmlformats.org/officeDocument/2006/relationships" id="260" r:id="R750f9e90e9a341bf"/>
    <p:sldId xmlns:r="http://schemas.openxmlformats.org/officeDocument/2006/relationships" id="261" r:id="R5319eed7967c41bc"/>
    <p:sldId xmlns:r="http://schemas.openxmlformats.org/officeDocument/2006/relationships" id="262" r:id="R9650d1128fe149d6"/>
    <p:sldId xmlns:r="http://schemas.openxmlformats.org/officeDocument/2006/relationships" id="263" r:id="R6de496d5756c4b42"/>
    <p:sldId xmlns:r="http://schemas.openxmlformats.org/officeDocument/2006/relationships" id="264" r:id="R6ce88848161841d8"/>
    <p:sldId xmlns:r="http://schemas.openxmlformats.org/officeDocument/2006/relationships" id="265" r:id="R0d441b2706744b0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550cc42051f46b4" /><Relationship Type="http://schemas.openxmlformats.org/officeDocument/2006/relationships/slideMaster" Target="/ppt/slideMasters/slideMaster1.xml" Id="R60d626c20a7d44b2" /><Relationship Type="http://schemas.openxmlformats.org/officeDocument/2006/relationships/notesMaster" Target="/ppt/notesMasters/notesMaster1.xml" Id="R899f5014182e48d1" /><Relationship Type="http://schemas.openxmlformats.org/officeDocument/2006/relationships/presProps" Target="/ppt/presProps.xml" Id="R6a1ca35748834620" /><Relationship Type="http://schemas.openxmlformats.org/officeDocument/2006/relationships/tableStyles" Target="/ppt/tableStyles.xml" Id="R1bba288779f64b6c" /><Relationship Type="http://schemas.openxmlformats.org/officeDocument/2006/relationships/slide" Target="/ppt/slides/slide1.xml" Id="R5b603a11bce44379" /><Relationship Type="http://schemas.openxmlformats.org/officeDocument/2006/relationships/slide" Target="/ppt/slides/slide2.xml" Id="R009dc7619a8e4eed" /><Relationship Type="http://schemas.openxmlformats.org/officeDocument/2006/relationships/slide" Target="/ppt/slides/slide3.xml" Id="Rba53b7feb4164fb2" /><Relationship Type="http://schemas.openxmlformats.org/officeDocument/2006/relationships/slide" Target="/ppt/slides/slide4.xml" Id="R9980d581828f4714" /><Relationship Type="http://schemas.openxmlformats.org/officeDocument/2006/relationships/slide" Target="/ppt/slides/slide5.xml" Id="R750f9e90e9a341bf" /><Relationship Type="http://schemas.openxmlformats.org/officeDocument/2006/relationships/slide" Target="/ppt/slides/slide6.xml" Id="R5319eed7967c41bc" /><Relationship Type="http://schemas.openxmlformats.org/officeDocument/2006/relationships/slide" Target="/ppt/slides/slide7.xml" Id="R9650d1128fe149d6" /><Relationship Type="http://schemas.openxmlformats.org/officeDocument/2006/relationships/slide" Target="/ppt/slides/slide8.xml" Id="R6de496d5756c4b42" /><Relationship Type="http://schemas.openxmlformats.org/officeDocument/2006/relationships/slide" Target="/ppt/slides/slide9.xml" Id="R6ce88848161841d8" /><Relationship Type="http://schemas.openxmlformats.org/officeDocument/2006/relationships/slide" Target="/ppt/slides/slide10.xml" Id="R0d441b2706744b0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e53754fb3e047d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DejaVu Sans"/>
        <a:ea typeface=""/>
        <a:cs typeface=""/>
      </a:majorFont>
      <a:minorFont>
        <a:latin typeface="DejaVu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20352fca90042db" /><Relationship Type="http://schemas.openxmlformats.org/officeDocument/2006/relationships/notesMaster" Target="/ppt/notesMasters/notesMaster1.xml" Id="Rc9431cf75d2943d9" /></Relationships>
</file>

<file path=ppt/notesSlides/_rels/notesSlide2.xml.rels>&#65279;<?xml version="1.0" encoding="utf-8"?><Relationships xmlns="http://schemas.openxmlformats.org/package/2006/relationships"><Relationship Type="http://schemas.openxmlformats.org/officeDocument/2006/relationships/slide" Target="/ppt/slides/slide2.xml" Id="Rcd74257f7924436b" /><Relationship Type="http://schemas.openxmlformats.org/officeDocument/2006/relationships/notesMaster" Target="/ppt/notesMasters/notesMaster1.xml" Id="R88ac63f3ae3c4020" /></Relationships>
</file>

<file path=ppt/notesSlides/_rels/notesSlide3.xml.rels>&#65279;<?xml version="1.0" encoding="utf-8"?><Relationships xmlns="http://schemas.openxmlformats.org/package/2006/relationships"><Relationship Type="http://schemas.openxmlformats.org/officeDocument/2006/relationships/slide" Target="/ppt/slides/slide3.xml" Id="Rf270aca170ba4133" /><Relationship Type="http://schemas.openxmlformats.org/officeDocument/2006/relationships/notesMaster" Target="/ppt/notesMasters/notesMaster1.xml" Id="Rd1542371ff714183" /></Relationships>
</file>

<file path=ppt/notesSlides/_rels/notesSlide4.xml.rels>&#65279;<?xml version="1.0" encoding="utf-8"?><Relationships xmlns="http://schemas.openxmlformats.org/package/2006/relationships"><Relationship Type="http://schemas.openxmlformats.org/officeDocument/2006/relationships/slide" Target="/ppt/slides/slide4.xml" Id="Re8a438e14e1d4c76" /><Relationship Type="http://schemas.openxmlformats.org/officeDocument/2006/relationships/notesMaster" Target="/ppt/notesMasters/notesMaster1.xml" Id="Rf3f53afadd58426e" /></Relationships>
</file>

<file path=ppt/notesSlides/_rels/notesSlide5.xml.rels>&#65279;<?xml version="1.0" encoding="utf-8"?><Relationships xmlns="http://schemas.openxmlformats.org/package/2006/relationships"><Relationship Type="http://schemas.openxmlformats.org/officeDocument/2006/relationships/slide" Target="/ppt/slides/slide5.xml" Id="Rb9dfb95554d34a0b" /><Relationship Type="http://schemas.openxmlformats.org/officeDocument/2006/relationships/notesMaster" Target="/ppt/notesMasters/notesMaster1.xml" Id="Rd4af703f68994ba1" /></Relationships>
</file>

<file path=ppt/notesSlides/_rels/notesSlide6.xml.rels>&#65279;<?xml version="1.0" encoding="utf-8"?><Relationships xmlns="http://schemas.openxmlformats.org/package/2006/relationships"><Relationship Type="http://schemas.openxmlformats.org/officeDocument/2006/relationships/slide" Target="/ppt/slides/slide6.xml" Id="R898d79b9914b474a" /><Relationship Type="http://schemas.openxmlformats.org/officeDocument/2006/relationships/notesMaster" Target="/ppt/notesMasters/notesMaster1.xml" Id="R7d011103de0e4c80" /></Relationships>
</file>

<file path=ppt/notesSlides/_rels/notesSlide7.xml.rels>&#65279;<?xml version="1.0" encoding="utf-8"?><Relationships xmlns="http://schemas.openxmlformats.org/package/2006/relationships"><Relationship Type="http://schemas.openxmlformats.org/officeDocument/2006/relationships/slide" Target="/ppt/slides/slide7.xml" Id="R0d526e803f814730" /><Relationship Type="http://schemas.openxmlformats.org/officeDocument/2006/relationships/notesMaster" Target="/ppt/notesMasters/notesMaster1.xml" Id="Rf8690d6b382a4458" /></Relationships>
</file>

<file path=ppt/notesSlides/_rels/notesSlide8.xml.rels>&#65279;<?xml version="1.0" encoding="utf-8"?><Relationships xmlns="http://schemas.openxmlformats.org/package/2006/relationships"><Relationship Type="http://schemas.openxmlformats.org/officeDocument/2006/relationships/slide" Target="/ppt/slides/slide8.xml" Id="Re2c0a4439282413d" /><Relationship Type="http://schemas.openxmlformats.org/officeDocument/2006/relationships/notesMaster" Target="/ppt/notesMasters/notesMaster1.xml" Id="R9193b6328a1d4f26" /></Relationships>
</file>

<file path=ppt/notesSlides/_rels/notesSlide9.xml.rels>&#65279;<?xml version="1.0" encoding="utf-8"?><Relationships xmlns="http://schemas.openxmlformats.org/package/2006/relationships"><Relationship Type="http://schemas.openxmlformats.org/officeDocument/2006/relationships/slide" Target="/ppt/slides/slide9.xml" Id="R41d4004e53e14e27" /><Relationship Type="http://schemas.openxmlformats.org/officeDocument/2006/relationships/notesMaster" Target="/ppt/notesMasters/notesMaster1.xml" Id="R89f81e9f245e4e6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c8280a20b8545f9" /><Relationship Type="http://schemas.openxmlformats.org/officeDocument/2006/relationships/notesMaster" Target="/ppt/notesMasters/notesMaster1.xml" Id="Rdfb81d855f684e4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p>
          <a:p xmlns:a="http://schemas.openxmlformats.org/drawingml/2006/main">
            <a:r>
              <a:t>Bayesian optimization addresses problems where evaluating the objective costs much more than computing a model. We want a high value input, but we cannot scan the full domain or rely on gradients. A chemistry experiment is a good example. The input may contain temperature and composition, while the output is yield. The true curve on the right exists only for teaching. During optimization, we see only the outcomes of the experiments we chose. BO uses a probabilistic surrogate to decide which experiment has the greatest value next.</a:t>
            </a:r>
          </a:p>
          <a:p xmlns:a="http://schemas.openxmlformats.org/drawingml/2006/main">
            <a:r>
              <a:t/>
            </a:r>
          </a:p>
          <a:p xmlns:a="http://schemas.openxmlformats.org/drawingml/2006/main">
            <a:r>
              <a:t>Sources:</a:t>
            </a:r>
          </a:p>
          <a:p xmlns:a="http://schemas.openxmlformats.org/drawingml/2006/main">
            <a:r>
              <a:t>- https://arxiv.org/abs/1807.02811</a:t>
            </a:r>
          </a:p>
          <a:p xmlns:a="http://schemas.openxmlformats.org/drawingml/2006/main">
            <a:r>
              <a:t>- https://ieeexplore.ieee.org/document/7352306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p>
          <a:p xmlns:a="http://schemas.openxmlformats.org/drawingml/2006/main">
            <a:r>
              <a:t>I keep five objects separate. The objective is the real world relationship. The GP is a statistical belief about that relationship. The acquisition rule chooses the next experiment. The stopping rule decides whether another experiment justifies its cost. The recommendation rule chooses the final input. Several papers use the same GP but make different decisions from it. EI asks about improvement, UCB adds an uncertainty bonus, and MES asks how much an observation teaches us about the unknown maximum value.</a:t>
            </a:r>
          </a:p>
          <a:p xmlns:a="http://schemas.openxmlformats.org/drawingml/2006/main">
            <a:r>
              <a:t/>
            </a:r>
          </a:p>
          <a:p xmlns:a="http://schemas.openxmlformats.org/drawingml/2006/main">
            <a:r>
              <a:t>Sources:</a:t>
            </a:r>
          </a:p>
          <a:p xmlns:a="http://schemas.openxmlformats.org/drawingml/2006/main">
            <a:r>
              <a:t>- https://arxiv.org/abs/1807.02811</a:t>
            </a:r>
          </a:p>
          <a:p xmlns:a="http://schemas.openxmlformats.org/drawingml/2006/main">
            <a:r>
              <a:t>- https://doi.org/10.1023/A:1008306431147</a:t>
            </a:r>
          </a:p>
          <a:p xmlns:a="http://schemas.openxmlformats.org/drawingml/2006/main">
            <a:r>
              <a:t>- https://arxiv.org/abs/0912.3995</a:t>
            </a:r>
          </a:p>
          <a:p xmlns:a="http://schemas.openxmlformats.org/drawingml/2006/main">
            <a:r>
              <a:t>- https://proceedings.mlr.press/v70/wang17e.html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p>
          <a:p xmlns:a="http://schemas.openxmlformats.org/drawingml/2006/main">
            <a:r>
              <a:t>The loop begins with a small initial design. We fit a GP and obtain posterior mean and uncertainty. The acquisition function turns that belief into a value for each candidate. We optimize the acquisition and run the chosen experiment. The new observation enters the dataset, and the GP gets refitted. After each update, the stopping rule checks whether another evaluation remains worthwhile. If it stops, the recommendation rule returns the final input. This separation also guides the code structure and makes experiments easier to diagnose.</a:t>
            </a:r>
          </a:p>
          <a:p xmlns:a="http://schemas.openxmlformats.org/drawingml/2006/main">
            <a:r>
              <a:t/>
            </a:r>
          </a:p>
          <a:p xmlns:a="http://schemas.openxmlformats.org/drawingml/2006/main">
            <a:r>
              <a:t>Sources:</a:t>
            </a:r>
          </a:p>
          <a:p xmlns:a="http://schemas.openxmlformats.org/drawingml/2006/main">
            <a:r>
              <a:t>- https://arxiv.org/abs/1807.02811</a:t>
            </a:r>
          </a:p>
          <a:p xmlns:a="http://schemas.openxmlformats.org/drawingml/2006/main">
            <a:r>
              <a:t>- https://arxiv.org/abs/1910.06403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p>
          <a:p xmlns:a="http://schemas.openxmlformats.org/drawingml/2006/main">
            <a:r>
              <a:t>This example shows what the GP actually computes. We observe two points and choose an RBF kernel with length scale 0.25. The covariance matrix expresses how related the observations are. The vector k star expresses how related the test point is to both observations. Multiplying through the Gaussian conditioning equations gives posterior mean 0.533 and posterior standard deviation 0.594. The mean is our current best prediction, while the standard deviation measures remaining uncertainty under the fitted model. The acquisition function will combine both numbers.</a:t>
            </a:r>
          </a:p>
          <a:p xmlns:a="http://schemas.openxmlformats.org/drawingml/2006/main">
            <a:r>
              <a:t/>
            </a:r>
          </a:p>
          <a:p xmlns:a="http://schemas.openxmlformats.org/drawingml/2006/main">
            <a:r>
              <a:t>Sources:</a:t>
            </a:r>
          </a:p>
          <a:p xmlns:a="http://schemas.openxmlformats.org/drawingml/2006/main">
            <a:r>
              <a:t>- https://arxiv.org/abs/1807.02811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p>
          <a:p xmlns:a="http://schemas.openxmlformats.org/drawingml/2006/main">
            <a:r>
              <a:t>The acquisition value is a decision score, not a new observation. In this UCB example, candidate A has the higher predicted mean, but candidate B has much more uncertainty. With kappa equal to two, A scores 0.84 and B scores 1.05, so the optimizer evaluates B. Some papers write the exploration weight as the square root of beta. Expected improvement instead measures gain over an incumbent. MES values information about the unknown maximum. LogEI improves the numerical calculation of EI, but it does not repair a wrong GP model.</a:t>
            </a:r>
          </a:p>
          <a:p xmlns:a="http://schemas.openxmlformats.org/drawingml/2006/main">
            <a:r>
              <a:t/>
            </a:r>
          </a:p>
          <a:p xmlns:a="http://schemas.openxmlformats.org/drawingml/2006/main">
            <a:r>
              <a:t>Sources:</a:t>
            </a:r>
          </a:p>
          <a:p xmlns:a="http://schemas.openxmlformats.org/drawingml/2006/main">
            <a:r>
              <a:t>- https://doi.org/10.1023/A:1008306431147</a:t>
            </a:r>
          </a:p>
          <a:p xmlns:a="http://schemas.openxmlformats.org/drawingml/2006/main">
            <a:r>
              <a:t>- https://arxiv.org/abs/0912.3995</a:t>
            </a:r>
          </a:p>
          <a:p xmlns:a="http://schemas.openxmlformats.org/drawingml/2006/main">
            <a:r>
              <a:t>- https://proceedings.mlr.press/v70/wang17e.html</a:t>
            </a:r>
          </a:p>
          <a:p xmlns:a="http://schemas.openxmlformats.org/drawingml/2006/main">
            <a:r>
              <a:t>- https://arxiv.org/abs/2310.20708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p>
          <a:p xmlns:a="http://schemas.openxmlformats.org/drawingml/2006/main">
            <a:r>
              <a:t>Hyperparameters define which functions the GP considers plausible. The kernel family controls smoothness. Length scale controls horizontal reach. Output scale controls vertical variation. Observation noise controls how strongly the model trusts measurements. The mean function controls the prediction far from data. ARD assigns one length scale to each input, so the inputs must be normalized before comparing those values. Kappa, epsilon, and delta are decision settings rather than GP hyperparameters. Jitter only stabilizes matrix computations and should not represent scientific measurement noise.</a:t>
            </a:r>
          </a:p>
          <a:p xmlns:a="http://schemas.openxmlformats.org/drawingml/2006/main">
            <a:r>
              <a:t/>
            </a:r>
          </a:p>
          <a:p xmlns:a="http://schemas.openxmlformats.org/drawingml/2006/main">
            <a:r>
              <a:t>Sources:</a:t>
            </a:r>
          </a:p>
          <a:p xmlns:a="http://schemas.openxmlformats.org/drawingml/2006/main">
            <a:r>
              <a:t>- https://ieeexplore.ieee.org/document/7352306</a:t>
            </a:r>
          </a:p>
          <a:p xmlns:a="http://schemas.openxmlformats.org/drawingml/2006/main">
            <a:r>
              <a:t>- https://arxiv.org/abs/1910.06403</a:t>
            </a:r>
          </a:p>
          <a:p xmlns:a="http://schemas.openxmlformats.org/drawingml/2006/main">
            <a:r>
              <a:t>- https://arxiv.org/abs/2310.20708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p>
          <a:p xmlns:a="http://schemas.openxmlformats.org/drawingml/2006/main">
            <a:r>
              <a:t>Length scale is central to this project because it controls how far evidence travels. At distance 0.2, length scale 0.1 gives correlation 0.135, while length scale 0.5 gives 0.923. With the larger value, a few observations can reduce uncertainty over a large region. If the real objective contains a narrow peak, the model may never explore it. Improvement and posterior regret estimates can then become small, and a stopping rule can fire with false confidence. A small length scale tends to be conservative because uncertainty rises again between observations.</a:t>
            </a:r>
          </a:p>
          <a:p xmlns:a="http://schemas.openxmlformats.org/drawingml/2006/main">
            <a:r>
              <a:t/>
            </a:r>
          </a:p>
          <a:p xmlns:a="http://schemas.openxmlformats.org/drawingml/2006/main">
            <a:r>
              <a:t>Sources:</a:t>
            </a:r>
          </a:p>
          <a:p xmlns:a="http://schemas.openxmlformats.org/drawingml/2006/main">
            <a:r>
              <a:t>- https://proceedings.neurips.cc/paper_files/paper/2024/hash/b204de7078301292a8876a762eed3dcb-Abstract-Conference.html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p>
          <a:p xmlns:a="http://schemas.openxmlformats.org/drawingml/2006/main">
            <a:r>
              <a:t>We usually fit hyperparameters by maximizing marginal likelihood or a posterior objective. The first quadratic term rewards explaining the observations. The log determinant creates an Occam tradeoff. In practice, I normalize the data, use multiple initializations, refit after each observation, and track the fitted parameters. Standardized residuals and benchmark coverage test whether the uncertainty is calibrated. Stopping rules range from simple EI thresholds to posterior regret statements. Makarova emphasizes remaining opportunity and error control. Ishibashi connects stopping to simple regret. Wilson states the clearest epsilon and delta target. Every statement remains conditional on model quality and numerical accuracy.</a:t>
            </a:r>
          </a:p>
          <a:p xmlns:a="http://schemas.openxmlformats.org/drawingml/2006/main">
            <a:r>
              <a:t/>
            </a:r>
          </a:p>
          <a:p xmlns:a="http://schemas.openxmlformats.org/drawingml/2006/main">
            <a:r>
              <a:t>Sources:</a:t>
            </a:r>
          </a:p>
          <a:p xmlns:a="http://schemas.openxmlformats.org/drawingml/2006/main">
            <a:r>
              <a:t>- https://proceedings.mlr.press/v188/makarova22a.html</a:t>
            </a:r>
          </a:p>
          <a:p xmlns:a="http://schemas.openxmlformats.org/drawingml/2006/main">
            <a:r>
              <a:t>- https://proceedings.mlr.press/v206/ishibashi23a.html</a:t>
            </a:r>
          </a:p>
          <a:p xmlns:a="http://schemas.openxmlformats.org/drawingml/2006/main">
            <a:r>
              <a:t>- https://proceedings.neurips.cc/paper_files/paper/2024/hash/b204de7078301292a8876a762eed3dcb-Abstract-Conference.html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p>
          <a:p xmlns:a="http://schemas.openxmlformats.org/drawingml/2006/main">
            <a:r>
              <a:t>This simplified code follows the same loop as the diagram. It fits a SingleTaskGP, optimizes the marginal likelihood, constructs LogExpectedImprovement, and optimizes the acquisition. The log EI threshold is only an illustrative heuristic. The benchmark will also use probability aware and regret oriented observers. After evaluating x next, the code appends the new data and refits. Finally, the recommendation returns the best evaluated point in the noiseless pilot. Keeping these blocks separate lets us change one decision rule without silently changing the others.</a:t>
            </a:r>
          </a:p>
          <a:p xmlns:a="http://schemas.openxmlformats.org/drawingml/2006/main">
            <a:r>
              <a:t/>
            </a:r>
          </a:p>
          <a:p xmlns:a="http://schemas.openxmlformats.org/drawingml/2006/main">
            <a:r>
              <a:t>Sources:</a:t>
            </a:r>
          </a:p>
          <a:p xmlns:a="http://schemas.openxmlformats.org/drawingml/2006/main">
            <a:r>
              <a:t>- https://arxiv.org/abs/1910.06403</a:t>
            </a:r>
          </a:p>
          <a:p xmlns:a="http://schemas.openxmlformats.org/drawingml/2006/main">
            <a:r>
              <a:t>- https://arxiv.org/abs/2310.20708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p>
          <a:p xmlns:a="http://schemas.openxmlformats.org/drawingml/2006/main">
            <a:r>
              <a:t>The next step is a small complete run, not the full experiment matrix. I will first reproduce the Phase 1 material in a clean environment. Then I will build benchmark functions with known optima, including narrow peak cases that challenge the length scale. After implementing the acquisition and stopping methods, I will profile a small matrix to identify numerical and runtime problems. Only then will I freeze the configuration and run 600 BO trajectories. The most important discussion with Petrus concerns the reliability claim, because epsilon, delta, confirmation runs, and reporting all depend on that choice.</a:t>
            </a:r>
          </a:p>
          <a:p xmlns:a="http://schemas.openxmlformats.org/drawingml/2006/main">
            <a:r>
              <a:t/>
            </a:r>
          </a:p>
          <a:p xmlns:a="http://schemas.openxmlformats.org/drawingml/2006/main">
            <a:r>
              <a:t>Sources:</a:t>
            </a:r>
          </a:p>
          <a:p xmlns:a="http://schemas.openxmlformats.org/drawingml/2006/main">
            <a:r>
              <a:t>- https://github.com/phzwart/stophere</a:t>
            </a:r>
          </a:p>
          <a:p xmlns:a="http://schemas.openxmlformats.org/drawingml/2006/main">
            <a:r>
              <a:t>- Ten paper reading list in docs/reading_list.md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cd4888deb1e455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a5f479418dc4ca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2aedfcdb339442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cbc7e6437d84d7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37db06a773c4af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4c2637dcd9c488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7E04755-F452-4D35-AA83-92DAAB535FA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31C2175-F9F0-4466-A295-9B09A2C6D9E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B2FA8B6-94E1-486D-A01C-CF4FB2C8B13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322890B-27C5-4527-B3C4-81C529D5992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F0FB7F7-7158-427B-92BD-86F52A290D9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728A1D1-0515-4406-8E39-C5D07B858C0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30CE898-1E52-4FDB-8039-BD76A2C45CD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EF04A0B-7F94-4094-8B34-CEF8F05B66F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2949C77-46D4-49AB-8C63-1DFEDF6E600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CE29492-4481-49D7-8F55-B5EFF41FF01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bc6116da6bd4f3d" /><Relationship Type="http://schemas.openxmlformats.org/officeDocument/2006/relationships/slideLayout" Target="/ppt/slideLayouts/slideLayout1.xml" Id="Re7062a7bc5a84325" /><Relationship Type="http://schemas.openxmlformats.org/officeDocument/2006/relationships/slideLayout" Target="/ppt/slideLayouts/slideLayout2.xml" Id="R4767b12d462d44d6" /><Relationship Type="http://schemas.openxmlformats.org/officeDocument/2006/relationships/slideLayout" Target="/ppt/slideLayouts/slideLayout3.xml" Id="Rae08dbefd1cc41b5" /><Relationship Type="http://schemas.openxmlformats.org/officeDocument/2006/relationships/slideLayout" Target="/ppt/slideLayouts/slideLayout4.xml" Id="R41e7abe6f0774819" /><Relationship Type="http://schemas.openxmlformats.org/officeDocument/2006/relationships/slideLayout" Target="/ppt/slideLayouts/slideLayout5.xml" Id="R44c926d812684aeb" /><Relationship Type="http://schemas.openxmlformats.org/officeDocument/2006/relationships/slideLayout" Target="/ppt/slideLayouts/slideLayout6.xml" Id="Rda4a9e0a0c3548d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7062a7bc5a84325"/>
    <p:sldLayoutId xmlns:r="http://schemas.openxmlformats.org/officeDocument/2006/relationships" id="2147483650" r:id="R4767b12d462d44d6"/>
    <p:sldLayoutId xmlns:r="http://schemas.openxmlformats.org/officeDocument/2006/relationships" id="2147483651" r:id="Rae08dbefd1cc41b5"/>
    <p:sldLayoutId xmlns:r="http://schemas.openxmlformats.org/officeDocument/2006/relationships" id="2147483652" r:id="R41e7abe6f0774819"/>
    <p:sldLayoutId xmlns:r="http://schemas.openxmlformats.org/officeDocument/2006/relationships" id="2147483653" r:id="R44c926d812684aeb"/>
    <p:sldLayoutId xmlns:r="http://schemas.openxmlformats.org/officeDocument/2006/relationships" id="2147483654" r:id="Rda4a9e0a0c3548d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DejaVu Sans"/>
        <a:ea typeface=""/>
        <a:cs typeface=""/>
      </a:majorFont>
      <a:minorFont>
        <a:latin typeface="DejaVu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64d1275c9ff4927" /><Relationship Type="http://schemas.openxmlformats.org/officeDocument/2006/relationships/chart" Target="/ppt/slides/charts/chart1.xml" Id="R834749fd09e742f1" /><Relationship Type="http://schemas.openxmlformats.org/officeDocument/2006/relationships/notesSlide" Target="/ppt/notesSlides/notesSlide1.xml" Id="R246d9d9fb1ea438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dd3e10fc04a47c6" /><Relationship Type="http://schemas.openxmlformats.org/officeDocument/2006/relationships/notesSlide" Target="/ppt/notesSlides/notesSlide2.xml" Id="R3c33453085fa4a3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6339e7f2a224537" /><Relationship Type="http://schemas.openxmlformats.org/officeDocument/2006/relationships/notesSlide" Target="/ppt/notesSlides/notesSlide3.xml" Id="R6310ec5e953241c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b85a099c1a945e0" /><Relationship Type="http://schemas.openxmlformats.org/officeDocument/2006/relationships/notesSlide" Target="/ppt/notesSlides/notesSlide4.xml" Id="Ra5ea6fba2006463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391e36b17fc43d0" /><Relationship Type="http://schemas.openxmlformats.org/officeDocument/2006/relationships/chart" Target="/ppt/slides/charts/chart2.xml" Id="R29b89faa44104e90" /><Relationship Type="http://schemas.openxmlformats.org/officeDocument/2006/relationships/notesSlide" Target="/ppt/notesSlides/notesSlide5.xml" Id="Rf2217f3683414bc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73f5c348eaf4502" /><Relationship Type="http://schemas.openxmlformats.org/officeDocument/2006/relationships/notesSlide" Target="/ppt/notesSlides/notesSlide6.xml" Id="R8c013133ffc148b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a478a98c1fa42c9" /><Relationship Type="http://schemas.openxmlformats.org/officeDocument/2006/relationships/chart" Target="/ppt/slides/charts/chart3.xml" Id="R064eaf9dd43a4942" /><Relationship Type="http://schemas.openxmlformats.org/officeDocument/2006/relationships/notesSlide" Target="/ppt/notesSlides/notesSlide7.xml" Id="R48539c44e2b2431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014b76baf234973" /><Relationship Type="http://schemas.openxmlformats.org/officeDocument/2006/relationships/notesSlide" Target="/ppt/notesSlides/notesSlide8.xml" Id="R8538fb7f48ac410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c62edf81e8c4a0c" /><Relationship Type="http://schemas.openxmlformats.org/officeDocument/2006/relationships/notesSlide" Target="/ppt/notesSlides/notesSlide9.xml" Id="R4ca3cc0d83af409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8a009796e9b4878" /><Relationship Type="http://schemas.openxmlformats.org/officeDocument/2006/relationships/notesSlide" Target="/ppt/notesSlides/notesSlide10.xml" Id="Rbf830049bfe04ed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Hidden objective f(x)</c:v>
          </c:tx>
          <c:spPr>
            <a:ln xmlns:a="http://schemas.openxmlformats.org/drawingml/2006/main" w="38100">
              <a:solidFill>
                <a:srgbClr val="356FA5"/>
              </a:solidFill>
              <a:prstDash val="solid"/>
            </a:ln>
          </c:spPr>
          <c:marker>
            <c:symbol val="none"/>
          </c:marker>
          <c:cat>
            <c:numRef>
              <c:f>'Chart Data'!$A$2:$A$42</c:f>
              <c:numCache>
                <c:formatCode>General</c:formatCode>
                <c:ptCount val="41"/>
                <c:pt idx="0">
                  <c:v>0.00</c:v>
                </c:pt>
                <c:pt idx="1">
                  <c:v>0.03</c:v>
                </c:pt>
                <c:pt idx="2">
                  <c:v>0.05</c:v>
                </c:pt>
                <c:pt idx="3">
                  <c:v>0.07</c:v>
                </c:pt>
                <c:pt idx="4">
                  <c:v>0.10</c:v>
                </c:pt>
                <c:pt idx="5">
                  <c:v>0.13</c:v>
                </c:pt>
                <c:pt idx="6">
                  <c:v>0.15</c:v>
                </c:pt>
                <c:pt idx="7">
                  <c:v>0.17</c:v>
                </c:pt>
                <c:pt idx="8">
                  <c:v>0.20</c:v>
                </c:pt>
                <c:pt idx="9">
                  <c:v>0.23</c:v>
                </c:pt>
                <c:pt idx="10">
                  <c:v>0.25</c:v>
                </c:pt>
                <c:pt idx="11">
                  <c:v>0.28</c:v>
                </c:pt>
                <c:pt idx="12">
                  <c:v>0.30</c:v>
                </c:pt>
                <c:pt idx="13">
                  <c:v>0.33</c:v>
                </c:pt>
                <c:pt idx="14">
                  <c:v>0.35</c:v>
                </c:pt>
                <c:pt idx="15">
                  <c:v>0.38</c:v>
                </c:pt>
                <c:pt idx="16">
                  <c:v>0.40</c:v>
                </c:pt>
                <c:pt idx="17">
                  <c:v>0.42</c:v>
                </c:pt>
                <c:pt idx="18">
                  <c:v>0.45</c:v>
                </c:pt>
                <c:pt idx="19">
                  <c:v>0.47</c:v>
                </c:pt>
                <c:pt idx="20">
                  <c:v>0.50</c:v>
                </c:pt>
                <c:pt idx="21">
                  <c:v>0.53</c:v>
                </c:pt>
                <c:pt idx="22">
                  <c:v>0.55</c:v>
                </c:pt>
                <c:pt idx="23">
                  <c:v>0.57</c:v>
                </c:pt>
                <c:pt idx="24">
                  <c:v>0.60</c:v>
                </c:pt>
                <c:pt idx="25">
                  <c:v>0.63</c:v>
                </c:pt>
                <c:pt idx="26">
                  <c:v>0.65</c:v>
                </c:pt>
                <c:pt idx="27">
                  <c:v>0.68</c:v>
                </c:pt>
                <c:pt idx="28">
                  <c:v>0.70</c:v>
                </c:pt>
                <c:pt idx="29">
                  <c:v>0.72</c:v>
                </c:pt>
                <c:pt idx="30">
                  <c:v>0.75</c:v>
                </c:pt>
                <c:pt idx="31">
                  <c:v>0.78</c:v>
                </c:pt>
                <c:pt idx="32">
                  <c:v>0.80</c:v>
                </c:pt>
                <c:pt idx="33">
                  <c:v>0.82</c:v>
                </c:pt>
                <c:pt idx="34">
                  <c:v>0.85</c:v>
                </c:pt>
                <c:pt idx="35">
                  <c:v>0.88</c:v>
                </c:pt>
                <c:pt idx="36">
                  <c:v>0.90</c:v>
                </c:pt>
                <c:pt idx="37">
                  <c:v>0.93</c:v>
                </c:pt>
                <c:pt idx="38">
                  <c:v>0.95</c:v>
                </c:pt>
                <c:pt idx="39">
                  <c:v>0.97</c:v>
                </c:pt>
                <c:pt idx="40">
                  <c:v>1.00</c:v>
                </c:pt>
              </c:numCache>
            </c:numRef>
          </c:cat>
          <c:val>
            <c:numRef>
              <c:f>'Chart Data'!$B$2:$B$42</c:f>
              <c:numCache>
                <c:formatCode>General</c:formatCode>
                <c:ptCount val="41"/>
                <c:pt idx="0">
                  <c:v>0.55</c:v>
                </c:pt>
                <c:pt idx="1">
                  <c:v>0.713</c:v>
                </c:pt>
                <c:pt idx="2">
                  <c:v>0.8335</c:v>
                </c:pt>
                <c:pt idx="3">
                  <c:v>0.88722</c:v>
                </c:pt>
                <c:pt idx="4">
                  <c:v>0.87771</c:v>
                </c:pt>
                <c:pt idx="5">
                  <c:v>0.83293</c:v>
                </c:pt>
                <c:pt idx="6">
                  <c:v>0.79043</c:v>
                </c:pt>
                <c:pt idx="7">
                  <c:v>0.77847</c:v>
                </c:pt>
                <c:pt idx="8">
                  <c:v>0.80206</c:v>
                </c:pt>
                <c:pt idx="9">
                  <c:v>0.84068</c:v>
                </c:pt>
                <c:pt idx="10">
                  <c:v>0.85882</c:v>
                </c:pt>
                <c:pt idx="11">
                  <c:v>0.82411</c:v>
                </c:pt>
                <c:pt idx="12">
                  <c:v>0.72444</c:v>
                </c:pt>
                <c:pt idx="13">
                  <c:v>0.57565</c:v>
                </c:pt>
                <c:pt idx="14">
                  <c:v>0.41604</c:v>
                </c:pt>
                <c:pt idx="15">
                  <c:v>0.29017</c:v>
                </c:pt>
                <c:pt idx="16">
                  <c:v>0.2296</c:v>
                </c:pt>
                <c:pt idx="17">
                  <c:v>0.23971</c:v>
                </c:pt>
                <c:pt idx="18">
                  <c:v>0.29862</c:v>
                </c:pt>
                <c:pt idx="19">
                  <c:v>0.3689</c:v>
                </c:pt>
                <c:pt idx="20">
                  <c:v>0.41615</c:v>
                </c:pt>
                <c:pt idx="21">
                  <c:v>0.42562</c:v>
                </c:pt>
                <c:pt idx="22">
                  <c:v>0.40887</c:v>
                </c:pt>
                <c:pt idx="23">
                  <c:v>0.39732</c:v>
                </c:pt>
                <c:pt idx="24">
                  <c:v>0.42581</c:v>
                </c:pt>
                <c:pt idx="25">
                  <c:v>0.51413</c:v>
                </c:pt>
                <c:pt idx="26">
                  <c:v>0.65559</c:v>
                </c:pt>
                <c:pt idx="27">
                  <c:v>0.81799</c:v>
                </c:pt>
                <c:pt idx="28">
                  <c:v>0.95698</c:v>
                </c:pt>
                <c:pt idx="29">
                  <c:v>1.03526</c:v>
                </c:pt>
                <c:pt idx="30">
                  <c:v>1.0387</c:v>
                </c:pt>
                <c:pt idx="31">
                  <c:v>0.98176</c:v>
                </c:pt>
                <c:pt idx="32">
                  <c:v>0.89962</c:v>
                </c:pt>
                <c:pt idx="33">
                  <c:v>0.83091</c:v>
                </c:pt>
                <c:pt idx="34">
                  <c:v>0.79935</c:v>
                </c:pt>
                <c:pt idx="35">
                  <c:v>0.80305</c:v>
                </c:pt>
                <c:pt idx="36">
                  <c:v>0.81656</c:v>
                </c:pt>
                <c:pt idx="37">
                  <c:v>0.80468</c:v>
                </c:pt>
                <c:pt idx="38">
                  <c:v>0.74116</c:v>
                </c:pt>
                <c:pt idx="39">
                  <c:v>0.62345</c:v>
                </c:pt>
                <c:pt idx="40">
                  <c:v>0.47603</c:v>
                </c:pt>
              </c:numCache>
            </c:numRef>
          </c:val>
        </c:ser>
        <c:dLbls>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050">
                    <a:solidFill>
                      <a:srgbClr val="5D6A72"/>
                    </a:solidFill>
                    <a:latin typeface="DejaVu Sans"/>
                    <a:ea typeface="DejaVu Sans"/>
                    <a:cs typeface="DejaVu Sans"/>
                  </a:rPr>
                  <a:t>Input x</a:t>
                </a:r>
              </a:p>
            </c:rich>
          </c:tx>
          <c:overlay val="0"/>
          <c:txPr>
            <a:bodyPr xmlns:a="http://schemas.openxmlformats.org/drawingml/2006/main" anchorCtr="1"/>
            <a:lstStyle xmlns:a="http://schemas.openxmlformats.org/drawingml/2006/main"/>
            <a:p xmlns:a="http://schemas.openxmlformats.org/drawingml/2006/main">
              <a:pPr>
                <a:defRPr sz="1050">
                  <a:solidFill>
                    <a:srgbClr val="5D6A72"/>
                  </a:solidFill>
                  <a:latin typeface="DejaVu Sans"/>
                  <a:ea typeface="DejaVu Sans"/>
                  <a:cs typeface="DejaVu San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5D6A72"/>
                </a:solidFill>
                <a:latin typeface="DejaVu Sans"/>
                <a:ea typeface="DejaVu Sans"/>
                <a:cs typeface="DejaVu Sans"/>
              </a:defRPr>
            </a:pPr>
          </a:p>
        </c:txPr>
        <c:crossAx val="48672768"/>
      </c:catAx>
      <c:valAx>
        <c:axId val="48672768"/>
        <c:scaling>
          <c:orientation val="minMax"/>
          <c:max val="1.2"/>
          <c:min val="0"/>
        </c:scaling>
        <c:delete val="0"/>
        <c:axPos val="l"/>
        <c:majorGridlines>
          <c:spPr>
            <a:ln xmlns:a="http://schemas.openxmlformats.org/drawingml/2006/main" w="9525">
              <a:solidFill>
                <a:srgbClr val="E0E6E9"/>
              </a:solidFill>
              <a:prstDash val="solid"/>
            </a:ln>
          </c:spPr>
        </c:majorGridlines>
        <c:title>
          <c:tx>
            <c:rich>
              <a:bodyPr xmlns:a="http://schemas.openxmlformats.org/drawingml/2006/main"/>
              <a:lstStyle xmlns:a="http://schemas.openxmlformats.org/drawingml/2006/main"/>
              <a:p xmlns:a="http://schemas.openxmlformats.org/drawingml/2006/main">
                <a:r>
                  <a:rPr sz="1050">
                    <a:solidFill>
                      <a:srgbClr val="5D6A72"/>
                    </a:solidFill>
                    <a:latin typeface="DejaVu Sans"/>
                    <a:ea typeface="DejaVu Sans"/>
                    <a:cs typeface="DejaVu Sans"/>
                  </a:rPr>
                  <a:t>Objective f(x)</a:t>
                </a:r>
              </a:p>
            </c:rich>
          </c:tx>
          <c:overlay val="0"/>
          <c:txPr>
            <a:bodyPr xmlns:a="http://schemas.openxmlformats.org/drawingml/2006/main" anchorCtr="1"/>
            <a:lstStyle xmlns:a="http://schemas.openxmlformats.org/drawingml/2006/main"/>
            <a:p xmlns:a="http://schemas.openxmlformats.org/drawingml/2006/main">
              <a:pPr>
                <a:defRPr sz="1050">
                  <a:solidFill>
                    <a:srgbClr val="5D6A72"/>
                  </a:solidFill>
                  <a:latin typeface="DejaVu Sans"/>
                  <a:ea typeface="DejaVu Sans"/>
                  <a:cs typeface="DejaVu San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5D6A72"/>
                </a:solidFill>
                <a:latin typeface="DejaVu Sans"/>
                <a:ea typeface="DejaVu Sans"/>
                <a:cs typeface="DejaVu Sans"/>
              </a:defRPr>
            </a:pPr>
          </a:p>
        </c:txPr>
        <c:crossAx val="48650112"/>
        <c:crossBetween val="between"/>
        <c:majorUnit val="0.2"/>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9525">
      <a:solidFill>
        <a:srgbClr val="CAD4DA"/>
      </a:solidFill>
      <a:prstDash val="solid"/>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stacked"/>
        <c:varyColors val="0"/>
        <c:ser>
          <c:idx val="0"/>
          <c:order val="0"/>
          <c:tx>
            <c:v>Posterior mean μ</c:v>
          </c:tx>
          <c:spPr>
            <a:solidFill xmlns:a="http://schemas.openxmlformats.org/drawingml/2006/main">
              <a:srgbClr val="356FA5"/>
            </a:solidFill>
          </c:spPr>
          <c:cat>
            <c:strRef>
              <c:f>'Chart Data'!$A$2:$A$3</c:f>
              <c:strCache>
                <c:ptCount val="2"/>
                <c:pt idx="0">
                  <c:v>Candidate A</c:v>
                </c:pt>
                <c:pt idx="1">
                  <c:v>Candidate B</c:v>
                </c:pt>
              </c:strCache>
            </c:strRef>
          </c:cat>
          <c:val>
            <c:numRef>
              <c:f>'Chart Data'!$B$2:$B$3</c:f>
              <c:numCache>
                <c:formatCode>General</c:formatCode>
                <c:ptCount val="2"/>
                <c:pt idx="0">
                  <c:v>0.72</c:v>
                </c:pt>
                <c:pt idx="1">
                  <c:v>0.65</c:v>
                </c:pt>
              </c:numCache>
            </c:numRef>
          </c:val>
        </c:ser>
        <c:ser>
          <c:idx val="1"/>
          <c:order val="1"/>
          <c:tx>
            <c:v>Exploration bonus κσ</c:v>
          </c:tx>
          <c:spPr>
            <a:solidFill xmlns:a="http://schemas.openxmlformats.org/drawingml/2006/main">
              <a:srgbClr val="F4A261"/>
            </a:solidFill>
          </c:spPr>
          <c:cat>
            <c:strRef>
              <c:f>'Chart Data'!$C$2:$C$3</c:f>
              <c:strCache>
                <c:ptCount val="2"/>
                <c:pt idx="0">
                  <c:v>Candidate A</c:v>
                </c:pt>
                <c:pt idx="1">
                  <c:v>Candidate B</c:v>
                </c:pt>
              </c:strCache>
            </c:strRef>
          </c:cat>
          <c:val>
            <c:numRef>
              <c:f>'Chart Data'!$D$2:$D$3</c:f>
              <c:numCache>
                <c:formatCode>General</c:formatCode>
                <c:ptCount val="2"/>
                <c:pt idx="0">
                  <c:v>0.12</c:v>
                </c:pt>
                <c:pt idx="1">
                  <c:v>0.4</c:v>
                </c:pt>
              </c:numCache>
            </c:numRef>
          </c:val>
        </c:ser>
        <c:dLbls>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showLegendKey val="0"/>
          <c:showVal val="0"/>
          <c:showCatName val="0"/>
          <c:showSerName val="0"/>
          <c:showPercent val="0"/>
          <c:showBubbleSize val="0"/>
          <c:showLeaderLines val="0"/>
        </c:dLbls>
        <c:gapWidth val="70"/>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122536"/>
                </a:solidFill>
                <a:latin typeface="DejaVu Sans"/>
                <a:ea typeface="DejaVu Sans"/>
                <a:cs typeface="DejaVu Sans"/>
              </a:defRPr>
            </a:pPr>
          </a:p>
        </c:txPr>
        <c:crossAx val="48672768"/>
      </c:catAx>
      <c:valAx>
        <c:axId val="48672768"/>
        <c:scaling>
          <c:orientation val="minMax"/>
          <c:max val="1.2"/>
          <c:min val="0"/>
        </c:scaling>
        <c:delete val="0"/>
        <c:axPos val="l"/>
        <c:majorGridlines>
          <c:spPr>
            <a:ln xmlns:a="http://schemas.openxmlformats.org/drawingml/2006/main" w="9525">
              <a:solidFill>
                <a:srgbClr val="E0E6E9"/>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5D6A72"/>
                </a:solidFill>
                <a:latin typeface="DejaVu Sans"/>
                <a:ea typeface="DejaVu Sans"/>
                <a:cs typeface="DejaVu Sans"/>
              </a:defRPr>
            </a:pPr>
          </a:p>
        </c:txPr>
        <c:crossAx val="48650112"/>
        <c:crossBetween val="between"/>
        <c:majorUnit val="0.2"/>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900">
              <a:solidFill>
                <a:srgbClr val="5D6A72"/>
              </a:solidFill>
              <a:latin typeface="DejaVu Sans"/>
              <a:ea typeface="DejaVu Sans"/>
              <a:cs typeface="DejaVu Sans"/>
            </a:defRPr>
          </a:pPr>
        </a:p>
      </c:txPr>
    </c:legend>
    <c:plotVisOnly val="1"/>
  </c:chart>
  <c:spPr>
    <a:solidFill xmlns:a="http://schemas.openxmlformats.org/drawingml/2006/main">
      <a:srgbClr val="FFFFFF"/>
    </a:solidFill>
    <a:ln xmlns:a="http://schemas.openxmlformats.org/drawingml/2006/main" w="9525">
      <a:solidFill>
        <a:srgbClr val="CAD4DA"/>
      </a:solidFill>
      <a:prstDash val="solid"/>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lineChart>
        <c:grouping val="standard"/>
        <c:varyColors val="0"/>
        <c:ser>
          <c:idx val="0"/>
          <c:order val="0"/>
          <c:tx>
            <c:v>ℓ = 0.1</c:v>
          </c:tx>
          <c:spPr>
            <a:ln xmlns:a="http://schemas.openxmlformats.org/drawingml/2006/main" w="28575">
              <a:solidFill>
                <a:srgbClr val="E76F51"/>
              </a:solidFill>
              <a:prstDash val="solid"/>
            </a:ln>
          </c:spPr>
          <c:marker>
            <c:symbol val="none"/>
          </c:marker>
          <c:cat>
            <c:numRef>
              <c:f>'Chart Data'!$A$2:$A$22</c:f>
              <c:numCache>
                <c:formatCode>General</c:formatCode>
                <c:ptCount val="21"/>
                <c:pt idx="0">
                  <c:v>0.00</c:v>
                </c:pt>
                <c:pt idx="1">
                  <c:v>0.05</c:v>
                </c:pt>
                <c:pt idx="2">
                  <c:v>0.10</c:v>
                </c:pt>
                <c:pt idx="3">
                  <c:v>0.15</c:v>
                </c:pt>
                <c:pt idx="4">
                  <c:v>0.20</c:v>
                </c:pt>
                <c:pt idx="5">
                  <c:v>0.25</c:v>
                </c:pt>
                <c:pt idx="6">
                  <c:v>0.30</c:v>
                </c:pt>
                <c:pt idx="7">
                  <c:v>0.35</c:v>
                </c:pt>
                <c:pt idx="8">
                  <c:v>0.40</c:v>
                </c:pt>
                <c:pt idx="9">
                  <c:v>0.45</c:v>
                </c:pt>
                <c:pt idx="10">
                  <c:v>0.50</c:v>
                </c:pt>
                <c:pt idx="11">
                  <c:v>0.55</c:v>
                </c:pt>
                <c:pt idx="12">
                  <c:v>0.60</c:v>
                </c:pt>
                <c:pt idx="13">
                  <c:v>0.65</c:v>
                </c:pt>
                <c:pt idx="14">
                  <c:v>0.70</c:v>
                </c:pt>
                <c:pt idx="15">
                  <c:v>0.75</c:v>
                </c:pt>
                <c:pt idx="16">
                  <c:v>0.80</c:v>
                </c:pt>
                <c:pt idx="17">
                  <c:v>0.85</c:v>
                </c:pt>
                <c:pt idx="18">
                  <c:v>0.90</c:v>
                </c:pt>
                <c:pt idx="19">
                  <c:v>0.95</c:v>
                </c:pt>
                <c:pt idx="20">
                  <c:v>1.00</c:v>
                </c:pt>
              </c:numCache>
            </c:numRef>
          </c:cat>
          <c:val>
            <c:numRef>
              <c:f>'Chart Data'!$B$2:$B$22</c:f>
              <c:numCache>
                <c:formatCode>General</c:formatCode>
                <c:ptCount val="21"/>
                <c:pt idx="0">
                  <c:v>1</c:v>
                </c:pt>
                <c:pt idx="1">
                  <c:v>0.882497</c:v>
                </c:pt>
                <c:pt idx="2">
                  <c:v>0.606531</c:v>
                </c:pt>
                <c:pt idx="3">
                  <c:v>0.324652</c:v>
                </c:pt>
                <c:pt idx="4">
                  <c:v>0.135335</c:v>
                </c:pt>
                <c:pt idx="5">
                  <c:v>0.043937</c:v>
                </c:pt>
                <c:pt idx="6">
                  <c:v>0.011109</c:v>
                </c:pt>
                <c:pt idx="7">
                  <c:v>0.002187</c:v>
                </c:pt>
                <c:pt idx="8">
                  <c:v>0.000335</c:v>
                </c:pt>
                <c:pt idx="9">
                  <c:v>4E-05</c:v>
                </c:pt>
                <c:pt idx="10">
                  <c:v>4E-06</c:v>
                </c:pt>
                <c:pt idx="11">
                  <c:v>0</c:v>
                </c:pt>
                <c:pt idx="12">
                  <c:v>0</c:v>
                </c:pt>
                <c:pt idx="13">
                  <c:v>0</c:v>
                </c:pt>
                <c:pt idx="14">
                  <c:v>0</c:v>
                </c:pt>
                <c:pt idx="15">
                  <c:v>0</c:v>
                </c:pt>
                <c:pt idx="16">
                  <c:v>0</c:v>
                </c:pt>
                <c:pt idx="17">
                  <c:v>0</c:v>
                </c:pt>
                <c:pt idx="18">
                  <c:v>0</c:v>
                </c:pt>
                <c:pt idx="19">
                  <c:v>0</c:v>
                </c:pt>
                <c:pt idx="20">
                  <c:v>0</c:v>
                </c:pt>
              </c:numCache>
            </c:numRef>
          </c:val>
        </c:ser>
        <c:ser>
          <c:idx val="1"/>
          <c:order val="1"/>
          <c:tx>
            <c:v>ℓ = 0.2</c:v>
          </c:tx>
          <c:spPr>
            <a:ln xmlns:a="http://schemas.openxmlformats.org/drawingml/2006/main" w="28575">
              <a:solidFill>
                <a:srgbClr val="F4A261"/>
              </a:solidFill>
              <a:prstDash val="solid"/>
            </a:ln>
          </c:spPr>
          <c:marker>
            <c:symbol val="none"/>
          </c:marker>
          <c:cat>
            <c:numRef>
              <c:f>'Chart Data'!$C$2:$C$22</c:f>
              <c:numCache>
                <c:formatCode>General</c:formatCode>
                <c:ptCount val="21"/>
                <c:pt idx="0">
                  <c:v>0.00</c:v>
                </c:pt>
                <c:pt idx="1">
                  <c:v>0.05</c:v>
                </c:pt>
                <c:pt idx="2">
                  <c:v>0.10</c:v>
                </c:pt>
                <c:pt idx="3">
                  <c:v>0.15</c:v>
                </c:pt>
                <c:pt idx="4">
                  <c:v>0.20</c:v>
                </c:pt>
                <c:pt idx="5">
                  <c:v>0.25</c:v>
                </c:pt>
                <c:pt idx="6">
                  <c:v>0.30</c:v>
                </c:pt>
                <c:pt idx="7">
                  <c:v>0.35</c:v>
                </c:pt>
                <c:pt idx="8">
                  <c:v>0.40</c:v>
                </c:pt>
                <c:pt idx="9">
                  <c:v>0.45</c:v>
                </c:pt>
                <c:pt idx="10">
                  <c:v>0.50</c:v>
                </c:pt>
                <c:pt idx="11">
                  <c:v>0.55</c:v>
                </c:pt>
                <c:pt idx="12">
                  <c:v>0.60</c:v>
                </c:pt>
                <c:pt idx="13">
                  <c:v>0.65</c:v>
                </c:pt>
                <c:pt idx="14">
                  <c:v>0.70</c:v>
                </c:pt>
                <c:pt idx="15">
                  <c:v>0.75</c:v>
                </c:pt>
                <c:pt idx="16">
                  <c:v>0.80</c:v>
                </c:pt>
                <c:pt idx="17">
                  <c:v>0.85</c:v>
                </c:pt>
                <c:pt idx="18">
                  <c:v>0.90</c:v>
                </c:pt>
                <c:pt idx="19">
                  <c:v>0.95</c:v>
                </c:pt>
                <c:pt idx="20">
                  <c:v>1.00</c:v>
                </c:pt>
              </c:numCache>
            </c:numRef>
          </c:cat>
          <c:val>
            <c:numRef>
              <c:f>'Chart Data'!$D$2:$D$22</c:f>
              <c:numCache>
                <c:formatCode>General</c:formatCode>
                <c:ptCount val="21"/>
                <c:pt idx="0">
                  <c:v>1</c:v>
                </c:pt>
                <c:pt idx="1">
                  <c:v>0.969233</c:v>
                </c:pt>
                <c:pt idx="2">
                  <c:v>0.882497</c:v>
                </c:pt>
                <c:pt idx="3">
                  <c:v>0.75484</c:v>
                </c:pt>
                <c:pt idx="4">
                  <c:v>0.606531</c:v>
                </c:pt>
                <c:pt idx="5">
                  <c:v>0.457833</c:v>
                </c:pt>
                <c:pt idx="6">
                  <c:v>0.324652</c:v>
                </c:pt>
                <c:pt idx="7">
                  <c:v>0.216265</c:v>
                </c:pt>
                <c:pt idx="8">
                  <c:v>0.135335</c:v>
                </c:pt>
                <c:pt idx="9">
                  <c:v>0.07956</c:v>
                </c:pt>
                <c:pt idx="10">
                  <c:v>0.043937</c:v>
                </c:pt>
                <c:pt idx="11">
                  <c:v>0.022794</c:v>
                </c:pt>
                <c:pt idx="12">
                  <c:v>0.011109</c:v>
                </c:pt>
                <c:pt idx="13">
                  <c:v>0.005086</c:v>
                </c:pt>
                <c:pt idx="14">
                  <c:v>0.002187</c:v>
                </c:pt>
                <c:pt idx="15">
                  <c:v>0.000884</c:v>
                </c:pt>
                <c:pt idx="16">
                  <c:v>0.000335</c:v>
                </c:pt>
                <c:pt idx="17">
                  <c:v>0.00012</c:v>
                </c:pt>
                <c:pt idx="18">
                  <c:v>4E-05</c:v>
                </c:pt>
                <c:pt idx="19">
                  <c:v>1.3E-05</c:v>
                </c:pt>
                <c:pt idx="20">
                  <c:v>4E-06</c:v>
                </c:pt>
              </c:numCache>
            </c:numRef>
          </c:val>
        </c:ser>
        <c:ser>
          <c:idx val="2"/>
          <c:order val="2"/>
          <c:tx>
            <c:v>ℓ = 0.5</c:v>
          </c:tx>
          <c:spPr>
            <a:ln xmlns:a="http://schemas.openxmlformats.org/drawingml/2006/main" w="28575">
              <a:solidFill>
                <a:srgbClr val="218C7E"/>
              </a:solidFill>
              <a:prstDash val="solid"/>
            </a:ln>
          </c:spPr>
          <c:marker>
            <c:symbol val="none"/>
          </c:marker>
          <c:cat>
            <c:numRef>
              <c:f>'Chart Data'!$E$2:$E$22</c:f>
              <c:numCache>
                <c:formatCode>General</c:formatCode>
                <c:ptCount val="21"/>
                <c:pt idx="0">
                  <c:v>0.00</c:v>
                </c:pt>
                <c:pt idx="1">
                  <c:v>0.05</c:v>
                </c:pt>
                <c:pt idx="2">
                  <c:v>0.10</c:v>
                </c:pt>
                <c:pt idx="3">
                  <c:v>0.15</c:v>
                </c:pt>
                <c:pt idx="4">
                  <c:v>0.20</c:v>
                </c:pt>
                <c:pt idx="5">
                  <c:v>0.25</c:v>
                </c:pt>
                <c:pt idx="6">
                  <c:v>0.30</c:v>
                </c:pt>
                <c:pt idx="7">
                  <c:v>0.35</c:v>
                </c:pt>
                <c:pt idx="8">
                  <c:v>0.40</c:v>
                </c:pt>
                <c:pt idx="9">
                  <c:v>0.45</c:v>
                </c:pt>
                <c:pt idx="10">
                  <c:v>0.50</c:v>
                </c:pt>
                <c:pt idx="11">
                  <c:v>0.55</c:v>
                </c:pt>
                <c:pt idx="12">
                  <c:v>0.60</c:v>
                </c:pt>
                <c:pt idx="13">
                  <c:v>0.65</c:v>
                </c:pt>
                <c:pt idx="14">
                  <c:v>0.70</c:v>
                </c:pt>
                <c:pt idx="15">
                  <c:v>0.75</c:v>
                </c:pt>
                <c:pt idx="16">
                  <c:v>0.80</c:v>
                </c:pt>
                <c:pt idx="17">
                  <c:v>0.85</c:v>
                </c:pt>
                <c:pt idx="18">
                  <c:v>0.90</c:v>
                </c:pt>
                <c:pt idx="19">
                  <c:v>0.95</c:v>
                </c:pt>
                <c:pt idx="20">
                  <c:v>1.00</c:v>
                </c:pt>
              </c:numCache>
            </c:numRef>
          </c:cat>
          <c:val>
            <c:numRef>
              <c:f>'Chart Data'!$F$2:$F$22</c:f>
              <c:numCache>
                <c:formatCode>General</c:formatCode>
                <c:ptCount val="21"/>
                <c:pt idx="0">
                  <c:v>1</c:v>
                </c:pt>
                <c:pt idx="1">
                  <c:v>0.995012</c:v>
                </c:pt>
                <c:pt idx="2">
                  <c:v>0.980199</c:v>
                </c:pt>
                <c:pt idx="3">
                  <c:v>0.955997</c:v>
                </c:pt>
                <c:pt idx="4">
                  <c:v>0.923116</c:v>
                </c:pt>
                <c:pt idx="5">
                  <c:v>0.882497</c:v>
                </c:pt>
                <c:pt idx="6">
                  <c:v>0.83527</c:v>
                </c:pt>
                <c:pt idx="7">
                  <c:v>0.782705</c:v>
                </c:pt>
                <c:pt idx="8">
                  <c:v>0.726149</c:v>
                </c:pt>
                <c:pt idx="9">
                  <c:v>0.666977</c:v>
                </c:pt>
                <c:pt idx="10">
                  <c:v>0.606531</c:v>
                </c:pt>
                <c:pt idx="11">
                  <c:v>0.546074</c:v>
                </c:pt>
                <c:pt idx="12">
                  <c:v>0.486752</c:v>
                </c:pt>
                <c:pt idx="13">
                  <c:v>0.429557</c:v>
                </c:pt>
                <c:pt idx="14">
                  <c:v>0.375311</c:v>
                </c:pt>
                <c:pt idx="15">
                  <c:v>0.324652</c:v>
                </c:pt>
                <c:pt idx="16">
                  <c:v>0.278037</c:v>
                </c:pt>
                <c:pt idx="17">
                  <c:v>0.235746</c:v>
                </c:pt>
                <c:pt idx="18">
                  <c:v>0.197899</c:v>
                </c:pt>
                <c:pt idx="19">
                  <c:v>0.164474</c:v>
                </c:pt>
                <c:pt idx="20">
                  <c:v>0.135335</c:v>
                </c:pt>
              </c:numCache>
            </c:numRef>
          </c:val>
        </c:ser>
        <c:dLbls>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050">
                    <a:solidFill>
                      <a:srgbClr val="5D6A72"/>
                    </a:solidFill>
                    <a:latin typeface="DejaVu Sans"/>
                    <a:ea typeface="DejaVu Sans"/>
                    <a:cs typeface="DejaVu Sans"/>
                  </a:rPr>
                  <a:t>Distance d</a:t>
                </a:r>
              </a:p>
            </c:rich>
          </c:tx>
          <c:overlay val="0"/>
          <c:txPr>
            <a:bodyPr xmlns:a="http://schemas.openxmlformats.org/drawingml/2006/main" anchorCtr="1"/>
            <a:lstStyle xmlns:a="http://schemas.openxmlformats.org/drawingml/2006/main"/>
            <a:p xmlns:a="http://schemas.openxmlformats.org/drawingml/2006/main">
              <a:pPr>
                <a:defRPr sz="1050">
                  <a:solidFill>
                    <a:srgbClr val="5D6A72"/>
                  </a:solidFill>
                  <a:latin typeface="DejaVu Sans"/>
                  <a:ea typeface="DejaVu Sans"/>
                  <a:cs typeface="DejaVu San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5D6A72"/>
                </a:solidFill>
                <a:latin typeface="DejaVu Sans"/>
                <a:ea typeface="DejaVu Sans"/>
                <a:cs typeface="DejaVu Sans"/>
              </a:defRPr>
            </a:pPr>
          </a:p>
        </c:txPr>
        <c:crossAx val="48672768"/>
      </c:catAx>
      <c:valAx>
        <c:axId val="48672768"/>
        <c:scaling>
          <c:orientation val="minMax"/>
          <c:max val="1"/>
          <c:min val="0"/>
        </c:scaling>
        <c:delete val="0"/>
        <c:axPos val="l"/>
        <c:majorGridlines>
          <c:spPr>
            <a:ln xmlns:a="http://schemas.openxmlformats.org/drawingml/2006/main" w="9525">
              <a:solidFill>
                <a:srgbClr val="E0E6E9"/>
              </a:solidFill>
              <a:prstDash val="solid"/>
            </a:ln>
          </c:spPr>
        </c:majorGridlines>
        <c:title>
          <c:tx>
            <c:rich>
              <a:bodyPr xmlns:a="http://schemas.openxmlformats.org/drawingml/2006/main"/>
              <a:lstStyle xmlns:a="http://schemas.openxmlformats.org/drawingml/2006/main"/>
              <a:p xmlns:a="http://schemas.openxmlformats.org/drawingml/2006/main">
                <a:r>
                  <a:rPr sz="1050">
                    <a:solidFill>
                      <a:srgbClr val="5D6A72"/>
                    </a:solidFill>
                    <a:latin typeface="DejaVu Sans"/>
                    <a:ea typeface="DejaVu Sans"/>
                    <a:cs typeface="DejaVu Sans"/>
                  </a:rPr>
                  <a:t>Correlation ρ(d)</a:t>
                </a:r>
              </a:p>
            </c:rich>
          </c:tx>
          <c:overlay val="0"/>
          <c:txPr>
            <a:bodyPr xmlns:a="http://schemas.openxmlformats.org/drawingml/2006/main" anchorCtr="1"/>
            <a:lstStyle xmlns:a="http://schemas.openxmlformats.org/drawingml/2006/main"/>
            <a:p xmlns:a="http://schemas.openxmlformats.org/drawingml/2006/main">
              <a:pPr>
                <a:defRPr sz="1050">
                  <a:solidFill>
                    <a:srgbClr val="5D6A72"/>
                  </a:solidFill>
                  <a:latin typeface="DejaVu Sans"/>
                  <a:ea typeface="DejaVu Sans"/>
                  <a:cs typeface="DejaVu San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5D6A72"/>
                </a:solidFill>
                <a:latin typeface="DejaVu Sans"/>
                <a:ea typeface="DejaVu Sans"/>
                <a:cs typeface="DejaVu Sans"/>
              </a:defRPr>
            </a:pPr>
          </a:p>
        </c:txPr>
        <c:crossAx val="48650112"/>
        <c:crossBetween val="between"/>
        <c:majorUnit val="0.2"/>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5D6A72"/>
              </a:solidFill>
              <a:latin typeface="DejaVu Sans"/>
              <a:ea typeface="DejaVu Sans"/>
              <a:cs typeface="DejaVu Sans"/>
            </a:defRPr>
          </a:pPr>
        </a:p>
      </c:txPr>
    </c:legend>
    <c:plotVisOnly val="1"/>
  </c:chart>
  <c:spPr>
    <a:solidFill xmlns:a="http://schemas.openxmlformats.org/drawingml/2006/main">
      <a:srgbClr val="FFFFFF"/>
    </a:solidFill>
    <a:ln xmlns:a="http://schemas.openxmlformats.org/drawingml/2006/main" w="9525">
      <a:solidFill>
        <a:srgbClr val="CAD4DA"/>
      </a:solid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40A4414-6ABC-433C-9D52-B914C4D17A8E}"/>
              </a:ext>
            </a:extLst>
          </p:cNvPr>
          <p:cNvSpPr>
            <a:spLocks xmlns:a="http://schemas.openxmlformats.org/drawingml/2006/main" noGrp="1"/>
          </p:cNvSpPr>
          <p:nvPr/>
        </p:nvSpPr>
        <p:spPr>
          <a:xfrm xmlns:a="http://schemas.openxmlformats.org/drawingml/2006/main">
            <a:off x="685800" y="4000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i="0">
                <a:solidFill>
                  <a:srgbClr val="0B1F33"/>
                </a:solidFill>
                <a:latin typeface="DejaVu Sans"/>
                <a:ea typeface="DejaVu Sans"/>
                <a:cs typeface="DejaVu Sans"/>
              </a:defRPr>
            </a:defPPr>
          </a:lstStyle>
          <a:p xmlns:a="http://schemas.openxmlformats.org/drawingml/2006/main">
            <a:pPr algn="l">
              <a:defRPr sz="2550" b="1" i="0">
                <a:solidFill>
                  <a:srgbClr val="0B1F33"/>
                </a:solidFill>
                <a:latin typeface="DejaVu Sans"/>
                <a:ea typeface="DejaVu Sans"/>
                <a:cs typeface="DejaVu Sans"/>
              </a:defRPr>
            </a:pPr>
            <a:r>
              <a:rPr sz="2550" b="1" i="0">
                <a:solidFill>
                  <a:srgbClr val="0B1F33"/>
                </a:solidFill>
                <a:latin typeface="DejaVu Sans"/>
                <a:ea typeface="DejaVu Sans"/>
                <a:cs typeface="DejaVu Sans"/>
              </a:rPr>
              <a:t>Why Bayesian optimization</a:t>
            </a:r>
          </a:p>
        </p:txBody>
      </p:sp>
      <p:sp>
        <p:nvSpPr>
          <p:cNvPr id="2" name="">
            <a:extLst xmlns:a="http://schemas.openxmlformats.org/drawingml/2006/main">
              <a:ext uri="{FF2B5EF4-FFF2-40B4-BE49-F238E27FC236}">
                <a16:creationId xmlns:a16="http://schemas.microsoft.com/office/drawing/2014/main" id="{1EFF5759-914A-423E-A8BA-4498C25DBD91}"/>
              </a:ext>
            </a:extLst>
          </p:cNvPr>
          <p:cNvSpPr>
            <a:spLocks xmlns:a="http://schemas.openxmlformats.org/drawingml/2006/main" noGrp="1"/>
          </p:cNvSpPr>
          <p:nvPr/>
        </p:nvSpPr>
        <p:spPr>
          <a:xfrm xmlns:a="http://schemas.openxmlformats.org/drawingml/2006/main">
            <a:off x="704850" y="971550"/>
            <a:ext cx="1028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0" i="0">
                <a:solidFill>
                  <a:srgbClr val="5D6A72"/>
                </a:solidFill>
                <a:latin typeface="DejaVu Sans"/>
                <a:ea typeface="DejaVu Sans"/>
                <a:cs typeface="DejaVu Sans"/>
              </a:defRPr>
            </a:defPPr>
          </a:lstStyle>
          <a:p xmlns:a="http://schemas.openxmlformats.org/drawingml/2006/main">
            <a:pPr algn="l">
              <a:defRPr sz="1275" b="0" i="0">
                <a:solidFill>
                  <a:srgbClr val="5D6A72"/>
                </a:solidFill>
                <a:latin typeface="DejaVu Sans"/>
                <a:ea typeface="DejaVu Sans"/>
                <a:cs typeface="DejaVu Sans"/>
              </a:defRPr>
            </a:pPr>
            <a:r>
              <a:rPr sz="1275" b="0" i="0">
                <a:solidFill>
                  <a:srgbClr val="5D6A72"/>
                </a:solidFill>
                <a:latin typeface="DejaVu Sans"/>
                <a:ea typeface="DejaVu Sans"/>
                <a:cs typeface="DejaVu Sans"/>
              </a:rPr>
              <a:t>The objective is expensive, unknown, and accessible only through experiments</a:t>
            </a:r>
          </a:p>
        </p:txBody>
      </p:sp>
      <p:sp>
        <p:nvSpPr>
          <p:cNvPr id="3" name="">
            <a:extLst xmlns:a="http://schemas.openxmlformats.org/drawingml/2006/main">
              <a:ext uri="{FF2B5EF4-FFF2-40B4-BE49-F238E27FC236}">
                <a16:creationId xmlns:a16="http://schemas.microsoft.com/office/drawing/2014/main" id="{8F05CFB5-0C69-461D-B2F6-9EA08501DBA4}"/>
              </a:ext>
            </a:extLst>
          </p:cNvPr>
          <p:cNvSpPr>
            <a:spLocks xmlns:a="http://schemas.openxmlformats.org/drawingml/2006/main" noGrp="1"/>
          </p:cNvSpPr>
          <p:nvPr/>
        </p:nvSpPr>
        <p:spPr>
          <a:xfrm xmlns:a="http://schemas.openxmlformats.org/drawingml/2006/main">
            <a:off x="742950" y="15811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1" i="0">
                <a:solidFill>
                  <a:srgbClr val="218C7E"/>
                </a:solidFill>
                <a:latin typeface="DejaVu Sans"/>
                <a:ea typeface="DejaVu Sans"/>
                <a:cs typeface="DejaVu Sans"/>
              </a:defRPr>
            </a:defPPr>
          </a:lstStyle>
          <a:p xmlns:a="http://schemas.openxmlformats.org/drawingml/2006/main">
            <a:pPr algn="l">
              <a:defRPr sz="1200" b="1" i="0">
                <a:solidFill>
                  <a:srgbClr val="218C7E"/>
                </a:solidFill>
                <a:latin typeface="DejaVu Sans"/>
                <a:ea typeface="DejaVu Sans"/>
                <a:cs typeface="DejaVu Sans"/>
              </a:defRPr>
            </a:pPr>
            <a:r>
              <a:rPr sz="1200" b="1" i="0">
                <a:solidFill>
                  <a:srgbClr val="218C7E"/>
                </a:solidFill>
                <a:latin typeface="DejaVu Sans"/>
                <a:ea typeface="DejaVu Sans"/>
                <a:cs typeface="DejaVu Sans"/>
              </a:rPr>
              <a:t>Goal</a:t>
            </a:r>
          </a:p>
        </p:txBody>
      </p:sp>
      <p:sp>
        <p:nvSpPr>
          <p:cNvPr id="4" name="">
            <a:extLst xmlns:a="http://schemas.openxmlformats.org/drawingml/2006/main">
              <a:ext uri="{FF2B5EF4-FFF2-40B4-BE49-F238E27FC236}">
                <a16:creationId xmlns:a16="http://schemas.microsoft.com/office/drawing/2014/main" id="{D41A932F-7953-4523-82CC-891C60CE693B}"/>
              </a:ext>
            </a:extLst>
          </p:cNvPr>
          <p:cNvSpPr>
            <a:spLocks xmlns:a="http://schemas.openxmlformats.org/drawingml/2006/main" noGrp="1"/>
          </p:cNvSpPr>
          <p:nvPr/>
        </p:nvSpPr>
        <p:spPr>
          <a:xfrm xmlns:a="http://schemas.openxmlformats.org/drawingml/2006/main">
            <a:off x="742950" y="1952625"/>
            <a:ext cx="40957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025" b="1" i="0">
                <a:solidFill>
                  <a:srgbClr val="0B1F33"/>
                </a:solidFill>
                <a:latin typeface="DejaVu Sans"/>
                <a:ea typeface="DejaVu Sans"/>
                <a:cs typeface="DejaVu Sans"/>
              </a:defRPr>
            </a:defPPr>
          </a:lstStyle>
          <a:p xmlns:a="http://schemas.openxmlformats.org/drawingml/2006/main">
            <a:pPr algn="l">
              <a:defRPr sz="2025" b="1" i="0">
                <a:solidFill>
                  <a:srgbClr val="0B1F33"/>
                </a:solidFill>
                <a:latin typeface="DejaVu Sans"/>
                <a:ea typeface="DejaVu Sans"/>
                <a:cs typeface="DejaVu Sans"/>
              </a:defRPr>
            </a:pPr>
            <a:r>
              <a:rPr sz="2025" b="1" i="0">
                <a:solidFill>
                  <a:srgbClr val="0B1F33"/>
                </a:solidFill>
                <a:latin typeface="DejaVu Sans"/>
                <a:ea typeface="DejaVu Sans"/>
                <a:cs typeface="DejaVu Sans"/>
              </a:rPr>
              <a:t>Find an input x with high f(x) while using as few evaluations as possible.</a:t>
            </a:r>
          </a:p>
        </p:txBody>
      </p:sp>
      <p:sp>
        <p:nvSpPr>
          <p:cNvPr id="5" name="">
            <a:extLst xmlns:a="http://schemas.openxmlformats.org/drawingml/2006/main">
              <a:ext uri="{FF2B5EF4-FFF2-40B4-BE49-F238E27FC236}">
                <a16:creationId xmlns:a16="http://schemas.microsoft.com/office/drawing/2014/main" id="{CB30767C-AD04-4B53-AE21-0A729E84F161}"/>
              </a:ext>
            </a:extLst>
          </p:cNvPr>
          <p:cNvSpPr>
            <a:spLocks xmlns:a="http://schemas.openxmlformats.org/drawingml/2006/main" noGrp="1"/>
          </p:cNvSpPr>
          <p:nvPr/>
        </p:nvSpPr>
        <p:spPr>
          <a:xfrm xmlns:a="http://schemas.openxmlformats.org/drawingml/2006/main">
            <a:off x="742950" y="3267075"/>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1" i="0">
                <a:solidFill>
                  <a:srgbClr val="218C7E"/>
                </a:solidFill>
                <a:latin typeface="DejaVu Sans"/>
                <a:ea typeface="DejaVu Sans"/>
                <a:cs typeface="DejaVu Sans"/>
              </a:defRPr>
            </a:defPPr>
          </a:lstStyle>
          <a:p xmlns:a="http://schemas.openxmlformats.org/drawingml/2006/main">
            <a:pPr algn="l">
              <a:defRPr sz="1200" b="1" i="0">
                <a:solidFill>
                  <a:srgbClr val="218C7E"/>
                </a:solidFill>
                <a:latin typeface="DejaVu Sans"/>
                <a:ea typeface="DejaVu Sans"/>
                <a:cs typeface="DejaVu Sans"/>
              </a:defRPr>
            </a:pPr>
            <a:r>
              <a:rPr sz="1200" b="1" i="0">
                <a:solidFill>
                  <a:srgbClr val="218C7E"/>
                </a:solidFill>
                <a:latin typeface="DejaVu Sans"/>
                <a:ea typeface="DejaVu Sans"/>
                <a:cs typeface="DejaVu Sans"/>
              </a:rPr>
              <a:t>Examples</a:t>
            </a:r>
          </a:p>
        </p:txBody>
      </p:sp>
      <p:sp>
        <p:nvSpPr>
          <p:cNvPr id="6" name="">
            <a:extLst xmlns:a="http://schemas.openxmlformats.org/drawingml/2006/main">
              <a:ext uri="{FF2B5EF4-FFF2-40B4-BE49-F238E27FC236}">
                <a16:creationId xmlns:a16="http://schemas.microsoft.com/office/drawing/2014/main" id="{26EDF104-A192-4ABD-98A8-2BF29593D6C2}"/>
              </a:ext>
            </a:extLst>
          </p:cNvPr>
          <p:cNvSpPr>
            <a:spLocks xmlns:a="http://schemas.openxmlformats.org/drawingml/2006/main" noGrp="1"/>
          </p:cNvSpPr>
          <p:nvPr/>
        </p:nvSpPr>
        <p:spPr>
          <a:xfrm xmlns:a="http://schemas.openxmlformats.org/drawingml/2006/main">
            <a:off x="781050" y="3657600"/>
            <a:ext cx="3524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75" b="0" i="0">
                <a:solidFill>
                  <a:srgbClr val="122536"/>
                </a:solidFill>
                <a:latin typeface="DejaVu Sans"/>
                <a:ea typeface="DejaVu Sans"/>
                <a:cs typeface="DejaVu Sans"/>
              </a:defRPr>
            </a:defPPr>
          </a:lstStyle>
          <a:p xmlns:a="http://schemas.openxmlformats.org/drawingml/2006/main">
            <a:pPr algn="l">
              <a:defRPr sz="1575" b="0" i="0">
                <a:solidFill>
                  <a:srgbClr val="122536"/>
                </a:solidFill>
                <a:latin typeface="DejaVu Sans"/>
                <a:ea typeface="DejaVu Sans"/>
                <a:cs typeface="DejaVu Sans"/>
              </a:defRPr>
            </a:pPr>
            <a:r>
              <a:rPr sz="1575" b="0" i="0">
                <a:solidFill>
                  <a:srgbClr val="122536"/>
                </a:solidFill>
                <a:latin typeface="DejaVu Sans"/>
                <a:ea typeface="DejaVu Sans"/>
                <a:cs typeface="DejaVu Sans"/>
              </a:rPr>
              <a:t>Reaction conditions</a:t>
            </a:r>
          </a:p>
          <a:p xmlns:a="http://schemas.openxmlformats.org/drawingml/2006/main">
            <a:pPr algn="l">
              <a:defRPr sz="1575" b="0" i="0">
                <a:solidFill>
                  <a:srgbClr val="122536"/>
                </a:solidFill>
                <a:latin typeface="DejaVu Sans"/>
                <a:ea typeface="DejaVu Sans"/>
                <a:cs typeface="DejaVu Sans"/>
              </a:defRPr>
            </a:pPr>
            <a:r>
              <a:rPr sz="1575" b="0" i="0">
                <a:solidFill>
                  <a:srgbClr val="122536"/>
                </a:solidFill>
                <a:latin typeface="DejaVu Sans"/>
                <a:ea typeface="DejaVu Sans"/>
                <a:cs typeface="DejaVu Sans"/>
              </a:rPr>
              <a:t>Instrument settings</a:t>
            </a:r>
          </a:p>
          <a:p xmlns:a="http://schemas.openxmlformats.org/drawingml/2006/main">
            <a:pPr algn="l">
              <a:defRPr sz="1575" b="0" i="0">
                <a:solidFill>
                  <a:srgbClr val="122536"/>
                </a:solidFill>
                <a:latin typeface="DejaVu Sans"/>
                <a:ea typeface="DejaVu Sans"/>
                <a:cs typeface="DejaVu Sans"/>
              </a:defRPr>
            </a:pPr>
            <a:r>
              <a:rPr sz="1575" b="0" i="0">
                <a:solidFill>
                  <a:srgbClr val="122536"/>
                </a:solidFill>
                <a:latin typeface="DejaVu Sans"/>
                <a:ea typeface="DejaVu Sans"/>
                <a:cs typeface="DejaVu Sans"/>
              </a:rPr>
              <a:t>Material composition</a:t>
            </a:r>
          </a:p>
          <a:p xmlns:a="http://schemas.openxmlformats.org/drawingml/2006/main">
            <a:pPr algn="l">
              <a:defRPr sz="1575" b="0" i="0">
                <a:solidFill>
                  <a:srgbClr val="122536"/>
                </a:solidFill>
                <a:latin typeface="DejaVu Sans"/>
                <a:ea typeface="DejaVu Sans"/>
                <a:cs typeface="DejaVu Sans"/>
              </a:defRPr>
            </a:pPr>
            <a:r>
              <a:rPr sz="1575" b="0" i="0">
                <a:solidFill>
                  <a:srgbClr val="122536"/>
                </a:solidFill>
                <a:latin typeface="DejaVu Sans"/>
                <a:ea typeface="DejaVu Sans"/>
                <a:cs typeface="DejaVu Sans"/>
              </a:rPr>
              <a:t>Model hyperparameters</a:t>
            </a:r>
          </a:p>
        </p:txBody>
      </p:sp>
      <p:sp>
        <p:nvSpPr>
          <p:cNvPr id="7" name="">
            <a:extLst xmlns:a="http://schemas.openxmlformats.org/drawingml/2006/main">
              <a:ext uri="{FF2B5EF4-FFF2-40B4-BE49-F238E27FC236}">
                <a16:creationId xmlns:a16="http://schemas.microsoft.com/office/drawing/2014/main" id="{AAB97139-CE7D-4B5B-AA23-E8519BCB4DC7}"/>
              </a:ext>
            </a:extLst>
          </p:cNvPr>
          <p:cNvSpPr>
            <a:spLocks xmlns:a="http://schemas.openxmlformats.org/drawingml/2006/main" noGrp="1"/>
          </p:cNvSpPr>
          <p:nvPr/>
        </p:nvSpPr>
        <p:spPr>
          <a:xfrm xmlns:a="http://schemas.openxmlformats.org/drawingml/2006/main">
            <a:off x="742950" y="5381625"/>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1" i="0">
                <a:solidFill>
                  <a:srgbClr val="E76F51"/>
                </a:solidFill>
                <a:latin typeface="DejaVu Sans"/>
                <a:ea typeface="DejaVu Sans"/>
                <a:cs typeface="DejaVu Sans"/>
              </a:defRPr>
            </a:defPPr>
          </a:lstStyle>
          <a:p xmlns:a="http://schemas.openxmlformats.org/drawingml/2006/main">
            <a:pPr algn="l">
              <a:defRPr sz="1200" b="1" i="0">
                <a:solidFill>
                  <a:srgbClr val="E76F51"/>
                </a:solidFill>
                <a:latin typeface="DejaVu Sans"/>
                <a:ea typeface="DejaVu Sans"/>
                <a:cs typeface="DejaVu Sans"/>
              </a:defRPr>
            </a:pPr>
            <a:r>
              <a:rPr sz="1200" b="1" i="0">
                <a:solidFill>
                  <a:srgbClr val="E76F51"/>
                </a:solidFill>
                <a:latin typeface="DejaVu Sans"/>
                <a:ea typeface="DejaVu Sans"/>
                <a:cs typeface="DejaVu Sans"/>
              </a:rPr>
              <a:t>Why ordinary optimization fails</a:t>
            </a:r>
          </a:p>
        </p:txBody>
      </p:sp>
      <p:sp>
        <p:nvSpPr>
          <p:cNvPr id="8" name="">
            <a:extLst xmlns:a="http://schemas.openxmlformats.org/drawingml/2006/main">
              <a:ext uri="{FF2B5EF4-FFF2-40B4-BE49-F238E27FC236}">
                <a16:creationId xmlns:a16="http://schemas.microsoft.com/office/drawing/2014/main" id="{90DB2599-B5FC-4B7F-B03F-EB9D3DE3AF29}"/>
              </a:ext>
            </a:extLst>
          </p:cNvPr>
          <p:cNvSpPr>
            <a:spLocks xmlns:a="http://schemas.openxmlformats.org/drawingml/2006/main" noGrp="1"/>
          </p:cNvSpPr>
          <p:nvPr/>
        </p:nvSpPr>
        <p:spPr>
          <a:xfrm xmlns:a="http://schemas.openxmlformats.org/drawingml/2006/main">
            <a:off x="742950" y="5715000"/>
            <a:ext cx="4000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i="0">
                <a:solidFill>
                  <a:srgbClr val="5D6A72"/>
                </a:solidFill>
                <a:latin typeface="DejaVu Sans"/>
                <a:ea typeface="DejaVu Sans"/>
                <a:cs typeface="DejaVu Sans"/>
              </a:defRPr>
            </a:defPPr>
          </a:lstStyle>
          <a:p xmlns:a="http://schemas.openxmlformats.org/drawingml/2006/main">
            <a:pPr algn="l">
              <a:defRPr sz="1425" b="0" i="0">
                <a:solidFill>
                  <a:srgbClr val="5D6A72"/>
                </a:solidFill>
                <a:latin typeface="DejaVu Sans"/>
                <a:ea typeface="DejaVu Sans"/>
                <a:cs typeface="DejaVu Sans"/>
              </a:defRPr>
            </a:pPr>
            <a:r>
              <a:rPr sz="1425" b="0" i="0">
                <a:solidFill>
                  <a:srgbClr val="5D6A72"/>
                </a:solidFill>
                <a:latin typeface="DejaVu Sans"/>
                <a:ea typeface="DejaVu Sans"/>
                <a:cs typeface="DejaVu Sans"/>
              </a:rPr>
              <a:t>We cannot cheaply evaluate f everywhere or compute its gradient.</a:t>
            </a:r>
          </a:p>
        </p:txBody>
      </p:sp>
      <p:graphicFrame>
        <p:nvGraphicFramePr>
          <p:cNvPr id="9" name="Chart">
            <a:extLst xmlns:a="http://schemas.openxmlformats.org/drawingml/2006/main">
              <a:ext uri="{FF2B5EF4-FFF2-40B4-BE49-F238E27FC236}">
                <a16:creationId xmlns:a16="http://schemas.microsoft.com/office/drawing/2014/main" id="{D260A1B5-326C-496B-A167-A7240FA6FC84}"/>
              </a:ext>
            </a:extLst>
          </p:cNvPr>
          <p:cNvGraphicFramePr/>
          <p:nvPr/>
        </p:nvGraphicFramePr>
        <p:xfrm>
          <a:off xmlns:a="http://schemas.openxmlformats.org/drawingml/2006/main" x="5286375" y="1524000"/>
          <a:ext xmlns:a="http://schemas.openxmlformats.org/drawingml/2006/main" cx="6191250" cy="3714750"/>
        </p:xfrm>
        <a:graphic xmlns:a="http://schemas.openxmlformats.org/drawingml/2006/main">
          <a:graphicData uri="http://schemas.openxmlformats.org/drawingml/2006/chart">
            <c:chart xmlns:r="http://schemas.openxmlformats.org/officeDocument/2006/relationships" xmlns:c="http://schemas.openxmlformats.org/drawingml/2006/chart" r:id="R834749fd09e742f1"/>
          </a:graphicData>
        </a:graphic>
      </p:graphicFrame>
      <p:sp>
        <p:nvSpPr>
          <p:cNvPr id="10" name="">
            <a:extLst xmlns:a="http://schemas.openxmlformats.org/drawingml/2006/main">
              <a:ext uri="{FF2B5EF4-FFF2-40B4-BE49-F238E27FC236}">
                <a16:creationId xmlns:a16="http://schemas.microsoft.com/office/drawing/2014/main" id="{59DE2557-7202-4862-9ABD-18622B4044BC}"/>
              </a:ext>
            </a:extLst>
          </p:cNvPr>
          <p:cNvSpPr>
            <a:spLocks xmlns:a="http://schemas.openxmlformats.org/drawingml/2006/main" noGrp="1"/>
          </p:cNvSpPr>
          <p:nvPr/>
        </p:nvSpPr>
        <p:spPr>
          <a:xfrm xmlns:a="http://schemas.openxmlformats.org/drawingml/2006/main">
            <a:off x="5791200" y="5448300"/>
            <a:ext cx="5143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350" b="1" i="0">
                <a:solidFill>
                  <a:srgbClr val="218C7E"/>
                </a:solidFill>
                <a:latin typeface="DejaVu Sans"/>
                <a:ea typeface="DejaVu Sans"/>
                <a:cs typeface="DejaVu Sans"/>
              </a:defRPr>
            </a:defPPr>
          </a:lstStyle>
          <a:p xmlns:a="http://schemas.openxmlformats.org/drawingml/2006/main">
            <a:pPr algn="ctr">
              <a:defRPr sz="1350" b="1" i="0">
                <a:solidFill>
                  <a:srgbClr val="218C7E"/>
                </a:solidFill>
                <a:latin typeface="DejaVu Sans"/>
                <a:ea typeface="DejaVu Sans"/>
                <a:cs typeface="DejaVu Sans"/>
              </a:defRPr>
            </a:pPr>
            <a:r>
              <a:rPr sz="1350" b="1" i="0">
                <a:solidFill>
                  <a:srgbClr val="218C7E"/>
                </a:solidFill>
                <a:latin typeface="DejaVu Sans"/>
                <a:ea typeface="DejaVu Sans"/>
                <a:cs typeface="DejaVu Sans"/>
              </a:rPr>
              <a:t>The curve is hidden during optimization. We see only the points we choose to evaluate.</a:t>
            </a:r>
          </a:p>
        </p:txBody>
      </p:sp>
      <p:sp>
        <p:nvSpPr>
          <p:cNvPr id="11" name="">
            <a:extLst xmlns:a="http://schemas.openxmlformats.org/drawingml/2006/main">
              <a:ext uri="{FF2B5EF4-FFF2-40B4-BE49-F238E27FC236}">
                <a16:creationId xmlns:a16="http://schemas.microsoft.com/office/drawing/2014/main" id="{2758392A-84CD-4957-A9C5-9D578CE1A28B}"/>
              </a:ext>
            </a:extLst>
          </p:cNvPr>
          <p:cNvSpPr>
            <a:spLocks xmlns:a="http://schemas.openxmlformats.org/drawingml/2006/main" noGrp="1"/>
          </p:cNvSpPr>
          <p:nvPr/>
        </p:nvSpPr>
        <p:spPr>
          <a:xfrm xmlns:a="http://schemas.openxmlformats.org/drawingml/2006/main">
            <a:off x="685800" y="6457950"/>
            <a:ext cx="1009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75" b="0" i="0">
                <a:solidFill>
                  <a:srgbClr val="71808A"/>
                </a:solidFill>
                <a:latin typeface="DejaVu Sans"/>
                <a:ea typeface="DejaVu Sans"/>
                <a:cs typeface="DejaVu Sans"/>
              </a:defRPr>
            </a:defPPr>
          </a:lstStyle>
          <a:p xmlns:a="http://schemas.openxmlformats.org/drawingml/2006/main">
            <a:pPr algn="l">
              <a:defRPr sz="675" b="0" i="0">
                <a:solidFill>
                  <a:srgbClr val="71808A"/>
                </a:solidFill>
                <a:latin typeface="DejaVu Sans"/>
                <a:ea typeface="DejaVu Sans"/>
                <a:cs typeface="DejaVu Sans"/>
              </a:defRPr>
            </a:pPr>
            <a:r>
              <a:rPr sz="675" b="0" i="0">
                <a:solidFill>
                  <a:srgbClr val="71808A"/>
                </a:solidFill>
                <a:latin typeface="DejaVu Sans"/>
                <a:ea typeface="DejaVu Sans"/>
                <a:cs typeface="DejaVu Sans"/>
              </a:rPr>
              <a:t>Frazier 2018; Shahriari et al. 2016</a:t>
            </a:r>
          </a:p>
        </p:txBody>
      </p:sp>
      <p:sp>
        <p:nvSpPr>
          <p:cNvPr id="12" name="">
            <a:extLst xmlns:a="http://schemas.openxmlformats.org/drawingml/2006/main">
              <a:ext uri="{FF2B5EF4-FFF2-40B4-BE49-F238E27FC236}">
                <a16:creationId xmlns:a16="http://schemas.microsoft.com/office/drawing/2014/main" id="{CEABAD74-F132-4AAA-8064-7482A1EDBC1A}"/>
              </a:ext>
            </a:extLst>
          </p:cNvPr>
          <p:cNvSpPr>
            <a:spLocks xmlns:a="http://schemas.openxmlformats.org/drawingml/2006/main" noGrp="1"/>
          </p:cNvSpPr>
          <p:nvPr/>
        </p:nvSpPr>
        <p:spPr>
          <a:xfrm xmlns:a="http://schemas.openxmlformats.org/drawingml/2006/main">
            <a:off x="11049000" y="6419850"/>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i="0">
                <a:solidFill>
                  <a:srgbClr val="71808A"/>
                </a:solidFill>
                <a:latin typeface="DejaVu Sans"/>
                <a:ea typeface="DejaVu Sans"/>
                <a:cs typeface="DejaVu Sans"/>
              </a:defRPr>
            </a:defPPr>
          </a:lstStyle>
          <a:p xmlns:a="http://schemas.openxmlformats.org/drawingml/2006/main">
            <a:pPr algn="r">
              <a:defRPr sz="825" b="1" i="0">
                <a:solidFill>
                  <a:srgbClr val="71808A"/>
                </a:solidFill>
                <a:latin typeface="DejaVu Sans"/>
                <a:ea typeface="DejaVu Sans"/>
                <a:cs typeface="DejaVu Sans"/>
              </a:defRPr>
            </a:pPr>
            <a:r>
              <a:rPr sz="825" b="1" i="0">
                <a:solidFill>
                  <a:srgbClr val="71808A"/>
                </a:solidFill>
                <a:latin typeface="DejaVu Sans"/>
                <a:ea typeface="DejaVu Sans"/>
                <a:cs typeface="DejaVu Sans"/>
              </a:rPr>
              <a:t>01</a:t>
            </a:r>
          </a:p>
        </p:txBody>
      </p:sp>
    </p:spTree>
    <p:extLst>
      <p:ext uri="{BB962C8B-B14F-4D97-AF65-F5344CB8AC3E}">
        <p14:creationId xmlns:p14="http://schemas.microsoft.com/office/powerpoint/2010/main" val="844729567"/>
      </p:ext>
    </p:extLst>
  </p:cSld>
</p:sld>
</file>

<file path=ppt/slides/slide2.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36E312E-4D2C-4F8A-9D92-DB8D9C677AA4}"/>
              </a:ext>
            </a:extLst>
          </p:cNvPr>
          <p:cNvSpPr>
            <a:spLocks xmlns:a="http://schemas.openxmlformats.org/drawingml/2006/main" noGrp="1"/>
          </p:cNvSpPr>
          <p:nvPr/>
        </p:nvSpPr>
        <p:spPr>
          <a:xfrm xmlns:a="http://schemas.openxmlformats.org/drawingml/2006/main">
            <a:off x="685800" y="4000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i="0">
                <a:solidFill>
                  <a:srgbClr val="0B1F33"/>
                </a:solidFill>
                <a:latin typeface="DejaVu Sans"/>
                <a:ea typeface="DejaVu Sans"/>
                <a:cs typeface="DejaVu Sans"/>
              </a:defRPr>
            </a:defPPr>
          </a:lstStyle>
          <a:p xmlns:a="http://schemas.openxmlformats.org/drawingml/2006/main">
            <a:pPr algn="l">
              <a:defRPr sz="2550" b="1" i="0">
                <a:solidFill>
                  <a:srgbClr val="0B1F33"/>
                </a:solidFill>
                <a:latin typeface="DejaVu Sans"/>
                <a:ea typeface="DejaVu Sans"/>
                <a:cs typeface="DejaVu Sans"/>
              </a:defRPr>
            </a:pPr>
            <a:r>
              <a:rPr sz="2550" b="1" i="0">
                <a:solidFill>
                  <a:srgbClr val="0B1F33"/>
                </a:solidFill>
                <a:latin typeface="DejaVu Sans"/>
                <a:ea typeface="DejaVu Sans"/>
                <a:cs typeface="DejaVu Sans"/>
              </a:rPr>
              <a:t>Five objects in a BO experiment</a:t>
            </a:r>
          </a:p>
        </p:txBody>
      </p:sp>
      <p:sp>
        <p:nvSpPr>
          <p:cNvPr id="2" name="">
            <a:extLst xmlns:a="http://schemas.openxmlformats.org/drawingml/2006/main">
              <a:ext uri="{FF2B5EF4-FFF2-40B4-BE49-F238E27FC236}">
                <a16:creationId xmlns:a16="http://schemas.microsoft.com/office/drawing/2014/main" id="{B75A2825-F3A5-45BC-AB91-4B819A4D47F4}"/>
              </a:ext>
            </a:extLst>
          </p:cNvPr>
          <p:cNvSpPr>
            <a:spLocks xmlns:a="http://schemas.openxmlformats.org/drawingml/2006/main" noGrp="1"/>
          </p:cNvSpPr>
          <p:nvPr/>
        </p:nvSpPr>
        <p:spPr>
          <a:xfrm xmlns:a="http://schemas.openxmlformats.org/drawingml/2006/main">
            <a:off x="704850" y="971550"/>
            <a:ext cx="1028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0" i="0">
                <a:solidFill>
                  <a:srgbClr val="5D6A72"/>
                </a:solidFill>
                <a:latin typeface="DejaVu Sans"/>
                <a:ea typeface="DejaVu Sans"/>
                <a:cs typeface="DejaVu Sans"/>
              </a:defRPr>
            </a:defPPr>
          </a:lstStyle>
          <a:p xmlns:a="http://schemas.openxmlformats.org/drawingml/2006/main">
            <a:pPr algn="l">
              <a:defRPr sz="1275" b="0" i="0">
                <a:solidFill>
                  <a:srgbClr val="5D6A72"/>
                </a:solidFill>
                <a:latin typeface="DejaVu Sans"/>
                <a:ea typeface="DejaVu Sans"/>
                <a:cs typeface="DejaVu Sans"/>
              </a:defRPr>
            </a:pPr>
            <a:r>
              <a:rPr sz="1275" b="0" i="0">
                <a:solidFill>
                  <a:srgbClr val="5D6A72"/>
                </a:solidFill>
                <a:latin typeface="DejaVu Sans"/>
                <a:ea typeface="DejaVu Sans"/>
                <a:cs typeface="DejaVu Sans"/>
              </a:rPr>
              <a:t>Each object answers a different question</a:t>
            </a:r>
          </a:p>
        </p:txBody>
      </p:sp>
      <p:graphicFrame>
        <p:nvGraphicFramePr>
          <p:cNvPr id="3" name="">
            <a:extLst xmlns:a="http://schemas.openxmlformats.org/drawingml/2006/main">
              <a:ext uri="{FF2B5EF4-FFF2-40B4-BE49-F238E27FC236}">
                <a16:creationId xmlns:a16="http://schemas.microsoft.com/office/drawing/2014/main" id="{7FC3A7BC-5333-459C-9125-3D422F3A3670}"/>
              </a:ext>
            </a:extLst>
          </p:cNvPr>
          <p:cNvGraphicFramePr/>
          <p:nvPr/>
        </p:nvGraphicFramePr>
        <p:xfrm>
          <a:off xmlns:a="http://schemas.openxmlformats.org/drawingml/2006/main" x="685800" y="1504950"/>
          <a:ext xmlns:a="http://schemas.openxmlformats.org/drawingml/2006/main" cx="10820400" cy="4095750"/>
        </p:xfrm>
        <a:graphic xmlns:a="http://schemas.openxmlformats.org/drawingml/2006/main">
          <a:graphicData uri="http://schemas.openxmlformats.org/drawingml/2006/table">
            <a:tbl>
              <a:tblPr/>
              <a:tblGrid>
                <a:gridCol w="2190750"/>
                <a:gridCol w="3476625"/>
                <a:gridCol w="2381250"/>
                <a:gridCol w="2771775"/>
              </a:tblGrid>
              <a:tr h="495300">
                <a:tc>
                  <a:txBody>
                    <a:bodyPr/>
                    <a:lstStyle/>
                    <a:p>
                      <a:r>
                        <a:t>Object</a:t>
                      </a:r>
                    </a:p>
                  </a:txBody>
                  <a:tcPr marL="91440" marR="91440" marT="45720" marB="45720"/>
                </a:tc>
                <a:tc>
                  <a:txBody>
                    <a:bodyPr/>
                    <a:lstStyle/>
                    <a:p>
                      <a:r>
                        <a:t>Question</a:t>
                      </a:r>
                    </a:p>
                  </a:txBody>
                  <a:tcPr marL="91440" marR="91440" marT="45720" marB="45720"/>
                </a:tc>
                <a:tc>
                  <a:txBody>
                    <a:bodyPr/>
                    <a:lstStyle/>
                    <a:p>
                      <a:r>
                        <a:t>Output</a:t>
                      </a:r>
                    </a:p>
                  </a:txBody>
                  <a:tcPr marL="91440" marR="91440" marT="45720" marB="45720"/>
                </a:tc>
                <a:tc>
                  <a:txBody>
                    <a:bodyPr/>
                    <a:lstStyle/>
                    <a:p>
                      <a:r>
                        <a:t>Example</a:t>
                      </a:r>
                    </a:p>
                  </a:txBody>
                  <a:tcPr marL="91440" marR="91440" marT="45720" marB="45720"/>
                </a:tc>
              </a:tr>
              <a:tr h="666750">
                <a:tc>
                  <a:txBody>
                    <a:bodyPr/>
                    <a:lstStyle/>
                    <a:p>
                      <a:r>
                        <a:t>Objective f(x)</a:t>
                      </a:r>
                    </a:p>
                  </a:txBody>
                  <a:tcPr marL="91440" marR="91440" marT="45720" marB="45720"/>
                </a:tc>
                <a:tc>
                  <a:txBody>
                    <a:bodyPr/>
                    <a:lstStyle/>
                    <a:p>
                      <a:r>
                        <a:t>What does the real experiment produce?</a:t>
                      </a:r>
                    </a:p>
                  </a:txBody>
                  <a:tcPr marL="91440" marR="91440" marT="45720" marB="45720"/>
                </a:tc>
                <a:tc>
                  <a:txBody>
                    <a:bodyPr/>
                    <a:lstStyle/>
                    <a:p>
                      <a:r>
                        <a:t>Observed y</a:t>
                      </a:r>
                    </a:p>
                  </a:txBody>
                  <a:tcPr marL="91440" marR="91440" marT="45720" marB="45720"/>
                </a:tc>
                <a:tc>
                  <a:txBody>
                    <a:bodyPr/>
                    <a:lstStyle/>
                    <a:p>
                      <a:r>
                        <a:t>Reaction yield</a:t>
                      </a:r>
                    </a:p>
                  </a:txBody>
                  <a:tcPr marL="91440" marR="91440" marT="45720" marB="45720"/>
                </a:tc>
              </a:tr>
              <a:tr h="666750">
                <a:tc>
                  <a:txBody>
                    <a:bodyPr/>
                    <a:lstStyle/>
                    <a:p>
                      <a:r>
                        <a:t>GP surrogate</a:t>
                      </a:r>
                    </a:p>
                  </a:txBody>
                  <a:tcPr marL="91440" marR="91440" marT="45720" marB="45720"/>
                </a:tc>
                <a:tc>
                  <a:txBody>
                    <a:bodyPr/>
                    <a:lstStyle/>
                    <a:p>
                      <a:r>
                        <a:t>What functions remain plausible?</a:t>
                      </a:r>
                    </a:p>
                  </a:txBody>
                  <a:tcPr marL="91440" marR="91440" marT="45720" marB="45720"/>
                </a:tc>
                <a:tc>
                  <a:txBody>
                    <a:bodyPr/>
                    <a:lstStyle/>
                    <a:p>
                      <a:r>
                        <a:t>μ(x), σ(x)</a:t>
                      </a:r>
                    </a:p>
                  </a:txBody>
                  <a:tcPr marL="91440" marR="91440" marT="45720" marB="45720"/>
                </a:tc>
                <a:tc>
                  <a:txBody>
                    <a:bodyPr/>
                    <a:lstStyle/>
                    <a:p>
                      <a:r>
                        <a:t>Posterior belief</a:t>
                      </a:r>
                    </a:p>
                  </a:txBody>
                  <a:tcPr marL="91440" marR="91440" marT="45720" marB="45720"/>
                </a:tc>
              </a:tr>
              <a:tr h="666750">
                <a:tc>
                  <a:txBody>
                    <a:bodyPr/>
                    <a:lstStyle/>
                    <a:p>
                      <a:r>
                        <a:t>Acquisition</a:t>
                      </a:r>
                    </a:p>
                  </a:txBody>
                  <a:tcPr marL="91440" marR="91440" marT="45720" marB="45720"/>
                </a:tc>
                <a:tc>
                  <a:txBody>
                    <a:bodyPr/>
                    <a:lstStyle/>
                    <a:p>
                      <a:r>
                        <a:t>Which x should we evaluate next?</a:t>
                      </a:r>
                    </a:p>
                  </a:txBody>
                  <a:tcPr marL="91440" marR="91440" marT="45720" marB="45720"/>
                </a:tc>
                <a:tc>
                  <a:txBody>
                    <a:bodyPr/>
                    <a:lstStyle/>
                    <a:p>
                      <a:r>
                        <a:t>x next</a:t>
                      </a:r>
                    </a:p>
                  </a:txBody>
                  <a:tcPr marL="91440" marR="91440" marT="45720" marB="45720"/>
                </a:tc>
                <a:tc>
                  <a:txBody>
                    <a:bodyPr/>
                    <a:lstStyle/>
                    <a:p>
                      <a:r>
                        <a:t>EI, UCB, MES</a:t>
                      </a:r>
                    </a:p>
                  </a:txBody>
                  <a:tcPr marL="91440" marR="91440" marT="45720" marB="45720"/>
                </a:tc>
              </a:tr>
              <a:tr h="666750">
                <a:tc>
                  <a:txBody>
                    <a:bodyPr/>
                    <a:lstStyle/>
                    <a:p>
                      <a:r>
                        <a:t>Stopping rule</a:t>
                      </a:r>
                    </a:p>
                  </a:txBody>
                  <a:tcPr marL="91440" marR="91440" marT="45720" marB="45720"/>
                </a:tc>
                <a:tc>
                  <a:txBody>
                    <a:bodyPr/>
                    <a:lstStyle/>
                    <a:p>
                      <a:r>
                        <a:t>Should we pay for another evaluation?</a:t>
                      </a:r>
                    </a:p>
                  </a:txBody>
                  <a:tcPr marL="91440" marR="91440" marT="45720" marB="45720"/>
                </a:tc>
                <a:tc>
                  <a:txBody>
                    <a:bodyPr/>
                    <a:lstStyle/>
                    <a:p>
                      <a:r>
                        <a:t>Continue or stop</a:t>
                      </a:r>
                    </a:p>
                  </a:txBody>
                  <a:tcPr marL="91440" marR="91440" marT="45720" marB="45720"/>
                </a:tc>
                <a:tc>
                  <a:txBody>
                    <a:bodyPr/>
                    <a:lstStyle/>
                    <a:p>
                      <a:r>
                        <a:t>EI threshold or regret probability</a:t>
                      </a:r>
                    </a:p>
                  </a:txBody>
                  <a:tcPr marL="91440" marR="91440" marT="45720" marB="45720"/>
                </a:tc>
              </a:tr>
              <a:tr h="666750">
                <a:tc>
                  <a:txBody>
                    <a:bodyPr/>
                    <a:lstStyle/>
                    <a:p>
                      <a:r>
                        <a:t>Recommendation</a:t>
                      </a:r>
                    </a:p>
                  </a:txBody>
                  <a:tcPr marL="91440" marR="91440" marT="45720" marB="45720"/>
                </a:tc>
                <a:tc>
                  <a:txBody>
                    <a:bodyPr/>
                    <a:lstStyle/>
                    <a:p>
                      <a:r>
                        <a:t>Which x should we return?</a:t>
                      </a:r>
                    </a:p>
                  </a:txBody>
                  <a:tcPr marL="91440" marR="91440" marT="45720" marB="45720"/>
                </a:tc>
                <a:tc>
                  <a:txBody>
                    <a:bodyPr/>
                    <a:lstStyle/>
                    <a:p>
                      <a:r>
                        <a:t>x hat</a:t>
                      </a:r>
                    </a:p>
                  </a:txBody>
                  <a:tcPr marL="91440" marR="91440" marT="45720" marB="45720"/>
                </a:tc>
                <a:tc>
                  <a:txBody>
                    <a:bodyPr/>
                    <a:lstStyle/>
                    <a:p>
                      <a:r>
                        <a:t>Best evaluated point</a:t>
                      </a:r>
                    </a:p>
                  </a:txBody>
                  <a:tcPr marL="91440" marR="91440" marT="45720" marB="45720"/>
                </a:tc>
              </a:tr>
            </a:tbl>
          </a:graphicData>
        </a:graphic>
      </p:graphicFrame>
      <p:sp>
        <p:nvSpPr>
          <p:cNvPr id="4" name="">
            <a:extLst xmlns:a="http://schemas.openxmlformats.org/drawingml/2006/main">
              <a:ext uri="{FF2B5EF4-FFF2-40B4-BE49-F238E27FC236}">
                <a16:creationId xmlns:a16="http://schemas.microsoft.com/office/drawing/2014/main" id="{08723B3C-86A5-4144-BCFA-6451D8CE5831}"/>
              </a:ext>
            </a:extLst>
          </p:cNvPr>
          <p:cNvSpPr>
            <a:spLocks xmlns:a="http://schemas.openxmlformats.org/drawingml/2006/main" noGrp="1"/>
          </p:cNvSpPr>
          <p:nvPr/>
        </p:nvSpPr>
        <p:spPr>
          <a:xfrm xmlns:a="http://schemas.openxmlformats.org/drawingml/2006/main">
            <a:off x="1238250" y="5905500"/>
            <a:ext cx="971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500" b="1" i="0">
                <a:solidFill>
                  <a:srgbClr val="0B1F33"/>
                </a:solidFill>
                <a:latin typeface="DejaVu Sans"/>
                <a:ea typeface="DejaVu Sans"/>
                <a:cs typeface="DejaVu Sans"/>
              </a:defRPr>
            </a:defPPr>
          </a:lstStyle>
          <a:p xmlns:a="http://schemas.openxmlformats.org/drawingml/2006/main">
            <a:pPr algn="ctr">
              <a:defRPr sz="1500" b="1" i="0">
                <a:solidFill>
                  <a:srgbClr val="0B1F33"/>
                </a:solidFill>
                <a:latin typeface="DejaVu Sans"/>
                <a:ea typeface="DejaVu Sans"/>
                <a:cs typeface="DejaVu Sans"/>
              </a:defRPr>
            </a:pPr>
            <a:r>
              <a:rPr sz="1500" b="1" i="0">
                <a:solidFill>
                  <a:srgbClr val="0B1F33"/>
                </a:solidFill>
                <a:latin typeface="DejaVu Sans"/>
                <a:ea typeface="DejaVu Sans"/>
                <a:cs typeface="DejaVu Sans"/>
              </a:rPr>
              <a:t>The GP describes uncertainty. The acquisition, stopping, and recommendation rules use that uncertainty for different decisions.</a:t>
            </a:r>
          </a:p>
        </p:txBody>
      </p:sp>
      <p:sp>
        <p:nvSpPr>
          <p:cNvPr id="5" name="">
            <a:extLst xmlns:a="http://schemas.openxmlformats.org/drawingml/2006/main">
              <a:ext uri="{FF2B5EF4-FFF2-40B4-BE49-F238E27FC236}">
                <a16:creationId xmlns:a16="http://schemas.microsoft.com/office/drawing/2014/main" id="{F9A55037-B0D3-4BB4-8E19-DF57590081CA}"/>
              </a:ext>
            </a:extLst>
          </p:cNvPr>
          <p:cNvSpPr>
            <a:spLocks xmlns:a="http://schemas.openxmlformats.org/drawingml/2006/main" noGrp="1"/>
          </p:cNvSpPr>
          <p:nvPr/>
        </p:nvSpPr>
        <p:spPr>
          <a:xfrm xmlns:a="http://schemas.openxmlformats.org/drawingml/2006/main">
            <a:off x="685800" y="6457950"/>
            <a:ext cx="1009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75" b="0" i="0">
                <a:solidFill>
                  <a:srgbClr val="71808A"/>
                </a:solidFill>
                <a:latin typeface="DejaVu Sans"/>
                <a:ea typeface="DejaVu Sans"/>
                <a:cs typeface="DejaVu Sans"/>
              </a:defRPr>
            </a:defPPr>
          </a:lstStyle>
          <a:p xmlns:a="http://schemas.openxmlformats.org/drawingml/2006/main">
            <a:pPr algn="l">
              <a:defRPr sz="675" b="0" i="0">
                <a:solidFill>
                  <a:srgbClr val="71808A"/>
                </a:solidFill>
                <a:latin typeface="DejaVu Sans"/>
                <a:ea typeface="DejaVu Sans"/>
                <a:cs typeface="DejaVu Sans"/>
              </a:defRPr>
            </a:pPr>
            <a:r>
              <a:rPr sz="675" b="0" i="0">
                <a:solidFill>
                  <a:srgbClr val="71808A"/>
                </a:solidFill>
                <a:latin typeface="DejaVu Sans"/>
                <a:ea typeface="DejaVu Sans"/>
                <a:cs typeface="DejaVu Sans"/>
              </a:rPr>
              <a:t>Frazier 2018; Jones et al. 1998; Srinivas et al. 2010; Wang and Jegelka 2017</a:t>
            </a:r>
          </a:p>
        </p:txBody>
      </p:sp>
      <p:sp>
        <p:nvSpPr>
          <p:cNvPr id="6" name="">
            <a:extLst xmlns:a="http://schemas.openxmlformats.org/drawingml/2006/main">
              <a:ext uri="{FF2B5EF4-FFF2-40B4-BE49-F238E27FC236}">
                <a16:creationId xmlns:a16="http://schemas.microsoft.com/office/drawing/2014/main" id="{AE59AD8E-4DA9-45A1-AEE9-43040637402D}"/>
              </a:ext>
            </a:extLst>
          </p:cNvPr>
          <p:cNvSpPr>
            <a:spLocks xmlns:a="http://schemas.openxmlformats.org/drawingml/2006/main" noGrp="1"/>
          </p:cNvSpPr>
          <p:nvPr/>
        </p:nvSpPr>
        <p:spPr>
          <a:xfrm xmlns:a="http://schemas.openxmlformats.org/drawingml/2006/main">
            <a:off x="11049000" y="6419850"/>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i="0">
                <a:solidFill>
                  <a:srgbClr val="71808A"/>
                </a:solidFill>
                <a:latin typeface="DejaVu Sans"/>
                <a:ea typeface="DejaVu Sans"/>
                <a:cs typeface="DejaVu Sans"/>
              </a:defRPr>
            </a:defPPr>
          </a:lstStyle>
          <a:p xmlns:a="http://schemas.openxmlformats.org/drawingml/2006/main">
            <a:pPr algn="r">
              <a:defRPr sz="825" b="1" i="0">
                <a:solidFill>
                  <a:srgbClr val="71808A"/>
                </a:solidFill>
                <a:latin typeface="DejaVu Sans"/>
                <a:ea typeface="DejaVu Sans"/>
                <a:cs typeface="DejaVu Sans"/>
              </a:defRPr>
            </a:pPr>
            <a:r>
              <a:rPr sz="825" b="1" i="0">
                <a:solidFill>
                  <a:srgbClr val="71808A"/>
                </a:solidFill>
                <a:latin typeface="DejaVu Sans"/>
                <a:ea typeface="DejaVu Sans"/>
                <a:cs typeface="DejaVu Sans"/>
              </a:rPr>
              <a:t>02</a:t>
            </a:r>
          </a:p>
        </p:txBody>
      </p:sp>
    </p:spTree>
    <p:extLst>
      <p:ext uri="{BB962C8B-B14F-4D97-AF65-F5344CB8AC3E}">
        <p14:creationId xmlns:p14="http://schemas.microsoft.com/office/powerpoint/2010/main" val="1199125107"/>
      </p:ext>
    </p:extLst>
  </p:cSld>
</p:sld>
</file>

<file path=ppt/slides/slide3.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cxnSp>
        <p:nvCxnSpPr>
          <p:cNvPr id="32" name="">
            <a:extLst xmlns:a="http://schemas.openxmlformats.org/drawingml/2006/main">
              <a:ext uri="{FF2B5EF4-FFF2-40B4-BE49-F238E27FC236}">
                <a16:creationId xmlns:a16="http://schemas.microsoft.com/office/drawing/2014/main" id="{053B7E03-2430-4027-8056-BD313DBB78FF}"/>
              </a:ext>
            </a:extLst>
          </p:cNvPr>
          <p:cNvCxnSpPr>
            <a:stCxn xmlns:a="http://schemas.openxmlformats.org/drawingml/2006/main" id="23" idx="0"/>
            <a:endCxn xmlns:a="http://schemas.openxmlformats.org/drawingml/2006/main" id="7" idx="2"/>
          </p:cNvCxnSpPr>
          <p:nvPr/>
        </p:nvCxnSpPr>
        <p:spPr>
          <a:xfrm xmlns:a="http://schemas.openxmlformats.org/drawingml/2006/main" flipV="1">
            <a:off x="1857375" y="3000375"/>
            <a:ext cx="2762250" cy="714375"/>
          </a:xfrm>
          <a:prstGeom xmlns:a="http://schemas.openxmlformats.org/drawingml/2006/main" prst="bentConnector4">
            <a:avLst>
              <a:gd name="adj1" fmla="val 0"/>
              <a:gd name="adj2" fmla="val 50000"/>
            </a:avLst>
          </a:prstGeom>
          <a:ln xmlns:a="http://schemas.openxmlformats.org/drawingml/2006/main" w="19050">
            <a:solidFill>
              <a:srgbClr val="356FA5"/>
            </a:solidFill>
            <a:prstDash val="solid"/>
            <a:tailEnd type="arrow" w="sm" len="sm"/>
          </a:ln>
        </p:spPr>
      </p:cxnSp>
      <p:cxnSp>
        <p:nvCxnSpPr>
          <p:cNvPr id="31" name="">
            <a:extLst xmlns:a="http://schemas.openxmlformats.org/drawingml/2006/main">
              <a:ext uri="{FF2B5EF4-FFF2-40B4-BE49-F238E27FC236}">
                <a16:creationId xmlns:a16="http://schemas.microsoft.com/office/drawing/2014/main" id="{078630D0-B7A2-4276-9FB5-599DD77DC715}"/>
              </a:ext>
            </a:extLst>
          </p:cNvPr>
          <p:cNvCxnSpPr>
            <a:stCxn xmlns:a="http://schemas.openxmlformats.org/drawingml/2006/main" id="19" idx="1"/>
            <a:endCxn xmlns:a="http://schemas.openxmlformats.org/drawingml/2006/main" id="23" idx="3"/>
          </p:cNvCxnSpPr>
          <p:nvPr/>
        </p:nvCxnSpPr>
        <p:spPr>
          <a:xfrm xmlns:a="http://schemas.openxmlformats.org/drawingml/2006/main" flipH="1">
            <a:off x="3048000" y="4310063"/>
            <a:ext cx="381000" cy="0"/>
          </a:xfrm>
          <a:prstGeom xmlns:a="http://schemas.openxmlformats.org/drawingml/2006/main" prst="straightConnector1">
            <a:avLst/>
          </a:prstGeom>
          <a:ln xmlns:a="http://schemas.openxmlformats.org/drawingml/2006/main" w="19050">
            <a:solidFill>
              <a:srgbClr val="356FA5"/>
            </a:solidFill>
            <a:prstDash val="solid"/>
            <a:tailEnd type="arrow" w="sm" len="sm"/>
          </a:ln>
        </p:spPr>
      </p:cxnSp>
      <p:cxnSp>
        <p:nvCxnSpPr>
          <p:cNvPr id="30" name="">
            <a:extLst xmlns:a="http://schemas.openxmlformats.org/drawingml/2006/main">
              <a:ext uri="{FF2B5EF4-FFF2-40B4-BE49-F238E27FC236}">
                <a16:creationId xmlns:a16="http://schemas.microsoft.com/office/drawing/2014/main" id="{2D12129E-AA6D-4A8D-A964-C1FA7B4A6F21}"/>
              </a:ext>
            </a:extLst>
          </p:cNvPr>
          <p:cNvCxnSpPr>
            <a:stCxn xmlns:a="http://schemas.openxmlformats.org/drawingml/2006/main" id="15" idx="1"/>
            <a:endCxn xmlns:a="http://schemas.openxmlformats.org/drawingml/2006/main" id="19" idx="3"/>
          </p:cNvCxnSpPr>
          <p:nvPr/>
        </p:nvCxnSpPr>
        <p:spPr>
          <a:xfrm xmlns:a="http://schemas.openxmlformats.org/drawingml/2006/main" flipH="1">
            <a:off x="5810250" y="4310063"/>
            <a:ext cx="381000" cy="0"/>
          </a:xfrm>
          <a:prstGeom xmlns:a="http://schemas.openxmlformats.org/drawingml/2006/main" prst="straightConnector1">
            <a:avLst/>
          </a:prstGeom>
          <a:ln xmlns:a="http://schemas.openxmlformats.org/drawingml/2006/main" w="19050">
            <a:solidFill>
              <a:srgbClr val="356FA5"/>
            </a:solidFill>
            <a:prstDash val="solid"/>
            <a:tailEnd type="arrow" w="sm" len="sm"/>
          </a:ln>
        </p:spPr>
      </p:cxnSp>
      <p:cxnSp>
        <p:nvCxnSpPr>
          <p:cNvPr id="29" name="">
            <a:extLst xmlns:a="http://schemas.openxmlformats.org/drawingml/2006/main">
              <a:ext uri="{FF2B5EF4-FFF2-40B4-BE49-F238E27FC236}">
                <a16:creationId xmlns:a16="http://schemas.microsoft.com/office/drawing/2014/main" id="{47FB66AA-6A69-4809-B6DA-BF1AF5515E9B}"/>
              </a:ext>
            </a:extLst>
          </p:cNvPr>
          <p:cNvCxnSpPr>
            <a:stCxn xmlns:a="http://schemas.openxmlformats.org/drawingml/2006/main" id="11" idx="2"/>
            <a:endCxn xmlns:a="http://schemas.openxmlformats.org/drawingml/2006/main" id="15" idx="0"/>
          </p:cNvCxnSpPr>
          <p:nvPr/>
        </p:nvCxnSpPr>
        <p:spPr>
          <a:xfrm xmlns:a="http://schemas.openxmlformats.org/drawingml/2006/main">
            <a:off x="7381875" y="3000375"/>
            <a:ext cx="0" cy="714375"/>
          </a:xfrm>
          <a:prstGeom xmlns:a="http://schemas.openxmlformats.org/drawingml/2006/main" prst="straightConnector1">
            <a:avLst/>
          </a:prstGeom>
          <a:ln xmlns:a="http://schemas.openxmlformats.org/drawingml/2006/main" w="19050">
            <a:solidFill>
              <a:srgbClr val="356FA5"/>
            </a:solidFill>
            <a:prstDash val="solid"/>
            <a:tailEnd type="arrow" w="sm" len="sm"/>
          </a:ln>
        </p:spPr>
      </p:cxnSp>
      <p:cxnSp>
        <p:nvCxnSpPr>
          <p:cNvPr id="28" name="">
            <a:extLst xmlns:a="http://schemas.openxmlformats.org/drawingml/2006/main">
              <a:ext uri="{FF2B5EF4-FFF2-40B4-BE49-F238E27FC236}">
                <a16:creationId xmlns:a16="http://schemas.microsoft.com/office/drawing/2014/main" id="{4BBD8748-D4C3-476C-B4F4-14C0EFD75082}"/>
              </a:ext>
            </a:extLst>
          </p:cNvPr>
          <p:cNvCxnSpPr>
            <a:stCxn xmlns:a="http://schemas.openxmlformats.org/drawingml/2006/main" id="7" idx="3"/>
            <a:endCxn xmlns:a="http://schemas.openxmlformats.org/drawingml/2006/main" id="11" idx="1"/>
          </p:cNvCxnSpPr>
          <p:nvPr/>
        </p:nvCxnSpPr>
        <p:spPr>
          <a:xfrm xmlns:a="http://schemas.openxmlformats.org/drawingml/2006/main">
            <a:off x="5810250" y="2405063"/>
            <a:ext cx="381000" cy="0"/>
          </a:xfrm>
          <a:prstGeom xmlns:a="http://schemas.openxmlformats.org/drawingml/2006/main" prst="straightConnector1">
            <a:avLst/>
          </a:prstGeom>
          <a:ln xmlns:a="http://schemas.openxmlformats.org/drawingml/2006/main" w="19050">
            <a:solidFill>
              <a:srgbClr val="356FA5"/>
            </a:solidFill>
            <a:prstDash val="solid"/>
            <a:tailEnd type="arrow" w="sm" len="sm"/>
          </a:ln>
        </p:spPr>
      </p:cxnSp>
      <p:cxnSp>
        <p:nvCxnSpPr>
          <p:cNvPr id="27" name="">
            <a:extLst xmlns:a="http://schemas.openxmlformats.org/drawingml/2006/main">
              <a:ext uri="{FF2B5EF4-FFF2-40B4-BE49-F238E27FC236}">
                <a16:creationId xmlns:a16="http://schemas.microsoft.com/office/drawing/2014/main" id="{86C3AA81-BE72-41A7-8B18-A7907BE1B13E}"/>
              </a:ext>
            </a:extLst>
          </p:cNvPr>
          <p:cNvCxnSpPr>
            <a:stCxn xmlns:a="http://schemas.openxmlformats.org/drawingml/2006/main" id="3" idx="3"/>
            <a:endCxn xmlns:a="http://schemas.openxmlformats.org/drawingml/2006/main" id="7" idx="1"/>
          </p:cNvCxnSpPr>
          <p:nvPr/>
        </p:nvCxnSpPr>
        <p:spPr>
          <a:xfrm xmlns:a="http://schemas.openxmlformats.org/drawingml/2006/main">
            <a:off x="3048000" y="2405063"/>
            <a:ext cx="381000" cy="0"/>
          </a:xfrm>
          <a:prstGeom xmlns:a="http://schemas.openxmlformats.org/drawingml/2006/main" prst="straightConnector1">
            <a:avLst/>
          </a:prstGeom>
          <a:ln xmlns:a="http://schemas.openxmlformats.org/drawingml/2006/main" w="19050">
            <a:solidFill>
              <a:srgbClr val="356FA5"/>
            </a:solidFill>
            <a:prstDash val="solid"/>
            <a:tailEnd type="arrow" w="sm" len="sm"/>
          </a:ln>
        </p:spPr>
      </p:cxnSp>
      <p:sp>
        <p:nvSpPr>
          <p:cNvPr id="38" name="">
            <a:extLst xmlns:a="http://schemas.openxmlformats.org/drawingml/2006/main">
              <a:ext uri="{FF2B5EF4-FFF2-40B4-BE49-F238E27FC236}">
                <a16:creationId xmlns:a16="http://schemas.microsoft.com/office/drawing/2014/main" id="{5B48A898-B9FA-48F1-9547-CBB5642613F8}"/>
              </a:ext>
            </a:extLst>
          </p:cNvPr>
          <p:cNvSpPr>
            <a:spLocks xmlns:a="http://schemas.openxmlformats.org/drawingml/2006/main" noGrp="1"/>
          </p:cNvSpPr>
          <p:nvPr/>
        </p:nvSpPr>
        <p:spPr>
          <a:xfrm xmlns:a="http://schemas.openxmlformats.org/drawingml/2006/main">
            <a:off x="685800" y="4000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i="0">
                <a:solidFill>
                  <a:srgbClr val="0B1F33"/>
                </a:solidFill>
                <a:latin typeface="DejaVu Sans"/>
                <a:ea typeface="DejaVu Sans"/>
                <a:cs typeface="DejaVu Sans"/>
              </a:defRPr>
            </a:defPPr>
          </a:lstStyle>
          <a:p xmlns:a="http://schemas.openxmlformats.org/drawingml/2006/main">
            <a:pPr algn="l">
              <a:defRPr sz="2550" b="1" i="0">
                <a:solidFill>
                  <a:srgbClr val="0B1F33"/>
                </a:solidFill>
                <a:latin typeface="DejaVu Sans"/>
                <a:ea typeface="DejaVu Sans"/>
                <a:cs typeface="DejaVu Sans"/>
              </a:defRPr>
            </a:pPr>
            <a:r>
              <a:rPr sz="2550" b="1" i="0">
                <a:solidFill>
                  <a:srgbClr val="0B1F33"/>
                </a:solidFill>
                <a:latin typeface="DejaVu Sans"/>
                <a:ea typeface="DejaVu Sans"/>
                <a:cs typeface="DejaVu Sans"/>
              </a:rPr>
              <a:t>The sequential BO loop</a:t>
            </a:r>
          </a:p>
        </p:txBody>
      </p:sp>
      <p:sp>
        <p:nvSpPr>
          <p:cNvPr id="2" name="">
            <a:extLst xmlns:a="http://schemas.openxmlformats.org/drawingml/2006/main">
              <a:ext uri="{FF2B5EF4-FFF2-40B4-BE49-F238E27FC236}">
                <a16:creationId xmlns:a16="http://schemas.microsoft.com/office/drawing/2014/main" id="{555F7E98-4D4C-4292-8D4C-3FAB26729230}"/>
              </a:ext>
            </a:extLst>
          </p:cNvPr>
          <p:cNvSpPr>
            <a:spLocks xmlns:a="http://schemas.openxmlformats.org/drawingml/2006/main" noGrp="1"/>
          </p:cNvSpPr>
          <p:nvPr/>
        </p:nvSpPr>
        <p:spPr>
          <a:xfrm xmlns:a="http://schemas.openxmlformats.org/drawingml/2006/main">
            <a:off x="704850" y="971550"/>
            <a:ext cx="1028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0" i="0">
                <a:solidFill>
                  <a:srgbClr val="5D6A72"/>
                </a:solidFill>
                <a:latin typeface="DejaVu Sans"/>
                <a:ea typeface="DejaVu Sans"/>
                <a:cs typeface="DejaVu Sans"/>
              </a:defRPr>
            </a:defPPr>
          </a:lstStyle>
          <a:p xmlns:a="http://schemas.openxmlformats.org/drawingml/2006/main">
            <a:pPr algn="l">
              <a:defRPr sz="1275" b="0" i="0">
                <a:solidFill>
                  <a:srgbClr val="5D6A72"/>
                </a:solidFill>
                <a:latin typeface="DejaVu Sans"/>
                <a:ea typeface="DejaVu Sans"/>
                <a:cs typeface="DejaVu Sans"/>
              </a:defRPr>
            </a:pPr>
            <a:r>
              <a:rPr sz="1275" b="0" i="0">
                <a:solidFill>
                  <a:srgbClr val="5D6A72"/>
                </a:solidFill>
                <a:latin typeface="DejaVu Sans"/>
                <a:ea typeface="DejaVu Sans"/>
                <a:cs typeface="DejaVu Sans"/>
              </a:rPr>
              <a:t>Every new observation changes the model and the next decision</a:t>
            </a:r>
          </a:p>
        </p:txBody>
      </p:sp>
      <p:sp>
        <p:nvSpPr>
          <p:cNvPr id="3" name="">
            <a:extLst xmlns:a="http://schemas.openxmlformats.org/drawingml/2006/main">
              <a:ext uri="{FF2B5EF4-FFF2-40B4-BE49-F238E27FC236}">
                <a16:creationId xmlns:a16="http://schemas.microsoft.com/office/drawing/2014/main" id="{BABF420A-F8AD-407C-9ACE-7348C91672F7}"/>
              </a:ext>
            </a:extLst>
          </p:cNvPr>
          <p:cNvSpPr>
            <a:spLocks xmlns:a="http://schemas.openxmlformats.org/drawingml/2006/main" noGrp="1"/>
          </p:cNvSpPr>
          <p:nvPr/>
        </p:nvSpPr>
        <p:spPr>
          <a:xfrm xmlns:a="http://schemas.openxmlformats.org/drawingml/2006/main">
            <a:off x="666750" y="1809750"/>
            <a:ext cx="2381250" cy="1190625"/>
          </a:xfrm>
          <a:prstGeom xmlns:a="http://schemas.openxmlformats.org/drawingml/2006/main" prst="roundRect">
            <a:avLst>
              <a:gd name="adj" fmla="val 6400"/>
            </a:avLst>
          </a:prstGeom>
          <a:solidFill xmlns:a="http://schemas.openxmlformats.org/drawingml/2006/main">
            <a:srgbClr val="FFFFFF"/>
          </a:solidFill>
          <a:ln xmlns:a="http://schemas.openxmlformats.org/drawingml/2006/main" w="9525">
            <a:solidFill>
              <a:srgbClr val="CAD4DA"/>
            </a:solidFill>
            <a:prstDash val="solid"/>
          </a:ln>
        </p:spPr>
      </p:sp>
      <p:sp>
        <p:nvSpPr>
          <p:cNvPr id="4" name="">
            <a:extLst xmlns:a="http://schemas.openxmlformats.org/drawingml/2006/main">
              <a:ext uri="{FF2B5EF4-FFF2-40B4-BE49-F238E27FC236}">
                <a16:creationId xmlns:a16="http://schemas.microsoft.com/office/drawing/2014/main" id="{6DED3B45-A6FA-48DA-926E-0BCC8EA26BA2}"/>
              </a:ext>
            </a:extLst>
          </p:cNvPr>
          <p:cNvSpPr>
            <a:spLocks xmlns:a="http://schemas.openxmlformats.org/drawingml/2006/main" noGrp="1"/>
          </p:cNvSpPr>
          <p:nvPr/>
        </p:nvSpPr>
        <p:spPr>
          <a:xfrm xmlns:a="http://schemas.openxmlformats.org/drawingml/2006/main">
            <a:off x="838200" y="1952625"/>
            <a:ext cx="323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i="0">
                <a:solidFill>
                  <a:srgbClr val="218C7E"/>
                </a:solidFill>
                <a:latin typeface="DejaVu Sans"/>
                <a:ea typeface="DejaVu Sans"/>
                <a:cs typeface="DejaVu Sans"/>
              </a:defRPr>
            </a:defPPr>
          </a:lstStyle>
          <a:p xmlns:a="http://schemas.openxmlformats.org/drawingml/2006/main">
            <a:pPr algn="l">
              <a:defRPr sz="1350" b="1" i="0">
                <a:solidFill>
                  <a:srgbClr val="218C7E"/>
                </a:solidFill>
                <a:latin typeface="DejaVu Sans"/>
                <a:ea typeface="DejaVu Sans"/>
                <a:cs typeface="DejaVu Sans"/>
              </a:defRPr>
            </a:pPr>
            <a:r>
              <a:rPr sz="1350" b="1" i="0">
                <a:solidFill>
                  <a:srgbClr val="218C7E"/>
                </a:solidFill>
                <a:latin typeface="DejaVu Sans"/>
                <a:ea typeface="DejaVu Sans"/>
                <a:cs typeface="DejaVu Sans"/>
              </a:rPr>
              <a:t>1</a:t>
            </a:r>
          </a:p>
        </p:txBody>
      </p:sp>
      <p:sp>
        <p:nvSpPr>
          <p:cNvPr id="5" name="">
            <a:extLst xmlns:a="http://schemas.openxmlformats.org/drawingml/2006/main">
              <a:ext uri="{FF2B5EF4-FFF2-40B4-BE49-F238E27FC236}">
                <a16:creationId xmlns:a16="http://schemas.microsoft.com/office/drawing/2014/main" id="{230A915D-426C-4FE4-A87E-8E7C759C5FE2}"/>
              </a:ext>
            </a:extLst>
          </p:cNvPr>
          <p:cNvSpPr>
            <a:spLocks xmlns:a="http://schemas.openxmlformats.org/drawingml/2006/main" noGrp="1"/>
          </p:cNvSpPr>
          <p:nvPr/>
        </p:nvSpPr>
        <p:spPr>
          <a:xfrm xmlns:a="http://schemas.openxmlformats.org/drawingml/2006/main">
            <a:off x="1190625" y="1943100"/>
            <a:ext cx="1666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75" b="1" i="0">
                <a:solidFill>
                  <a:srgbClr val="0B1F33"/>
                </a:solidFill>
                <a:latin typeface="DejaVu Sans"/>
                <a:ea typeface="DejaVu Sans"/>
                <a:cs typeface="DejaVu Sans"/>
              </a:defRPr>
            </a:defPPr>
          </a:lstStyle>
          <a:p xmlns:a="http://schemas.openxmlformats.org/drawingml/2006/main">
            <a:pPr algn="l">
              <a:defRPr sz="1575" b="1" i="0">
                <a:solidFill>
                  <a:srgbClr val="0B1F33"/>
                </a:solidFill>
                <a:latin typeface="DejaVu Sans"/>
                <a:ea typeface="DejaVu Sans"/>
                <a:cs typeface="DejaVu Sans"/>
              </a:defRPr>
            </a:pPr>
            <a:r>
              <a:rPr sz="1575" b="1" i="0">
                <a:solidFill>
                  <a:srgbClr val="0B1F33"/>
                </a:solidFill>
                <a:latin typeface="DejaVu Sans"/>
                <a:ea typeface="DejaVu Sans"/>
                <a:cs typeface="DejaVu Sans"/>
              </a:rPr>
              <a:t>Initial data</a:t>
            </a:r>
          </a:p>
        </p:txBody>
      </p:sp>
      <p:sp>
        <p:nvSpPr>
          <p:cNvPr id="6" name="">
            <a:extLst xmlns:a="http://schemas.openxmlformats.org/drawingml/2006/main">
              <a:ext uri="{FF2B5EF4-FFF2-40B4-BE49-F238E27FC236}">
                <a16:creationId xmlns:a16="http://schemas.microsoft.com/office/drawing/2014/main" id="{D1392918-143E-4869-883D-DB1B8ED0AA73}"/>
              </a:ext>
            </a:extLst>
          </p:cNvPr>
          <p:cNvSpPr>
            <a:spLocks xmlns:a="http://schemas.openxmlformats.org/drawingml/2006/main" noGrp="1"/>
          </p:cNvSpPr>
          <p:nvPr/>
        </p:nvSpPr>
        <p:spPr>
          <a:xfrm xmlns:a="http://schemas.openxmlformats.org/drawingml/2006/main">
            <a:off x="876300" y="2428875"/>
            <a:ext cx="1962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125" b="0" i="0">
                <a:solidFill>
                  <a:srgbClr val="5D6A72"/>
                </a:solidFill>
                <a:latin typeface="DejaVu Sans"/>
                <a:ea typeface="DejaVu Sans"/>
                <a:cs typeface="DejaVu Sans"/>
              </a:defRPr>
            </a:defPPr>
          </a:lstStyle>
          <a:p xmlns:a="http://schemas.openxmlformats.org/drawingml/2006/main">
            <a:pPr algn="ctr">
              <a:defRPr sz="1125" b="0" i="0">
                <a:solidFill>
                  <a:srgbClr val="5D6A72"/>
                </a:solidFill>
                <a:latin typeface="DejaVu Sans"/>
                <a:ea typeface="DejaVu Sans"/>
                <a:cs typeface="DejaVu Sans"/>
              </a:defRPr>
            </a:pPr>
            <a:r>
              <a:rPr sz="1125" b="0" i="0">
                <a:solidFill>
                  <a:srgbClr val="5D6A72"/>
                </a:solidFill>
                <a:latin typeface="DejaVu Sans"/>
                <a:ea typeface="DejaVu Sans"/>
                <a:cs typeface="DejaVu Sans"/>
              </a:rPr>
              <a:t>Evaluate a small design</a:t>
            </a:r>
          </a:p>
        </p:txBody>
      </p:sp>
      <p:sp>
        <p:nvSpPr>
          <p:cNvPr id="7" name="">
            <a:extLst xmlns:a="http://schemas.openxmlformats.org/drawingml/2006/main">
              <a:ext uri="{FF2B5EF4-FFF2-40B4-BE49-F238E27FC236}">
                <a16:creationId xmlns:a16="http://schemas.microsoft.com/office/drawing/2014/main" id="{975364C3-C90D-4730-AA64-AE44ED10BB18}"/>
              </a:ext>
            </a:extLst>
          </p:cNvPr>
          <p:cNvSpPr>
            <a:spLocks xmlns:a="http://schemas.openxmlformats.org/drawingml/2006/main" noGrp="1"/>
          </p:cNvSpPr>
          <p:nvPr/>
        </p:nvSpPr>
        <p:spPr>
          <a:xfrm xmlns:a="http://schemas.openxmlformats.org/drawingml/2006/main">
            <a:off x="3429000" y="1809750"/>
            <a:ext cx="2381250" cy="1190625"/>
          </a:xfrm>
          <a:prstGeom xmlns:a="http://schemas.openxmlformats.org/drawingml/2006/main" prst="roundRect">
            <a:avLst>
              <a:gd name="adj" fmla="val 6400"/>
            </a:avLst>
          </a:prstGeom>
          <a:solidFill xmlns:a="http://schemas.openxmlformats.org/drawingml/2006/main">
            <a:srgbClr val="FFFFFF"/>
          </a:solidFill>
          <a:ln xmlns:a="http://schemas.openxmlformats.org/drawingml/2006/main" w="9525">
            <a:solidFill>
              <a:srgbClr val="CAD4DA"/>
            </a:solidFill>
            <a:prstDash val="solid"/>
          </a:ln>
        </p:spPr>
      </p:sp>
      <p:sp>
        <p:nvSpPr>
          <p:cNvPr id="8" name="">
            <a:extLst xmlns:a="http://schemas.openxmlformats.org/drawingml/2006/main">
              <a:ext uri="{FF2B5EF4-FFF2-40B4-BE49-F238E27FC236}">
                <a16:creationId xmlns:a16="http://schemas.microsoft.com/office/drawing/2014/main" id="{AF6CB4F8-9374-4B5C-9ADA-BBACA759607A}"/>
              </a:ext>
            </a:extLst>
          </p:cNvPr>
          <p:cNvSpPr>
            <a:spLocks xmlns:a="http://schemas.openxmlformats.org/drawingml/2006/main" noGrp="1"/>
          </p:cNvSpPr>
          <p:nvPr/>
        </p:nvSpPr>
        <p:spPr>
          <a:xfrm xmlns:a="http://schemas.openxmlformats.org/drawingml/2006/main">
            <a:off x="3600450" y="1952625"/>
            <a:ext cx="323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i="0">
                <a:solidFill>
                  <a:srgbClr val="218C7E"/>
                </a:solidFill>
                <a:latin typeface="DejaVu Sans"/>
                <a:ea typeface="DejaVu Sans"/>
                <a:cs typeface="DejaVu Sans"/>
              </a:defRPr>
            </a:defPPr>
          </a:lstStyle>
          <a:p xmlns:a="http://schemas.openxmlformats.org/drawingml/2006/main">
            <a:pPr algn="l">
              <a:defRPr sz="1350" b="1" i="0">
                <a:solidFill>
                  <a:srgbClr val="218C7E"/>
                </a:solidFill>
                <a:latin typeface="DejaVu Sans"/>
                <a:ea typeface="DejaVu Sans"/>
                <a:cs typeface="DejaVu Sans"/>
              </a:defRPr>
            </a:pPr>
            <a:r>
              <a:rPr sz="1350" b="1" i="0">
                <a:solidFill>
                  <a:srgbClr val="218C7E"/>
                </a:solidFill>
                <a:latin typeface="DejaVu Sans"/>
                <a:ea typeface="DejaVu Sans"/>
                <a:cs typeface="DejaVu Sans"/>
              </a:rPr>
              <a:t>2</a:t>
            </a:r>
          </a:p>
        </p:txBody>
      </p:sp>
      <p:sp>
        <p:nvSpPr>
          <p:cNvPr id="9" name="">
            <a:extLst xmlns:a="http://schemas.openxmlformats.org/drawingml/2006/main">
              <a:ext uri="{FF2B5EF4-FFF2-40B4-BE49-F238E27FC236}">
                <a16:creationId xmlns:a16="http://schemas.microsoft.com/office/drawing/2014/main" id="{4900FEAF-2B56-428B-B420-30CB8C7724DF}"/>
              </a:ext>
            </a:extLst>
          </p:cNvPr>
          <p:cNvSpPr>
            <a:spLocks xmlns:a="http://schemas.openxmlformats.org/drawingml/2006/main" noGrp="1"/>
          </p:cNvSpPr>
          <p:nvPr/>
        </p:nvSpPr>
        <p:spPr>
          <a:xfrm xmlns:a="http://schemas.openxmlformats.org/drawingml/2006/main">
            <a:off x="3952875" y="1943100"/>
            <a:ext cx="1666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75" b="1" i="0">
                <a:solidFill>
                  <a:srgbClr val="0B1F33"/>
                </a:solidFill>
                <a:latin typeface="DejaVu Sans"/>
                <a:ea typeface="DejaVu Sans"/>
                <a:cs typeface="DejaVu Sans"/>
              </a:defRPr>
            </a:defPPr>
          </a:lstStyle>
          <a:p xmlns:a="http://schemas.openxmlformats.org/drawingml/2006/main">
            <a:pPr algn="l">
              <a:defRPr sz="1575" b="1" i="0">
                <a:solidFill>
                  <a:srgbClr val="0B1F33"/>
                </a:solidFill>
                <a:latin typeface="DejaVu Sans"/>
                <a:ea typeface="DejaVu Sans"/>
                <a:cs typeface="DejaVu Sans"/>
              </a:defRPr>
            </a:pPr>
            <a:r>
              <a:rPr sz="1575" b="1" i="0">
                <a:solidFill>
                  <a:srgbClr val="0B1F33"/>
                </a:solidFill>
                <a:latin typeface="DejaVu Sans"/>
                <a:ea typeface="DejaVu Sans"/>
                <a:cs typeface="DejaVu Sans"/>
              </a:rPr>
              <a:t>Fit GP</a:t>
            </a:r>
          </a:p>
        </p:txBody>
      </p:sp>
      <p:sp>
        <p:nvSpPr>
          <p:cNvPr id="10" name="">
            <a:extLst xmlns:a="http://schemas.openxmlformats.org/drawingml/2006/main">
              <a:ext uri="{FF2B5EF4-FFF2-40B4-BE49-F238E27FC236}">
                <a16:creationId xmlns:a16="http://schemas.microsoft.com/office/drawing/2014/main" id="{3FAC84C1-F1A3-49CE-921C-8E6CD15FFEF8}"/>
              </a:ext>
            </a:extLst>
          </p:cNvPr>
          <p:cNvSpPr>
            <a:spLocks xmlns:a="http://schemas.openxmlformats.org/drawingml/2006/main" noGrp="1"/>
          </p:cNvSpPr>
          <p:nvPr/>
        </p:nvSpPr>
        <p:spPr>
          <a:xfrm xmlns:a="http://schemas.openxmlformats.org/drawingml/2006/main">
            <a:off x="3638550" y="2428875"/>
            <a:ext cx="1962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125" b="0" i="0">
                <a:solidFill>
                  <a:srgbClr val="5D6A72"/>
                </a:solidFill>
                <a:latin typeface="DejaVu Sans"/>
                <a:ea typeface="DejaVu Sans"/>
                <a:cs typeface="DejaVu Sans"/>
              </a:defRPr>
            </a:defPPr>
          </a:lstStyle>
          <a:p xmlns:a="http://schemas.openxmlformats.org/drawingml/2006/main">
            <a:pPr algn="ctr">
              <a:defRPr sz="1125" b="0" i="0">
                <a:solidFill>
                  <a:srgbClr val="5D6A72"/>
                </a:solidFill>
                <a:latin typeface="DejaVu Sans"/>
                <a:ea typeface="DejaVu Sans"/>
                <a:cs typeface="DejaVu Sans"/>
              </a:defRPr>
            </a:pPr>
            <a:r>
              <a:rPr sz="1125" b="0" i="0">
                <a:solidFill>
                  <a:srgbClr val="5D6A72"/>
                </a:solidFill>
                <a:latin typeface="DejaVu Sans"/>
                <a:ea typeface="DejaVu Sans"/>
                <a:cs typeface="DejaVu Sans"/>
              </a:rPr>
              <a:t>Learn posterior and hyperparameters</a:t>
            </a:r>
          </a:p>
        </p:txBody>
      </p:sp>
      <p:sp>
        <p:nvSpPr>
          <p:cNvPr id="11" name="">
            <a:extLst xmlns:a="http://schemas.openxmlformats.org/drawingml/2006/main">
              <a:ext uri="{FF2B5EF4-FFF2-40B4-BE49-F238E27FC236}">
                <a16:creationId xmlns:a16="http://schemas.microsoft.com/office/drawing/2014/main" id="{6B9A7A97-43B6-4305-B085-75041502F075}"/>
              </a:ext>
            </a:extLst>
          </p:cNvPr>
          <p:cNvSpPr>
            <a:spLocks xmlns:a="http://schemas.openxmlformats.org/drawingml/2006/main" noGrp="1"/>
          </p:cNvSpPr>
          <p:nvPr/>
        </p:nvSpPr>
        <p:spPr>
          <a:xfrm xmlns:a="http://schemas.openxmlformats.org/drawingml/2006/main">
            <a:off x="6191250" y="1809750"/>
            <a:ext cx="2381250" cy="1190625"/>
          </a:xfrm>
          <a:prstGeom xmlns:a="http://schemas.openxmlformats.org/drawingml/2006/main" prst="roundRect">
            <a:avLst>
              <a:gd name="adj" fmla="val 6400"/>
            </a:avLst>
          </a:prstGeom>
          <a:solidFill xmlns:a="http://schemas.openxmlformats.org/drawingml/2006/main">
            <a:srgbClr val="FFFFFF"/>
          </a:solidFill>
          <a:ln xmlns:a="http://schemas.openxmlformats.org/drawingml/2006/main" w="9525">
            <a:solidFill>
              <a:srgbClr val="CAD4DA"/>
            </a:solidFill>
            <a:prstDash val="solid"/>
          </a:ln>
        </p:spPr>
      </p:sp>
      <p:sp>
        <p:nvSpPr>
          <p:cNvPr id="12" name="">
            <a:extLst xmlns:a="http://schemas.openxmlformats.org/drawingml/2006/main">
              <a:ext uri="{FF2B5EF4-FFF2-40B4-BE49-F238E27FC236}">
                <a16:creationId xmlns:a16="http://schemas.microsoft.com/office/drawing/2014/main" id="{F3ADD35F-9236-49F7-BDEE-D8AC5558B826}"/>
              </a:ext>
            </a:extLst>
          </p:cNvPr>
          <p:cNvSpPr>
            <a:spLocks xmlns:a="http://schemas.openxmlformats.org/drawingml/2006/main" noGrp="1"/>
          </p:cNvSpPr>
          <p:nvPr/>
        </p:nvSpPr>
        <p:spPr>
          <a:xfrm xmlns:a="http://schemas.openxmlformats.org/drawingml/2006/main">
            <a:off x="6362700" y="1952625"/>
            <a:ext cx="323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i="0">
                <a:solidFill>
                  <a:srgbClr val="218C7E"/>
                </a:solidFill>
                <a:latin typeface="DejaVu Sans"/>
                <a:ea typeface="DejaVu Sans"/>
                <a:cs typeface="DejaVu Sans"/>
              </a:defRPr>
            </a:defPPr>
          </a:lstStyle>
          <a:p xmlns:a="http://schemas.openxmlformats.org/drawingml/2006/main">
            <a:pPr algn="l">
              <a:defRPr sz="1350" b="1" i="0">
                <a:solidFill>
                  <a:srgbClr val="218C7E"/>
                </a:solidFill>
                <a:latin typeface="DejaVu Sans"/>
                <a:ea typeface="DejaVu Sans"/>
                <a:cs typeface="DejaVu Sans"/>
              </a:defRPr>
            </a:pPr>
            <a:r>
              <a:rPr sz="1350" b="1" i="0">
                <a:solidFill>
                  <a:srgbClr val="218C7E"/>
                </a:solidFill>
                <a:latin typeface="DejaVu Sans"/>
                <a:ea typeface="DejaVu Sans"/>
                <a:cs typeface="DejaVu Sans"/>
              </a:rPr>
              <a:t>3</a:t>
            </a:r>
          </a:p>
        </p:txBody>
      </p:sp>
      <p:sp>
        <p:nvSpPr>
          <p:cNvPr id="13" name="">
            <a:extLst xmlns:a="http://schemas.openxmlformats.org/drawingml/2006/main">
              <a:ext uri="{FF2B5EF4-FFF2-40B4-BE49-F238E27FC236}">
                <a16:creationId xmlns:a16="http://schemas.microsoft.com/office/drawing/2014/main" id="{11BA8E93-4237-443B-90E5-9F2BFBE578CF}"/>
              </a:ext>
            </a:extLst>
          </p:cNvPr>
          <p:cNvSpPr>
            <a:spLocks xmlns:a="http://schemas.openxmlformats.org/drawingml/2006/main" noGrp="1"/>
          </p:cNvSpPr>
          <p:nvPr/>
        </p:nvSpPr>
        <p:spPr>
          <a:xfrm xmlns:a="http://schemas.openxmlformats.org/drawingml/2006/main">
            <a:off x="6715125" y="1943100"/>
            <a:ext cx="1666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75" b="1" i="0">
                <a:solidFill>
                  <a:srgbClr val="0B1F33"/>
                </a:solidFill>
                <a:latin typeface="DejaVu Sans"/>
                <a:ea typeface="DejaVu Sans"/>
                <a:cs typeface="DejaVu Sans"/>
              </a:defRPr>
            </a:defPPr>
          </a:lstStyle>
          <a:p xmlns:a="http://schemas.openxmlformats.org/drawingml/2006/main">
            <a:pPr algn="l">
              <a:defRPr sz="1575" b="1" i="0">
                <a:solidFill>
                  <a:srgbClr val="0B1F33"/>
                </a:solidFill>
                <a:latin typeface="DejaVu Sans"/>
                <a:ea typeface="DejaVu Sans"/>
                <a:cs typeface="DejaVu Sans"/>
              </a:defRPr>
            </a:pPr>
            <a:r>
              <a:rPr sz="1575" b="1" i="0">
                <a:solidFill>
                  <a:srgbClr val="0B1F33"/>
                </a:solidFill>
                <a:latin typeface="DejaVu Sans"/>
                <a:ea typeface="DejaVu Sans"/>
                <a:cs typeface="DejaVu Sans"/>
              </a:rPr>
              <a:t>Build acquisition</a:t>
            </a:r>
          </a:p>
        </p:txBody>
      </p:sp>
      <p:sp>
        <p:nvSpPr>
          <p:cNvPr id="14" name="">
            <a:extLst xmlns:a="http://schemas.openxmlformats.org/drawingml/2006/main">
              <a:ext uri="{FF2B5EF4-FFF2-40B4-BE49-F238E27FC236}">
                <a16:creationId xmlns:a16="http://schemas.microsoft.com/office/drawing/2014/main" id="{E3EA8135-4F94-4ADF-B0A2-4FFA9EF2018A}"/>
              </a:ext>
            </a:extLst>
          </p:cNvPr>
          <p:cNvSpPr>
            <a:spLocks xmlns:a="http://schemas.openxmlformats.org/drawingml/2006/main" noGrp="1"/>
          </p:cNvSpPr>
          <p:nvPr/>
        </p:nvSpPr>
        <p:spPr>
          <a:xfrm xmlns:a="http://schemas.openxmlformats.org/drawingml/2006/main">
            <a:off x="6400800" y="2428875"/>
            <a:ext cx="1962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125" b="0" i="0">
                <a:solidFill>
                  <a:srgbClr val="5D6A72"/>
                </a:solidFill>
                <a:latin typeface="DejaVu Sans"/>
                <a:ea typeface="DejaVu Sans"/>
                <a:cs typeface="DejaVu Sans"/>
              </a:defRPr>
            </a:defPPr>
          </a:lstStyle>
          <a:p xmlns:a="http://schemas.openxmlformats.org/drawingml/2006/main">
            <a:pPr algn="ctr">
              <a:defRPr sz="1125" b="0" i="0">
                <a:solidFill>
                  <a:srgbClr val="5D6A72"/>
                </a:solidFill>
                <a:latin typeface="DejaVu Sans"/>
                <a:ea typeface="DejaVu Sans"/>
                <a:cs typeface="DejaVu Sans"/>
              </a:defRPr>
            </a:pPr>
            <a:r>
              <a:rPr sz="1125" b="0" i="0">
                <a:solidFill>
                  <a:srgbClr val="5D6A72"/>
                </a:solidFill>
                <a:latin typeface="DejaVu Sans"/>
                <a:ea typeface="DejaVu Sans"/>
                <a:cs typeface="DejaVu Sans"/>
              </a:rPr>
              <a:t>Convert belief into a score</a:t>
            </a:r>
          </a:p>
        </p:txBody>
      </p:sp>
      <p:sp>
        <p:nvSpPr>
          <p:cNvPr id="15" name="">
            <a:extLst xmlns:a="http://schemas.openxmlformats.org/drawingml/2006/main">
              <a:ext uri="{FF2B5EF4-FFF2-40B4-BE49-F238E27FC236}">
                <a16:creationId xmlns:a16="http://schemas.microsoft.com/office/drawing/2014/main" id="{54AF6312-D84C-441E-8D7D-0A12662371B0}"/>
              </a:ext>
            </a:extLst>
          </p:cNvPr>
          <p:cNvSpPr>
            <a:spLocks xmlns:a="http://schemas.openxmlformats.org/drawingml/2006/main" noGrp="1"/>
          </p:cNvSpPr>
          <p:nvPr/>
        </p:nvSpPr>
        <p:spPr>
          <a:xfrm xmlns:a="http://schemas.openxmlformats.org/drawingml/2006/main">
            <a:off x="6191250" y="3714750"/>
            <a:ext cx="2381250" cy="1190625"/>
          </a:xfrm>
          <a:prstGeom xmlns:a="http://schemas.openxmlformats.org/drawingml/2006/main" prst="roundRect">
            <a:avLst>
              <a:gd name="adj" fmla="val 6400"/>
            </a:avLst>
          </a:prstGeom>
          <a:solidFill xmlns:a="http://schemas.openxmlformats.org/drawingml/2006/main">
            <a:srgbClr val="FFFFFF"/>
          </a:solidFill>
          <a:ln xmlns:a="http://schemas.openxmlformats.org/drawingml/2006/main" w="9525">
            <a:solidFill>
              <a:srgbClr val="CAD4DA"/>
            </a:solidFill>
            <a:prstDash val="solid"/>
          </a:ln>
        </p:spPr>
      </p:sp>
      <p:sp>
        <p:nvSpPr>
          <p:cNvPr id="16" name="">
            <a:extLst xmlns:a="http://schemas.openxmlformats.org/drawingml/2006/main">
              <a:ext uri="{FF2B5EF4-FFF2-40B4-BE49-F238E27FC236}">
                <a16:creationId xmlns:a16="http://schemas.microsoft.com/office/drawing/2014/main" id="{E7103D9E-FF29-4909-B88B-F2C519BE4C75}"/>
              </a:ext>
            </a:extLst>
          </p:cNvPr>
          <p:cNvSpPr>
            <a:spLocks xmlns:a="http://schemas.openxmlformats.org/drawingml/2006/main" noGrp="1"/>
          </p:cNvSpPr>
          <p:nvPr/>
        </p:nvSpPr>
        <p:spPr>
          <a:xfrm xmlns:a="http://schemas.openxmlformats.org/drawingml/2006/main">
            <a:off x="6362700" y="3857625"/>
            <a:ext cx="323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i="0">
                <a:solidFill>
                  <a:srgbClr val="218C7E"/>
                </a:solidFill>
                <a:latin typeface="DejaVu Sans"/>
                <a:ea typeface="DejaVu Sans"/>
                <a:cs typeface="DejaVu Sans"/>
              </a:defRPr>
            </a:defPPr>
          </a:lstStyle>
          <a:p xmlns:a="http://schemas.openxmlformats.org/drawingml/2006/main">
            <a:pPr algn="l">
              <a:defRPr sz="1350" b="1" i="0">
                <a:solidFill>
                  <a:srgbClr val="218C7E"/>
                </a:solidFill>
                <a:latin typeface="DejaVu Sans"/>
                <a:ea typeface="DejaVu Sans"/>
                <a:cs typeface="DejaVu Sans"/>
              </a:defRPr>
            </a:pPr>
            <a:r>
              <a:rPr sz="1350" b="1" i="0">
                <a:solidFill>
                  <a:srgbClr val="218C7E"/>
                </a:solidFill>
                <a:latin typeface="DejaVu Sans"/>
                <a:ea typeface="DejaVu Sans"/>
                <a:cs typeface="DejaVu Sans"/>
              </a:rPr>
              <a:t>4</a:t>
            </a:r>
          </a:p>
        </p:txBody>
      </p:sp>
      <p:sp>
        <p:nvSpPr>
          <p:cNvPr id="17" name="">
            <a:extLst xmlns:a="http://schemas.openxmlformats.org/drawingml/2006/main">
              <a:ext uri="{FF2B5EF4-FFF2-40B4-BE49-F238E27FC236}">
                <a16:creationId xmlns:a16="http://schemas.microsoft.com/office/drawing/2014/main" id="{CF249C7F-53A3-4B61-B70F-664B1538B33A}"/>
              </a:ext>
            </a:extLst>
          </p:cNvPr>
          <p:cNvSpPr>
            <a:spLocks xmlns:a="http://schemas.openxmlformats.org/drawingml/2006/main" noGrp="1"/>
          </p:cNvSpPr>
          <p:nvPr/>
        </p:nvSpPr>
        <p:spPr>
          <a:xfrm xmlns:a="http://schemas.openxmlformats.org/drawingml/2006/main">
            <a:off x="6715125" y="3848100"/>
            <a:ext cx="1666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75" b="1" i="0">
                <a:solidFill>
                  <a:srgbClr val="0B1F33"/>
                </a:solidFill>
                <a:latin typeface="DejaVu Sans"/>
                <a:ea typeface="DejaVu Sans"/>
                <a:cs typeface="DejaVu Sans"/>
              </a:defRPr>
            </a:defPPr>
          </a:lstStyle>
          <a:p xmlns:a="http://schemas.openxmlformats.org/drawingml/2006/main">
            <a:pPr algn="l">
              <a:defRPr sz="1575" b="1" i="0">
                <a:solidFill>
                  <a:srgbClr val="0B1F33"/>
                </a:solidFill>
                <a:latin typeface="DejaVu Sans"/>
                <a:ea typeface="DejaVu Sans"/>
                <a:cs typeface="DejaVu Sans"/>
              </a:defRPr>
            </a:pPr>
            <a:r>
              <a:rPr sz="1575" b="1" i="0">
                <a:solidFill>
                  <a:srgbClr val="0B1F33"/>
                </a:solidFill>
                <a:latin typeface="DejaVu Sans"/>
                <a:ea typeface="DejaVu Sans"/>
                <a:cs typeface="DejaVu Sans"/>
              </a:rPr>
              <a:t>Choose x next</a:t>
            </a:r>
          </a:p>
        </p:txBody>
      </p:sp>
      <p:sp>
        <p:nvSpPr>
          <p:cNvPr id="18" name="">
            <a:extLst xmlns:a="http://schemas.openxmlformats.org/drawingml/2006/main">
              <a:ext uri="{FF2B5EF4-FFF2-40B4-BE49-F238E27FC236}">
                <a16:creationId xmlns:a16="http://schemas.microsoft.com/office/drawing/2014/main" id="{6001EFF1-6DCE-4FBF-A90B-CB18DD5874DB}"/>
              </a:ext>
            </a:extLst>
          </p:cNvPr>
          <p:cNvSpPr>
            <a:spLocks xmlns:a="http://schemas.openxmlformats.org/drawingml/2006/main" noGrp="1"/>
          </p:cNvSpPr>
          <p:nvPr/>
        </p:nvSpPr>
        <p:spPr>
          <a:xfrm xmlns:a="http://schemas.openxmlformats.org/drawingml/2006/main">
            <a:off x="6400800" y="4333875"/>
            <a:ext cx="1962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125" b="0" i="0">
                <a:solidFill>
                  <a:srgbClr val="5D6A72"/>
                </a:solidFill>
                <a:latin typeface="DejaVu Sans"/>
                <a:ea typeface="DejaVu Sans"/>
                <a:cs typeface="DejaVu Sans"/>
              </a:defRPr>
            </a:defPPr>
          </a:lstStyle>
          <a:p xmlns:a="http://schemas.openxmlformats.org/drawingml/2006/main">
            <a:pPr algn="ctr">
              <a:defRPr sz="1125" b="0" i="0">
                <a:solidFill>
                  <a:srgbClr val="5D6A72"/>
                </a:solidFill>
                <a:latin typeface="DejaVu Sans"/>
                <a:ea typeface="DejaVu Sans"/>
                <a:cs typeface="DejaVu Sans"/>
              </a:defRPr>
            </a:pPr>
            <a:r>
              <a:rPr sz="1125" b="0" i="0">
                <a:solidFill>
                  <a:srgbClr val="5D6A72"/>
                </a:solidFill>
                <a:latin typeface="DejaVu Sans"/>
                <a:ea typeface="DejaVu Sans"/>
                <a:cs typeface="DejaVu Sans"/>
              </a:rPr>
              <a:t>Optimize the acquisition</a:t>
            </a:r>
          </a:p>
        </p:txBody>
      </p:sp>
      <p:sp>
        <p:nvSpPr>
          <p:cNvPr id="19" name="">
            <a:extLst xmlns:a="http://schemas.openxmlformats.org/drawingml/2006/main">
              <a:ext uri="{FF2B5EF4-FFF2-40B4-BE49-F238E27FC236}">
                <a16:creationId xmlns:a16="http://schemas.microsoft.com/office/drawing/2014/main" id="{F5A345B8-0076-46F1-80C9-5611FC3B48A8}"/>
              </a:ext>
            </a:extLst>
          </p:cNvPr>
          <p:cNvSpPr>
            <a:spLocks xmlns:a="http://schemas.openxmlformats.org/drawingml/2006/main" noGrp="1"/>
          </p:cNvSpPr>
          <p:nvPr/>
        </p:nvSpPr>
        <p:spPr>
          <a:xfrm xmlns:a="http://schemas.openxmlformats.org/drawingml/2006/main">
            <a:off x="3429000" y="3714750"/>
            <a:ext cx="2381250" cy="1190625"/>
          </a:xfrm>
          <a:prstGeom xmlns:a="http://schemas.openxmlformats.org/drawingml/2006/main" prst="roundRect">
            <a:avLst>
              <a:gd name="adj" fmla="val 6400"/>
            </a:avLst>
          </a:prstGeom>
          <a:solidFill xmlns:a="http://schemas.openxmlformats.org/drawingml/2006/main">
            <a:srgbClr val="FFFFFF"/>
          </a:solidFill>
          <a:ln xmlns:a="http://schemas.openxmlformats.org/drawingml/2006/main" w="9525">
            <a:solidFill>
              <a:srgbClr val="CAD4DA"/>
            </a:solidFill>
            <a:prstDash val="solid"/>
          </a:ln>
        </p:spPr>
      </p:sp>
      <p:sp>
        <p:nvSpPr>
          <p:cNvPr id="20" name="">
            <a:extLst xmlns:a="http://schemas.openxmlformats.org/drawingml/2006/main">
              <a:ext uri="{FF2B5EF4-FFF2-40B4-BE49-F238E27FC236}">
                <a16:creationId xmlns:a16="http://schemas.microsoft.com/office/drawing/2014/main" id="{208CB984-DBB3-41C7-AE92-1ADB16A5F3B7}"/>
              </a:ext>
            </a:extLst>
          </p:cNvPr>
          <p:cNvSpPr>
            <a:spLocks xmlns:a="http://schemas.openxmlformats.org/drawingml/2006/main" noGrp="1"/>
          </p:cNvSpPr>
          <p:nvPr/>
        </p:nvSpPr>
        <p:spPr>
          <a:xfrm xmlns:a="http://schemas.openxmlformats.org/drawingml/2006/main">
            <a:off x="3600450" y="3857625"/>
            <a:ext cx="323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i="0">
                <a:solidFill>
                  <a:srgbClr val="218C7E"/>
                </a:solidFill>
                <a:latin typeface="DejaVu Sans"/>
                <a:ea typeface="DejaVu Sans"/>
                <a:cs typeface="DejaVu Sans"/>
              </a:defRPr>
            </a:defPPr>
          </a:lstStyle>
          <a:p xmlns:a="http://schemas.openxmlformats.org/drawingml/2006/main">
            <a:pPr algn="l">
              <a:defRPr sz="1350" b="1" i="0">
                <a:solidFill>
                  <a:srgbClr val="218C7E"/>
                </a:solidFill>
                <a:latin typeface="DejaVu Sans"/>
                <a:ea typeface="DejaVu Sans"/>
                <a:cs typeface="DejaVu Sans"/>
              </a:defRPr>
            </a:pPr>
            <a:r>
              <a:rPr sz="1350" b="1" i="0">
                <a:solidFill>
                  <a:srgbClr val="218C7E"/>
                </a:solidFill>
                <a:latin typeface="DejaVu Sans"/>
                <a:ea typeface="DejaVu Sans"/>
                <a:cs typeface="DejaVu Sans"/>
              </a:rPr>
              <a:t>5</a:t>
            </a:r>
          </a:p>
        </p:txBody>
      </p:sp>
      <p:sp>
        <p:nvSpPr>
          <p:cNvPr id="21" name="">
            <a:extLst xmlns:a="http://schemas.openxmlformats.org/drawingml/2006/main">
              <a:ext uri="{FF2B5EF4-FFF2-40B4-BE49-F238E27FC236}">
                <a16:creationId xmlns:a16="http://schemas.microsoft.com/office/drawing/2014/main" id="{EDF83D42-60C8-41D1-9FF4-7DEC4B3AFE1B}"/>
              </a:ext>
            </a:extLst>
          </p:cNvPr>
          <p:cNvSpPr>
            <a:spLocks xmlns:a="http://schemas.openxmlformats.org/drawingml/2006/main" noGrp="1"/>
          </p:cNvSpPr>
          <p:nvPr/>
        </p:nvSpPr>
        <p:spPr>
          <a:xfrm xmlns:a="http://schemas.openxmlformats.org/drawingml/2006/main">
            <a:off x="3952875" y="3848100"/>
            <a:ext cx="1666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75" b="1" i="0">
                <a:solidFill>
                  <a:srgbClr val="0B1F33"/>
                </a:solidFill>
                <a:latin typeface="DejaVu Sans"/>
                <a:ea typeface="DejaVu Sans"/>
                <a:cs typeface="DejaVu Sans"/>
              </a:defRPr>
            </a:defPPr>
          </a:lstStyle>
          <a:p xmlns:a="http://schemas.openxmlformats.org/drawingml/2006/main">
            <a:pPr algn="l">
              <a:defRPr sz="1575" b="1" i="0">
                <a:solidFill>
                  <a:srgbClr val="0B1F33"/>
                </a:solidFill>
                <a:latin typeface="DejaVu Sans"/>
                <a:ea typeface="DejaVu Sans"/>
                <a:cs typeface="DejaVu Sans"/>
              </a:defRPr>
            </a:pPr>
            <a:r>
              <a:rPr sz="1575" b="1" i="0">
                <a:solidFill>
                  <a:srgbClr val="0B1F33"/>
                </a:solidFill>
                <a:latin typeface="DejaVu Sans"/>
                <a:ea typeface="DejaVu Sans"/>
                <a:cs typeface="DejaVu Sans"/>
              </a:rPr>
              <a:t>Run experiment</a:t>
            </a:r>
          </a:p>
        </p:txBody>
      </p:sp>
      <p:sp>
        <p:nvSpPr>
          <p:cNvPr id="22" name="">
            <a:extLst xmlns:a="http://schemas.openxmlformats.org/drawingml/2006/main">
              <a:ext uri="{FF2B5EF4-FFF2-40B4-BE49-F238E27FC236}">
                <a16:creationId xmlns:a16="http://schemas.microsoft.com/office/drawing/2014/main" id="{0D18FA8B-75AD-4D19-94A2-3085F059889C}"/>
              </a:ext>
            </a:extLst>
          </p:cNvPr>
          <p:cNvSpPr>
            <a:spLocks xmlns:a="http://schemas.openxmlformats.org/drawingml/2006/main" noGrp="1"/>
          </p:cNvSpPr>
          <p:nvPr/>
        </p:nvSpPr>
        <p:spPr>
          <a:xfrm xmlns:a="http://schemas.openxmlformats.org/drawingml/2006/main">
            <a:off x="3638550" y="4333875"/>
            <a:ext cx="1962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125" b="0" i="0">
                <a:solidFill>
                  <a:srgbClr val="5D6A72"/>
                </a:solidFill>
                <a:latin typeface="DejaVu Sans"/>
                <a:ea typeface="DejaVu Sans"/>
                <a:cs typeface="DejaVu Sans"/>
              </a:defRPr>
            </a:defPPr>
          </a:lstStyle>
          <a:p xmlns:a="http://schemas.openxmlformats.org/drawingml/2006/main">
            <a:pPr algn="ctr">
              <a:defRPr sz="1125" b="0" i="0">
                <a:solidFill>
                  <a:srgbClr val="5D6A72"/>
                </a:solidFill>
                <a:latin typeface="DejaVu Sans"/>
                <a:ea typeface="DejaVu Sans"/>
                <a:cs typeface="DejaVu Sans"/>
              </a:defRPr>
            </a:pPr>
            <a:r>
              <a:rPr sz="1125" b="0" i="0">
                <a:solidFill>
                  <a:srgbClr val="5D6A72"/>
                </a:solidFill>
                <a:latin typeface="DejaVu Sans"/>
                <a:ea typeface="DejaVu Sans"/>
                <a:cs typeface="DejaVu Sans"/>
              </a:rPr>
              <a:t>Observe a new y</a:t>
            </a:r>
          </a:p>
        </p:txBody>
      </p:sp>
      <p:sp>
        <p:nvSpPr>
          <p:cNvPr id="23" name="">
            <a:extLst xmlns:a="http://schemas.openxmlformats.org/drawingml/2006/main">
              <a:ext uri="{FF2B5EF4-FFF2-40B4-BE49-F238E27FC236}">
                <a16:creationId xmlns:a16="http://schemas.microsoft.com/office/drawing/2014/main" id="{1B63FB3A-7039-4839-B7E3-E60B50FC76C3}"/>
              </a:ext>
            </a:extLst>
          </p:cNvPr>
          <p:cNvSpPr>
            <a:spLocks xmlns:a="http://schemas.openxmlformats.org/drawingml/2006/main" noGrp="1"/>
          </p:cNvSpPr>
          <p:nvPr/>
        </p:nvSpPr>
        <p:spPr>
          <a:xfrm xmlns:a="http://schemas.openxmlformats.org/drawingml/2006/main">
            <a:off x="666750" y="3714750"/>
            <a:ext cx="2381250" cy="1190625"/>
          </a:xfrm>
          <a:prstGeom xmlns:a="http://schemas.openxmlformats.org/drawingml/2006/main" prst="roundRect">
            <a:avLst>
              <a:gd name="adj" fmla="val 6400"/>
            </a:avLst>
          </a:prstGeom>
          <a:solidFill xmlns:a="http://schemas.openxmlformats.org/drawingml/2006/main">
            <a:srgbClr val="FAEBDD"/>
          </a:solidFill>
          <a:ln xmlns:a="http://schemas.openxmlformats.org/drawingml/2006/main" w="9525">
            <a:solidFill>
              <a:srgbClr val="F4A261"/>
            </a:solidFill>
            <a:prstDash val="solid"/>
          </a:ln>
        </p:spPr>
      </p:sp>
      <p:sp>
        <p:nvSpPr>
          <p:cNvPr id="24" name="">
            <a:extLst xmlns:a="http://schemas.openxmlformats.org/drawingml/2006/main">
              <a:ext uri="{FF2B5EF4-FFF2-40B4-BE49-F238E27FC236}">
                <a16:creationId xmlns:a16="http://schemas.microsoft.com/office/drawing/2014/main" id="{51767F1E-F43F-4DC3-A2AC-8E351C2E493E}"/>
              </a:ext>
            </a:extLst>
          </p:cNvPr>
          <p:cNvSpPr>
            <a:spLocks xmlns:a="http://schemas.openxmlformats.org/drawingml/2006/main" noGrp="1"/>
          </p:cNvSpPr>
          <p:nvPr/>
        </p:nvSpPr>
        <p:spPr>
          <a:xfrm xmlns:a="http://schemas.openxmlformats.org/drawingml/2006/main">
            <a:off x="838200" y="3857625"/>
            <a:ext cx="323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i="0">
                <a:solidFill>
                  <a:srgbClr val="E76F51"/>
                </a:solidFill>
                <a:latin typeface="DejaVu Sans"/>
                <a:ea typeface="DejaVu Sans"/>
                <a:cs typeface="DejaVu Sans"/>
              </a:defRPr>
            </a:defPPr>
          </a:lstStyle>
          <a:p xmlns:a="http://schemas.openxmlformats.org/drawingml/2006/main">
            <a:pPr algn="l">
              <a:defRPr sz="1350" b="1" i="0">
                <a:solidFill>
                  <a:srgbClr val="E76F51"/>
                </a:solidFill>
                <a:latin typeface="DejaVu Sans"/>
                <a:ea typeface="DejaVu Sans"/>
                <a:cs typeface="DejaVu Sans"/>
              </a:defRPr>
            </a:pPr>
            <a:r>
              <a:rPr sz="1350" b="1" i="0">
                <a:solidFill>
                  <a:srgbClr val="E76F51"/>
                </a:solidFill>
                <a:latin typeface="DejaVu Sans"/>
                <a:ea typeface="DejaVu Sans"/>
                <a:cs typeface="DejaVu Sans"/>
              </a:rPr>
              <a:t>6</a:t>
            </a:r>
          </a:p>
        </p:txBody>
      </p:sp>
      <p:sp>
        <p:nvSpPr>
          <p:cNvPr id="25" name="">
            <a:extLst xmlns:a="http://schemas.openxmlformats.org/drawingml/2006/main">
              <a:ext uri="{FF2B5EF4-FFF2-40B4-BE49-F238E27FC236}">
                <a16:creationId xmlns:a16="http://schemas.microsoft.com/office/drawing/2014/main" id="{0BA00C0B-A18F-4DDD-896D-2A7BF72CD53B}"/>
              </a:ext>
            </a:extLst>
          </p:cNvPr>
          <p:cNvSpPr>
            <a:spLocks xmlns:a="http://schemas.openxmlformats.org/drawingml/2006/main" noGrp="1"/>
          </p:cNvSpPr>
          <p:nvPr/>
        </p:nvSpPr>
        <p:spPr>
          <a:xfrm xmlns:a="http://schemas.openxmlformats.org/drawingml/2006/main">
            <a:off x="1190625" y="3848100"/>
            <a:ext cx="1666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75" b="1" i="0">
                <a:solidFill>
                  <a:srgbClr val="0B1F33"/>
                </a:solidFill>
                <a:latin typeface="DejaVu Sans"/>
                <a:ea typeface="DejaVu Sans"/>
                <a:cs typeface="DejaVu Sans"/>
              </a:defRPr>
            </a:defPPr>
          </a:lstStyle>
          <a:p xmlns:a="http://schemas.openxmlformats.org/drawingml/2006/main">
            <a:pPr algn="l">
              <a:defRPr sz="1575" b="1" i="0">
                <a:solidFill>
                  <a:srgbClr val="0B1F33"/>
                </a:solidFill>
                <a:latin typeface="DejaVu Sans"/>
                <a:ea typeface="DejaVu Sans"/>
                <a:cs typeface="DejaVu Sans"/>
              </a:defRPr>
            </a:pPr>
            <a:r>
              <a:rPr sz="1575" b="1" i="0">
                <a:solidFill>
                  <a:srgbClr val="0B1F33"/>
                </a:solidFill>
                <a:latin typeface="DejaVu Sans"/>
                <a:ea typeface="DejaVu Sans"/>
                <a:cs typeface="DejaVu Sans"/>
              </a:rPr>
              <a:t>Stop or update</a:t>
            </a:r>
          </a:p>
        </p:txBody>
      </p:sp>
      <p:sp>
        <p:nvSpPr>
          <p:cNvPr id="26" name="">
            <a:extLst xmlns:a="http://schemas.openxmlformats.org/drawingml/2006/main">
              <a:ext uri="{FF2B5EF4-FFF2-40B4-BE49-F238E27FC236}">
                <a16:creationId xmlns:a16="http://schemas.microsoft.com/office/drawing/2014/main" id="{4AAFF70B-06B4-4A0D-A4E0-9E4CC0FA6556}"/>
              </a:ext>
            </a:extLst>
          </p:cNvPr>
          <p:cNvSpPr>
            <a:spLocks xmlns:a="http://schemas.openxmlformats.org/drawingml/2006/main" noGrp="1"/>
          </p:cNvSpPr>
          <p:nvPr/>
        </p:nvSpPr>
        <p:spPr>
          <a:xfrm xmlns:a="http://schemas.openxmlformats.org/drawingml/2006/main">
            <a:off x="876300" y="4333875"/>
            <a:ext cx="1962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125" b="0" i="0">
                <a:solidFill>
                  <a:srgbClr val="5D6A72"/>
                </a:solidFill>
                <a:latin typeface="DejaVu Sans"/>
                <a:ea typeface="DejaVu Sans"/>
                <a:cs typeface="DejaVu Sans"/>
              </a:defRPr>
            </a:defPPr>
          </a:lstStyle>
          <a:p xmlns:a="http://schemas.openxmlformats.org/drawingml/2006/main">
            <a:pPr algn="ctr">
              <a:defRPr sz="1125" b="0" i="0">
                <a:solidFill>
                  <a:srgbClr val="5D6A72"/>
                </a:solidFill>
                <a:latin typeface="DejaVu Sans"/>
                <a:ea typeface="DejaVu Sans"/>
                <a:cs typeface="DejaVu Sans"/>
              </a:defRPr>
            </a:pPr>
            <a:r>
              <a:rPr sz="1125" b="0" i="0">
                <a:solidFill>
                  <a:srgbClr val="5D6A72"/>
                </a:solidFill>
                <a:latin typeface="DejaVu Sans"/>
                <a:ea typeface="DejaVu Sans"/>
                <a:cs typeface="DejaVu Sans"/>
              </a:rPr>
              <a:t>Check rule, then repeat</a:t>
            </a:r>
          </a:p>
        </p:txBody>
      </p:sp>
      <p:sp>
        <p:nvSpPr>
          <p:cNvPr id="33" name="">
            <a:extLst xmlns:a="http://schemas.openxmlformats.org/drawingml/2006/main">
              <a:ext uri="{FF2B5EF4-FFF2-40B4-BE49-F238E27FC236}">
                <a16:creationId xmlns:a16="http://schemas.microsoft.com/office/drawing/2014/main" id="{2E9D93B5-DBCC-4CB5-9462-027A62EC8B9A}"/>
              </a:ext>
            </a:extLst>
          </p:cNvPr>
          <p:cNvSpPr>
            <a:spLocks xmlns:a="http://schemas.openxmlformats.org/drawingml/2006/main" noGrp="1"/>
          </p:cNvSpPr>
          <p:nvPr/>
        </p:nvSpPr>
        <p:spPr>
          <a:xfrm xmlns:a="http://schemas.openxmlformats.org/drawingml/2006/main">
            <a:off x="9334500" y="19431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350" b="1" i="0">
                <a:solidFill>
                  <a:srgbClr val="218C7E"/>
                </a:solidFill>
                <a:latin typeface="DejaVu Sans"/>
                <a:ea typeface="DejaVu Sans"/>
                <a:cs typeface="DejaVu Sans"/>
              </a:defRPr>
            </a:defPPr>
          </a:lstStyle>
          <a:p xmlns:a="http://schemas.openxmlformats.org/drawingml/2006/main">
            <a:pPr algn="ctr">
              <a:defRPr sz="1350" b="1" i="0">
                <a:solidFill>
                  <a:srgbClr val="218C7E"/>
                </a:solidFill>
                <a:latin typeface="DejaVu Sans"/>
                <a:ea typeface="DejaVu Sans"/>
                <a:cs typeface="DejaVu Sans"/>
              </a:defRPr>
            </a:pPr>
            <a:r>
              <a:rPr sz="1350" b="1" i="0">
                <a:solidFill>
                  <a:srgbClr val="218C7E"/>
                </a:solidFill>
                <a:latin typeface="DejaVu Sans"/>
                <a:ea typeface="DejaVu Sans"/>
                <a:cs typeface="DejaVu Sans"/>
              </a:rPr>
              <a:t>Recommendation</a:t>
            </a:r>
          </a:p>
        </p:txBody>
      </p:sp>
      <p:sp>
        <p:nvSpPr>
          <p:cNvPr id="34" name="">
            <a:extLst xmlns:a="http://schemas.openxmlformats.org/drawingml/2006/main">
              <a:ext uri="{FF2B5EF4-FFF2-40B4-BE49-F238E27FC236}">
                <a16:creationId xmlns:a16="http://schemas.microsoft.com/office/drawing/2014/main" id="{817D1A54-1497-433F-A0C7-AEE33E185AC3}"/>
              </a:ext>
            </a:extLst>
          </p:cNvPr>
          <p:cNvSpPr>
            <a:spLocks xmlns:a="http://schemas.openxmlformats.org/drawingml/2006/main" noGrp="1"/>
          </p:cNvSpPr>
          <p:nvPr/>
        </p:nvSpPr>
        <p:spPr>
          <a:xfrm xmlns:a="http://schemas.openxmlformats.org/drawingml/2006/main">
            <a:off x="9144000" y="2400300"/>
            <a:ext cx="2476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575" b="1" i="0">
                <a:solidFill>
                  <a:srgbClr val="0B1F33"/>
                </a:solidFill>
                <a:latin typeface="DejaVu Sans"/>
                <a:ea typeface="DejaVu Sans"/>
                <a:cs typeface="DejaVu Sans"/>
              </a:defRPr>
            </a:defPPr>
          </a:lstStyle>
          <a:p xmlns:a="http://schemas.openxmlformats.org/drawingml/2006/main">
            <a:pPr algn="ctr">
              <a:defRPr sz="1575" b="1" i="0">
                <a:solidFill>
                  <a:srgbClr val="0B1F33"/>
                </a:solidFill>
                <a:latin typeface="DejaVu Sans"/>
                <a:ea typeface="DejaVu Sans"/>
                <a:cs typeface="DejaVu Sans"/>
              </a:defRPr>
            </a:pPr>
            <a:r>
              <a:rPr sz="1575" b="1" i="0">
                <a:solidFill>
                  <a:srgbClr val="0B1F33"/>
                </a:solidFill>
                <a:latin typeface="DejaVu Sans"/>
                <a:ea typeface="DejaVu Sans"/>
                <a:cs typeface="DejaVu Sans"/>
              </a:rPr>
              <a:t>If the rule stops, return x hat using a declared recommendation rule.</a:t>
            </a:r>
          </a:p>
        </p:txBody>
      </p:sp>
      <p:sp>
        <p:nvSpPr>
          <p:cNvPr id="35" name="">
            <a:extLst xmlns:a="http://schemas.openxmlformats.org/drawingml/2006/main">
              <a:ext uri="{FF2B5EF4-FFF2-40B4-BE49-F238E27FC236}">
                <a16:creationId xmlns:a16="http://schemas.microsoft.com/office/drawing/2014/main" id="{5C071659-EECD-499D-A7FB-7046B6BA7409}"/>
              </a:ext>
            </a:extLst>
          </p:cNvPr>
          <p:cNvSpPr>
            <a:spLocks xmlns:a="http://schemas.openxmlformats.org/drawingml/2006/main" noGrp="1"/>
          </p:cNvSpPr>
          <p:nvPr/>
        </p:nvSpPr>
        <p:spPr>
          <a:xfrm xmlns:a="http://schemas.openxmlformats.org/drawingml/2006/main">
            <a:off x="9096375" y="4000500"/>
            <a:ext cx="26193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350" b="0" i="0">
                <a:solidFill>
                  <a:srgbClr val="5D6A72"/>
                </a:solidFill>
                <a:latin typeface="DejaVu Sans"/>
                <a:ea typeface="DejaVu Sans"/>
                <a:cs typeface="DejaVu Sans"/>
              </a:defRPr>
            </a:defPPr>
          </a:lstStyle>
          <a:p xmlns:a="http://schemas.openxmlformats.org/drawingml/2006/main">
            <a:pPr algn="ctr">
              <a:defRPr sz="1350" b="0" i="0">
                <a:solidFill>
                  <a:srgbClr val="5D6A72"/>
                </a:solidFill>
                <a:latin typeface="DejaVu Sans"/>
                <a:ea typeface="DejaVu Sans"/>
                <a:cs typeface="DejaVu Sans"/>
              </a:defRPr>
            </a:pPr>
            <a:r>
              <a:rPr sz="1350" b="0" i="0">
                <a:solidFill>
                  <a:srgbClr val="5D6A72"/>
                </a:solidFill>
                <a:latin typeface="DejaVu Sans"/>
                <a:ea typeface="DejaVu Sans"/>
                <a:cs typeface="DejaVu Sans"/>
              </a:rPr>
              <a:t>Important: stopping and recommendation occur after the same posterior update, but they answer different questions.</a:t>
            </a:r>
          </a:p>
        </p:txBody>
      </p:sp>
      <p:sp>
        <p:nvSpPr>
          <p:cNvPr id="36" name="">
            <a:extLst xmlns:a="http://schemas.openxmlformats.org/drawingml/2006/main">
              <a:ext uri="{FF2B5EF4-FFF2-40B4-BE49-F238E27FC236}">
                <a16:creationId xmlns:a16="http://schemas.microsoft.com/office/drawing/2014/main" id="{5B926C3F-4DBD-4A46-AC06-A7E9F4136D7A}"/>
              </a:ext>
            </a:extLst>
          </p:cNvPr>
          <p:cNvSpPr>
            <a:spLocks xmlns:a="http://schemas.openxmlformats.org/drawingml/2006/main" noGrp="1"/>
          </p:cNvSpPr>
          <p:nvPr/>
        </p:nvSpPr>
        <p:spPr>
          <a:xfrm xmlns:a="http://schemas.openxmlformats.org/drawingml/2006/main">
            <a:off x="685800" y="6457950"/>
            <a:ext cx="1009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75" b="0" i="0">
                <a:solidFill>
                  <a:srgbClr val="71808A"/>
                </a:solidFill>
                <a:latin typeface="DejaVu Sans"/>
                <a:ea typeface="DejaVu Sans"/>
                <a:cs typeface="DejaVu Sans"/>
              </a:defRPr>
            </a:defPPr>
          </a:lstStyle>
          <a:p xmlns:a="http://schemas.openxmlformats.org/drawingml/2006/main">
            <a:pPr algn="l">
              <a:defRPr sz="675" b="0" i="0">
                <a:solidFill>
                  <a:srgbClr val="71808A"/>
                </a:solidFill>
                <a:latin typeface="DejaVu Sans"/>
                <a:ea typeface="DejaVu Sans"/>
                <a:cs typeface="DejaVu Sans"/>
              </a:defRPr>
            </a:pPr>
            <a:r>
              <a:rPr sz="675" b="0" i="0">
                <a:solidFill>
                  <a:srgbClr val="71808A"/>
                </a:solidFill>
                <a:latin typeface="DejaVu Sans"/>
                <a:ea typeface="DejaVu Sans"/>
                <a:cs typeface="DejaVu Sans"/>
              </a:rPr>
              <a:t>Frazier 2018; Balandat et al. 2020</a:t>
            </a:r>
          </a:p>
        </p:txBody>
      </p:sp>
      <p:sp>
        <p:nvSpPr>
          <p:cNvPr id="37" name="">
            <a:extLst xmlns:a="http://schemas.openxmlformats.org/drawingml/2006/main">
              <a:ext uri="{FF2B5EF4-FFF2-40B4-BE49-F238E27FC236}">
                <a16:creationId xmlns:a16="http://schemas.microsoft.com/office/drawing/2014/main" id="{E49E0FB4-F634-462B-B0FA-D18BBD7D1E9E}"/>
              </a:ext>
            </a:extLst>
          </p:cNvPr>
          <p:cNvSpPr>
            <a:spLocks xmlns:a="http://schemas.openxmlformats.org/drawingml/2006/main" noGrp="1"/>
          </p:cNvSpPr>
          <p:nvPr/>
        </p:nvSpPr>
        <p:spPr>
          <a:xfrm xmlns:a="http://schemas.openxmlformats.org/drawingml/2006/main">
            <a:off x="11049000" y="6419850"/>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i="0">
                <a:solidFill>
                  <a:srgbClr val="71808A"/>
                </a:solidFill>
                <a:latin typeface="DejaVu Sans"/>
                <a:ea typeface="DejaVu Sans"/>
                <a:cs typeface="DejaVu Sans"/>
              </a:defRPr>
            </a:defPPr>
          </a:lstStyle>
          <a:p xmlns:a="http://schemas.openxmlformats.org/drawingml/2006/main">
            <a:pPr algn="r">
              <a:defRPr sz="825" b="1" i="0">
                <a:solidFill>
                  <a:srgbClr val="71808A"/>
                </a:solidFill>
                <a:latin typeface="DejaVu Sans"/>
                <a:ea typeface="DejaVu Sans"/>
                <a:cs typeface="DejaVu Sans"/>
              </a:defRPr>
            </a:pPr>
            <a:r>
              <a:rPr sz="825" b="1" i="0">
                <a:solidFill>
                  <a:srgbClr val="71808A"/>
                </a:solidFill>
                <a:latin typeface="DejaVu Sans"/>
                <a:ea typeface="DejaVu Sans"/>
                <a:cs typeface="DejaVu Sans"/>
              </a:rPr>
              <a:t>03</a:t>
            </a:r>
          </a:p>
        </p:txBody>
      </p:sp>
    </p:spTree>
    <p:extLst>
      <p:ext uri="{BB962C8B-B14F-4D97-AF65-F5344CB8AC3E}">
        <p14:creationId xmlns:p14="http://schemas.microsoft.com/office/powerpoint/2010/main" val="1667315755"/>
      </p:ext>
    </p:extLst>
  </p:cSld>
</p:sld>
</file>

<file path=ppt/slides/slide4.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BCCD2A7-9068-4066-B725-B1F1DD56209A}"/>
              </a:ext>
            </a:extLst>
          </p:cNvPr>
          <p:cNvSpPr>
            <a:spLocks xmlns:a="http://schemas.openxmlformats.org/drawingml/2006/main" noGrp="1"/>
          </p:cNvSpPr>
          <p:nvPr/>
        </p:nvSpPr>
        <p:spPr>
          <a:xfrm xmlns:a="http://schemas.openxmlformats.org/drawingml/2006/main">
            <a:off x="685800" y="4000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i="0">
                <a:solidFill>
                  <a:srgbClr val="0B1F33"/>
                </a:solidFill>
                <a:latin typeface="DejaVu Sans"/>
                <a:ea typeface="DejaVu Sans"/>
                <a:cs typeface="DejaVu Sans"/>
              </a:defRPr>
            </a:defPPr>
          </a:lstStyle>
          <a:p xmlns:a="http://schemas.openxmlformats.org/drawingml/2006/main">
            <a:pPr algn="l">
              <a:defRPr sz="2550" b="1" i="0">
                <a:solidFill>
                  <a:srgbClr val="0B1F33"/>
                </a:solidFill>
                <a:latin typeface="DejaVu Sans"/>
                <a:ea typeface="DejaVu Sans"/>
                <a:cs typeface="DejaVu Sans"/>
              </a:defRPr>
            </a:pPr>
            <a:r>
              <a:rPr sz="2550" b="1" i="0">
                <a:solidFill>
                  <a:srgbClr val="0B1F33"/>
                </a:solidFill>
                <a:latin typeface="DejaVu Sans"/>
                <a:ea typeface="DejaVu Sans"/>
                <a:cs typeface="DejaVu Sans"/>
              </a:rPr>
              <a:t>A small GP posterior calculation</a:t>
            </a:r>
          </a:p>
        </p:txBody>
      </p:sp>
      <p:sp>
        <p:nvSpPr>
          <p:cNvPr id="2" name="">
            <a:extLst xmlns:a="http://schemas.openxmlformats.org/drawingml/2006/main">
              <a:ext uri="{FF2B5EF4-FFF2-40B4-BE49-F238E27FC236}">
                <a16:creationId xmlns:a16="http://schemas.microsoft.com/office/drawing/2014/main" id="{0D18A6A6-E3C5-4C65-872E-B86E0BC595DC}"/>
              </a:ext>
            </a:extLst>
          </p:cNvPr>
          <p:cNvSpPr>
            <a:spLocks xmlns:a="http://schemas.openxmlformats.org/drawingml/2006/main" noGrp="1"/>
          </p:cNvSpPr>
          <p:nvPr/>
        </p:nvSpPr>
        <p:spPr>
          <a:xfrm xmlns:a="http://schemas.openxmlformats.org/drawingml/2006/main">
            <a:off x="704850" y="971550"/>
            <a:ext cx="1028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0" i="0">
                <a:solidFill>
                  <a:srgbClr val="5D6A72"/>
                </a:solidFill>
                <a:latin typeface="DejaVu Sans"/>
                <a:ea typeface="DejaVu Sans"/>
                <a:cs typeface="DejaVu Sans"/>
              </a:defRPr>
            </a:defPPr>
          </a:lstStyle>
          <a:p xmlns:a="http://schemas.openxmlformats.org/drawingml/2006/main">
            <a:pPr algn="l">
              <a:defRPr sz="1275" b="0" i="0">
                <a:solidFill>
                  <a:srgbClr val="5D6A72"/>
                </a:solidFill>
                <a:latin typeface="DejaVu Sans"/>
                <a:ea typeface="DejaVu Sans"/>
                <a:cs typeface="DejaVu Sans"/>
              </a:defRPr>
            </a:pPr>
            <a:r>
              <a:rPr sz="1275" b="0" i="0">
                <a:solidFill>
                  <a:srgbClr val="5D6A72"/>
                </a:solidFill>
                <a:latin typeface="DejaVu Sans"/>
                <a:ea typeface="DejaVu Sans"/>
                <a:cs typeface="DejaVu Sans"/>
              </a:rPr>
              <a:t>Two observations produce a prediction and an uncertainty at x = 0.50</a:t>
            </a:r>
          </a:p>
        </p:txBody>
      </p:sp>
      <p:sp>
        <p:nvSpPr>
          <p:cNvPr id="3" name="">
            <a:extLst xmlns:a="http://schemas.openxmlformats.org/drawingml/2006/main">
              <a:ext uri="{FF2B5EF4-FFF2-40B4-BE49-F238E27FC236}">
                <a16:creationId xmlns:a16="http://schemas.microsoft.com/office/drawing/2014/main" id="{620B6E56-EFD1-4870-9C24-7C3B5E6C8CDF}"/>
              </a:ext>
            </a:extLst>
          </p:cNvPr>
          <p:cNvSpPr>
            <a:spLocks xmlns:a="http://schemas.openxmlformats.org/drawingml/2006/main" noGrp="1"/>
          </p:cNvSpPr>
          <p:nvPr/>
        </p:nvSpPr>
        <p:spPr>
          <a:xfrm xmlns:a="http://schemas.openxmlformats.org/drawingml/2006/main">
            <a:off x="742950" y="15049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i="0">
                <a:solidFill>
                  <a:srgbClr val="218C7E"/>
                </a:solidFill>
                <a:latin typeface="DejaVu Sans"/>
                <a:ea typeface="DejaVu Sans"/>
                <a:cs typeface="DejaVu Sans"/>
              </a:defRPr>
            </a:defPPr>
          </a:lstStyle>
          <a:p xmlns:a="http://schemas.openxmlformats.org/drawingml/2006/main">
            <a:pPr algn="l">
              <a:defRPr sz="1350" b="1" i="0">
                <a:solidFill>
                  <a:srgbClr val="218C7E"/>
                </a:solidFill>
                <a:latin typeface="DejaVu Sans"/>
                <a:ea typeface="DejaVu Sans"/>
                <a:cs typeface="DejaVu Sans"/>
              </a:defRPr>
            </a:pPr>
            <a:r>
              <a:rPr sz="1350" b="1" i="0">
                <a:solidFill>
                  <a:srgbClr val="218C7E"/>
                </a:solidFill>
                <a:latin typeface="DejaVu Sans"/>
                <a:ea typeface="DejaVu Sans"/>
                <a:cs typeface="DejaVu Sans"/>
              </a:rPr>
              <a:t>Observed data</a:t>
            </a:r>
          </a:p>
        </p:txBody>
      </p:sp>
      <p:sp>
        <p:nvSpPr>
          <p:cNvPr id="4" name="">
            <a:extLst xmlns:a="http://schemas.openxmlformats.org/drawingml/2006/main">
              <a:ext uri="{FF2B5EF4-FFF2-40B4-BE49-F238E27FC236}">
                <a16:creationId xmlns:a16="http://schemas.microsoft.com/office/drawing/2014/main" id="{F07B64B7-F46C-4CB5-A6E3-A89CC20C773C}"/>
              </a:ext>
            </a:extLst>
          </p:cNvPr>
          <p:cNvSpPr>
            <a:spLocks xmlns:a="http://schemas.openxmlformats.org/drawingml/2006/main" noGrp="1"/>
          </p:cNvSpPr>
          <p:nvPr/>
        </p:nvSpPr>
        <p:spPr>
          <a:xfrm xmlns:a="http://schemas.openxmlformats.org/drawingml/2006/main">
            <a:off x="800100" y="1952625"/>
            <a:ext cx="2476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950" b="1" i="0">
                <a:solidFill>
                  <a:srgbClr val="0B1F33"/>
                </a:solidFill>
                <a:latin typeface="DejaVu Sans"/>
                <a:ea typeface="DejaVu Sans"/>
                <a:cs typeface="DejaVu Sans"/>
              </a:defRPr>
            </a:defPPr>
          </a:lstStyle>
          <a:p xmlns:a="http://schemas.openxmlformats.org/drawingml/2006/main">
            <a:pPr algn="l">
              <a:defRPr sz="1950" b="1" i="0">
                <a:solidFill>
                  <a:srgbClr val="0B1F33"/>
                </a:solidFill>
                <a:latin typeface="DejaVu Sans"/>
                <a:ea typeface="DejaVu Sans"/>
                <a:cs typeface="DejaVu Sans"/>
              </a:defRPr>
            </a:pPr>
            <a:r>
              <a:rPr sz="1950" b="1" i="0">
                <a:solidFill>
                  <a:srgbClr val="0B1F33"/>
                </a:solidFill>
                <a:latin typeface="DejaVu Sans"/>
                <a:ea typeface="DejaVu Sans"/>
                <a:cs typeface="DejaVu Sans"/>
              </a:rPr>
              <a:t>x = [0.25, 0.75]</a:t>
            </a:r>
          </a:p>
          <a:p xmlns:a="http://schemas.openxmlformats.org/drawingml/2006/main">
            <a:pPr algn="l">
              <a:defRPr sz="1950" b="1" i="0">
                <a:solidFill>
                  <a:srgbClr val="0B1F33"/>
                </a:solidFill>
                <a:latin typeface="DejaVu Sans"/>
                <a:ea typeface="DejaVu Sans"/>
                <a:cs typeface="DejaVu Sans"/>
              </a:defRPr>
            </a:pPr>
            <a:r>
              <a:rPr sz="1950" b="1" i="0">
                <a:solidFill>
                  <a:srgbClr val="0B1F33"/>
                </a:solidFill>
                <a:latin typeface="DejaVu Sans"/>
                <a:ea typeface="DejaVu Sans"/>
                <a:cs typeface="DejaVu Sans"/>
              </a:rPr>
              <a:t>y = [0.80, 0.20]</a:t>
            </a:r>
          </a:p>
        </p:txBody>
      </p:sp>
      <p:sp>
        <p:nvSpPr>
          <p:cNvPr id="5" name="">
            <a:extLst xmlns:a="http://schemas.openxmlformats.org/drawingml/2006/main">
              <a:ext uri="{FF2B5EF4-FFF2-40B4-BE49-F238E27FC236}">
                <a16:creationId xmlns:a16="http://schemas.microsoft.com/office/drawing/2014/main" id="{B12EE1A8-747D-4EBF-B749-456641AB4A80}"/>
              </a:ext>
            </a:extLst>
          </p:cNvPr>
          <p:cNvSpPr>
            <a:spLocks xmlns:a="http://schemas.openxmlformats.org/drawingml/2006/main" noGrp="1"/>
          </p:cNvSpPr>
          <p:nvPr/>
        </p:nvSpPr>
        <p:spPr>
          <a:xfrm xmlns:a="http://schemas.openxmlformats.org/drawingml/2006/main">
            <a:off x="742950" y="3190875"/>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i="0">
                <a:solidFill>
                  <a:srgbClr val="218C7E"/>
                </a:solidFill>
                <a:latin typeface="DejaVu Sans"/>
                <a:ea typeface="DejaVu Sans"/>
                <a:cs typeface="DejaVu Sans"/>
              </a:defRPr>
            </a:defPPr>
          </a:lstStyle>
          <a:p xmlns:a="http://schemas.openxmlformats.org/drawingml/2006/main">
            <a:pPr algn="l">
              <a:defRPr sz="1350" b="1" i="0">
                <a:solidFill>
                  <a:srgbClr val="218C7E"/>
                </a:solidFill>
                <a:latin typeface="DejaVu Sans"/>
                <a:ea typeface="DejaVu Sans"/>
                <a:cs typeface="DejaVu Sans"/>
              </a:defRPr>
            </a:pPr>
            <a:r>
              <a:rPr sz="1350" b="1" i="0">
                <a:solidFill>
                  <a:srgbClr val="218C7E"/>
                </a:solidFill>
                <a:latin typeface="DejaVu Sans"/>
                <a:ea typeface="DejaVu Sans"/>
                <a:cs typeface="DejaVu Sans"/>
              </a:rPr>
              <a:t>RBF kernel</a:t>
            </a:r>
          </a:p>
        </p:txBody>
      </p:sp>
      <p:sp>
        <p:nvSpPr>
          <p:cNvPr id="6" name="">
            <a:extLst xmlns:a="http://schemas.openxmlformats.org/drawingml/2006/main">
              <a:ext uri="{FF2B5EF4-FFF2-40B4-BE49-F238E27FC236}">
                <a16:creationId xmlns:a16="http://schemas.microsoft.com/office/drawing/2014/main" id="{F4386D7E-A6B1-45D8-8019-40A5DF8A420A}"/>
              </a:ext>
            </a:extLst>
          </p:cNvPr>
          <p:cNvSpPr>
            <a:spLocks xmlns:a="http://schemas.openxmlformats.org/drawingml/2006/main" noGrp="1"/>
          </p:cNvSpPr>
          <p:nvPr/>
        </p:nvSpPr>
        <p:spPr>
          <a:xfrm xmlns:a="http://schemas.openxmlformats.org/drawingml/2006/main">
            <a:off x="800100" y="3600450"/>
            <a:ext cx="3905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75" b="0" i="0">
                <a:solidFill>
                  <a:srgbClr val="122536"/>
                </a:solidFill>
                <a:latin typeface="DejaVu Sans"/>
                <a:ea typeface="DejaVu Sans"/>
                <a:cs typeface="DejaVu Sans"/>
              </a:defRPr>
            </a:defPPr>
          </a:lstStyle>
          <a:p xmlns:a="http://schemas.openxmlformats.org/drawingml/2006/main">
            <a:pPr algn="l">
              <a:defRPr sz="1575" b="0" i="0">
                <a:solidFill>
                  <a:srgbClr val="122536"/>
                </a:solidFill>
                <a:latin typeface="DejaVu Sans"/>
                <a:ea typeface="DejaVu Sans"/>
                <a:cs typeface="DejaVu Sans"/>
              </a:defRPr>
            </a:pPr>
            <a:r>
              <a:rPr sz="1575" b="0" i="0">
                <a:solidFill>
                  <a:srgbClr val="122536"/>
                </a:solidFill>
                <a:latin typeface="DejaVu Sans"/>
                <a:ea typeface="DejaVu Sans"/>
                <a:cs typeface="DejaVu Sans"/>
              </a:rPr>
              <a:t>k(x,x′) = exp(−(x−x′)² / 2ℓ²)</a:t>
            </a:r>
          </a:p>
          <a:p xmlns:a="http://schemas.openxmlformats.org/drawingml/2006/main">
            <a:pPr algn="l">
              <a:defRPr sz="1575" b="0" i="0">
                <a:solidFill>
                  <a:srgbClr val="122536"/>
                </a:solidFill>
                <a:latin typeface="DejaVu Sans"/>
                <a:ea typeface="DejaVu Sans"/>
                <a:cs typeface="DejaVu Sans"/>
              </a:defRPr>
            </a:pPr>
            <a:r>
              <a:rPr sz="1575" b="0" i="0">
                <a:solidFill>
                  <a:srgbClr val="122536"/>
                </a:solidFill>
                <a:latin typeface="DejaVu Sans"/>
                <a:ea typeface="DejaVu Sans"/>
                <a:cs typeface="DejaVu Sans"/>
              </a:rPr>
              <a:t>ℓ = 0.25     σn = 0.05</a:t>
            </a:r>
          </a:p>
        </p:txBody>
      </p:sp>
      <p:sp>
        <p:nvSpPr>
          <p:cNvPr id="7" name="">
            <a:extLst xmlns:a="http://schemas.openxmlformats.org/drawingml/2006/main">
              <a:ext uri="{FF2B5EF4-FFF2-40B4-BE49-F238E27FC236}">
                <a16:creationId xmlns:a16="http://schemas.microsoft.com/office/drawing/2014/main" id="{973EB369-BB01-4189-BA0C-BCD9B4A36BC0}"/>
              </a:ext>
            </a:extLst>
          </p:cNvPr>
          <p:cNvSpPr>
            <a:spLocks xmlns:a="http://schemas.openxmlformats.org/drawingml/2006/main" noGrp="1"/>
          </p:cNvSpPr>
          <p:nvPr/>
        </p:nvSpPr>
        <p:spPr>
          <a:xfrm xmlns:a="http://schemas.openxmlformats.org/drawingml/2006/main">
            <a:off x="4810125" y="14763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i="0">
                <a:solidFill>
                  <a:srgbClr val="356FA5"/>
                </a:solidFill>
                <a:latin typeface="DejaVu Sans"/>
                <a:ea typeface="DejaVu Sans"/>
                <a:cs typeface="DejaVu Sans"/>
              </a:defRPr>
            </a:defPPr>
          </a:lstStyle>
          <a:p xmlns:a="http://schemas.openxmlformats.org/drawingml/2006/main">
            <a:pPr algn="l">
              <a:defRPr sz="1350" b="1" i="0">
                <a:solidFill>
                  <a:srgbClr val="356FA5"/>
                </a:solidFill>
                <a:latin typeface="DejaVu Sans"/>
                <a:ea typeface="DejaVu Sans"/>
                <a:cs typeface="DejaVu Sans"/>
              </a:defRPr>
            </a:pPr>
            <a:r>
              <a:rPr sz="1350" b="1" i="0">
                <a:solidFill>
                  <a:srgbClr val="356FA5"/>
                </a:solidFill>
                <a:latin typeface="DejaVu Sans"/>
                <a:ea typeface="DejaVu Sans"/>
                <a:cs typeface="DejaVu Sans"/>
              </a:rPr>
              <a:t>1  Build covariance</a:t>
            </a:r>
          </a:p>
        </p:txBody>
      </p:sp>
      <p:sp>
        <p:nvSpPr>
          <p:cNvPr id="8" name="">
            <a:extLst xmlns:a="http://schemas.openxmlformats.org/drawingml/2006/main">
              <a:ext uri="{FF2B5EF4-FFF2-40B4-BE49-F238E27FC236}">
                <a16:creationId xmlns:a16="http://schemas.microsoft.com/office/drawing/2014/main" id="{72D83CF5-BAC5-4DD1-9ABF-C90F5838C278}"/>
              </a:ext>
            </a:extLst>
          </p:cNvPr>
          <p:cNvSpPr>
            <a:spLocks xmlns:a="http://schemas.openxmlformats.org/drawingml/2006/main" noGrp="1"/>
          </p:cNvSpPr>
          <p:nvPr/>
        </p:nvSpPr>
        <p:spPr>
          <a:xfrm xmlns:a="http://schemas.openxmlformats.org/drawingml/2006/main">
            <a:off x="4905375" y="190500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0" i="0">
                <a:solidFill>
                  <a:srgbClr val="122536"/>
                </a:solidFill>
                <a:latin typeface="DejaVu Sans Mono"/>
                <a:ea typeface="DejaVu Sans Mono"/>
                <a:cs typeface="DejaVu Sans Mono"/>
              </a:defRPr>
            </a:defPPr>
          </a:lstStyle>
          <a:p xmlns:a="http://schemas.openxmlformats.org/drawingml/2006/main">
            <a:pPr algn="l">
              <a:defRPr sz="1500" b="0" i="0">
                <a:solidFill>
                  <a:srgbClr val="122536"/>
                </a:solidFill>
                <a:latin typeface="DejaVu Sans Mono"/>
                <a:ea typeface="DejaVu Sans Mono"/>
                <a:cs typeface="DejaVu Sans Mono"/>
              </a:defRPr>
            </a:pPr>
            <a:r>
              <a:rPr sz="1500" b="0" i="0">
                <a:solidFill>
                  <a:srgbClr val="122536"/>
                </a:solidFill>
                <a:latin typeface="DejaVu Sans Mono"/>
                <a:ea typeface="DejaVu Sans Mono"/>
                <a:cs typeface="DejaVu Sans Mono"/>
              </a:rPr>
              <a:t>C = K + σn²I</a:t>
            </a:r>
          </a:p>
        </p:txBody>
      </p:sp>
      <p:sp>
        <p:nvSpPr>
          <p:cNvPr id="9" name="">
            <a:extLst xmlns:a="http://schemas.openxmlformats.org/drawingml/2006/main">
              <a:ext uri="{FF2B5EF4-FFF2-40B4-BE49-F238E27FC236}">
                <a16:creationId xmlns:a16="http://schemas.microsoft.com/office/drawing/2014/main" id="{229F9444-D001-41DE-90A7-A04A0C8290D7}"/>
              </a:ext>
            </a:extLst>
          </p:cNvPr>
          <p:cNvSpPr>
            <a:spLocks xmlns:a="http://schemas.openxmlformats.org/drawingml/2006/main" noGrp="1"/>
          </p:cNvSpPr>
          <p:nvPr/>
        </p:nvSpPr>
        <p:spPr>
          <a:xfrm xmlns:a="http://schemas.openxmlformats.org/drawingml/2006/main">
            <a:off x="5953125" y="2286000"/>
            <a:ext cx="342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0" i="0">
                <a:solidFill>
                  <a:srgbClr val="122536"/>
                </a:solidFill>
                <a:latin typeface="DejaVu Sans Mono"/>
                <a:ea typeface="DejaVu Sans Mono"/>
                <a:cs typeface="DejaVu Sans Mono"/>
              </a:defRPr>
            </a:defPPr>
          </a:lstStyle>
          <a:p xmlns:a="http://schemas.openxmlformats.org/drawingml/2006/main">
            <a:pPr algn="l">
              <a:defRPr sz="1500" b="0" i="0">
                <a:solidFill>
                  <a:srgbClr val="122536"/>
                </a:solidFill>
                <a:latin typeface="DejaVu Sans Mono"/>
                <a:ea typeface="DejaVu Sans Mono"/>
                <a:cs typeface="DejaVu Sans Mono"/>
              </a:defRPr>
            </a:pPr>
            <a:r>
              <a:rPr sz="1500" b="0" i="0">
                <a:solidFill>
                  <a:srgbClr val="122536"/>
                </a:solidFill>
                <a:latin typeface="DejaVu Sans Mono"/>
                <a:ea typeface="DejaVu Sans Mono"/>
                <a:cs typeface="DejaVu Sans Mono"/>
              </a:rPr>
              <a:t>[ 1.0025   0.1353 ]</a:t>
            </a:r>
          </a:p>
          <a:p xmlns:a="http://schemas.openxmlformats.org/drawingml/2006/main">
            <a:pPr algn="l">
              <a:defRPr sz="1500" b="0" i="0">
                <a:solidFill>
                  <a:srgbClr val="122536"/>
                </a:solidFill>
                <a:latin typeface="DejaVu Sans Mono"/>
                <a:ea typeface="DejaVu Sans Mono"/>
                <a:cs typeface="DejaVu Sans Mono"/>
              </a:defRPr>
            </a:pPr>
            <a:r>
              <a:rPr sz="1500" b="0" i="0">
                <a:solidFill>
                  <a:srgbClr val="122536"/>
                </a:solidFill>
                <a:latin typeface="DejaVu Sans Mono"/>
                <a:ea typeface="DejaVu Sans Mono"/>
                <a:cs typeface="DejaVu Sans Mono"/>
              </a:rPr>
              <a:t>[ 0.1353   1.0025 ]</a:t>
            </a:r>
          </a:p>
        </p:txBody>
      </p:sp>
      <p:sp>
        <p:nvSpPr>
          <p:cNvPr id="10" name="">
            <a:extLst xmlns:a="http://schemas.openxmlformats.org/drawingml/2006/main">
              <a:ext uri="{FF2B5EF4-FFF2-40B4-BE49-F238E27FC236}">
                <a16:creationId xmlns:a16="http://schemas.microsoft.com/office/drawing/2014/main" id="{A7C5B7C8-5630-464E-AC61-BFF8EDD27E27}"/>
              </a:ext>
            </a:extLst>
          </p:cNvPr>
          <p:cNvSpPr>
            <a:spLocks xmlns:a="http://schemas.openxmlformats.org/drawingml/2006/main" noGrp="1"/>
          </p:cNvSpPr>
          <p:nvPr/>
        </p:nvSpPr>
        <p:spPr>
          <a:xfrm xmlns:a="http://schemas.openxmlformats.org/drawingml/2006/main">
            <a:off x="4810125" y="2905125"/>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i="0">
                <a:solidFill>
                  <a:srgbClr val="356FA5"/>
                </a:solidFill>
                <a:latin typeface="DejaVu Sans"/>
                <a:ea typeface="DejaVu Sans"/>
                <a:cs typeface="DejaVu Sans"/>
              </a:defRPr>
            </a:defPPr>
          </a:lstStyle>
          <a:p xmlns:a="http://schemas.openxmlformats.org/drawingml/2006/main">
            <a:pPr algn="l">
              <a:defRPr sz="1350" b="1" i="0">
                <a:solidFill>
                  <a:srgbClr val="356FA5"/>
                </a:solidFill>
                <a:latin typeface="DejaVu Sans"/>
                <a:ea typeface="DejaVu Sans"/>
                <a:cs typeface="DejaVu Sans"/>
              </a:defRPr>
            </a:pPr>
            <a:r>
              <a:rPr sz="1350" b="1" i="0">
                <a:solidFill>
                  <a:srgbClr val="356FA5"/>
                </a:solidFill>
                <a:latin typeface="DejaVu Sans"/>
                <a:ea typeface="DejaVu Sans"/>
                <a:cs typeface="DejaVu Sans"/>
              </a:rPr>
              <a:t>2  Compare x* = 0.50 with observations</a:t>
            </a:r>
          </a:p>
        </p:txBody>
      </p:sp>
      <p:sp>
        <p:nvSpPr>
          <p:cNvPr id="11" name="">
            <a:extLst xmlns:a="http://schemas.openxmlformats.org/drawingml/2006/main">
              <a:ext uri="{FF2B5EF4-FFF2-40B4-BE49-F238E27FC236}">
                <a16:creationId xmlns:a16="http://schemas.microsoft.com/office/drawing/2014/main" id="{E5A54D40-C2D4-4CC0-BA66-1EEEBA7DB38D}"/>
              </a:ext>
            </a:extLst>
          </p:cNvPr>
          <p:cNvSpPr>
            <a:spLocks xmlns:a="http://schemas.openxmlformats.org/drawingml/2006/main" noGrp="1"/>
          </p:cNvSpPr>
          <p:nvPr/>
        </p:nvSpPr>
        <p:spPr>
          <a:xfrm xmlns:a="http://schemas.openxmlformats.org/drawingml/2006/main">
            <a:off x="4905375" y="3333750"/>
            <a:ext cx="428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725" b="0" i="0">
                <a:solidFill>
                  <a:srgbClr val="122536"/>
                </a:solidFill>
                <a:latin typeface="DejaVu Sans Mono"/>
                <a:ea typeface="DejaVu Sans Mono"/>
                <a:cs typeface="DejaVu Sans Mono"/>
              </a:defRPr>
            </a:defPPr>
          </a:lstStyle>
          <a:p xmlns:a="http://schemas.openxmlformats.org/drawingml/2006/main">
            <a:pPr algn="l">
              <a:defRPr sz="1725" b="0" i="0">
                <a:solidFill>
                  <a:srgbClr val="122536"/>
                </a:solidFill>
                <a:latin typeface="DejaVu Sans Mono"/>
                <a:ea typeface="DejaVu Sans Mono"/>
                <a:cs typeface="DejaVu Sans Mono"/>
              </a:defRPr>
            </a:pPr>
            <a:r>
              <a:rPr sz="1725" b="0" i="0">
                <a:solidFill>
                  <a:srgbClr val="122536"/>
                </a:solidFill>
                <a:latin typeface="DejaVu Sans Mono"/>
                <a:ea typeface="DejaVu Sans Mono"/>
                <a:cs typeface="DejaVu Sans Mono"/>
              </a:rPr>
              <a:t>k* = [0.6065, 0.6065]</a:t>
            </a:r>
          </a:p>
        </p:txBody>
      </p:sp>
      <p:sp>
        <p:nvSpPr>
          <p:cNvPr id="12" name="">
            <a:extLst xmlns:a="http://schemas.openxmlformats.org/drawingml/2006/main">
              <a:ext uri="{FF2B5EF4-FFF2-40B4-BE49-F238E27FC236}">
                <a16:creationId xmlns:a16="http://schemas.microsoft.com/office/drawing/2014/main" id="{3237F0D0-996C-466B-AF69-ABDE422091C9}"/>
              </a:ext>
            </a:extLst>
          </p:cNvPr>
          <p:cNvSpPr>
            <a:spLocks xmlns:a="http://schemas.openxmlformats.org/drawingml/2006/main" noGrp="1"/>
          </p:cNvSpPr>
          <p:nvPr/>
        </p:nvSpPr>
        <p:spPr>
          <a:xfrm xmlns:a="http://schemas.openxmlformats.org/drawingml/2006/main">
            <a:off x="4810125" y="404812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i="0">
                <a:solidFill>
                  <a:srgbClr val="356FA5"/>
                </a:solidFill>
                <a:latin typeface="DejaVu Sans"/>
                <a:ea typeface="DejaVu Sans"/>
                <a:cs typeface="DejaVu Sans"/>
              </a:defRPr>
            </a:defPPr>
          </a:lstStyle>
          <a:p xmlns:a="http://schemas.openxmlformats.org/drawingml/2006/main">
            <a:pPr algn="l">
              <a:defRPr sz="1350" b="1" i="0">
                <a:solidFill>
                  <a:srgbClr val="356FA5"/>
                </a:solidFill>
                <a:latin typeface="DejaVu Sans"/>
                <a:ea typeface="DejaVu Sans"/>
                <a:cs typeface="DejaVu Sans"/>
              </a:defRPr>
            </a:pPr>
            <a:r>
              <a:rPr sz="1350" b="1" i="0">
                <a:solidFill>
                  <a:srgbClr val="356FA5"/>
                </a:solidFill>
                <a:latin typeface="DejaVu Sans"/>
                <a:ea typeface="DejaVu Sans"/>
                <a:cs typeface="DejaVu Sans"/>
              </a:rPr>
              <a:t>3  Posterior at x*</a:t>
            </a:r>
          </a:p>
        </p:txBody>
      </p:sp>
      <p:sp>
        <p:nvSpPr>
          <p:cNvPr id="13" name="">
            <a:extLst xmlns:a="http://schemas.openxmlformats.org/drawingml/2006/main">
              <a:ext uri="{FF2B5EF4-FFF2-40B4-BE49-F238E27FC236}">
                <a16:creationId xmlns:a16="http://schemas.microsoft.com/office/drawing/2014/main" id="{42F7B275-F344-4087-AB2C-BBA96AF92F35}"/>
              </a:ext>
            </a:extLst>
          </p:cNvPr>
          <p:cNvSpPr>
            <a:spLocks xmlns:a="http://schemas.openxmlformats.org/drawingml/2006/main" noGrp="1"/>
          </p:cNvSpPr>
          <p:nvPr/>
        </p:nvSpPr>
        <p:spPr>
          <a:xfrm xmlns:a="http://schemas.openxmlformats.org/drawingml/2006/main">
            <a:off x="4905375" y="4476750"/>
            <a:ext cx="5048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650" b="0" i="0">
                <a:solidFill>
                  <a:srgbClr val="0B1F33"/>
                </a:solidFill>
                <a:latin typeface="DejaVu Sans Mono"/>
                <a:ea typeface="DejaVu Sans Mono"/>
                <a:cs typeface="DejaVu Sans Mono"/>
              </a:defRPr>
            </a:defPPr>
          </a:lstStyle>
          <a:p xmlns:a="http://schemas.openxmlformats.org/drawingml/2006/main">
            <a:pPr algn="l">
              <a:defRPr sz="1650" b="0" i="0">
                <a:solidFill>
                  <a:srgbClr val="0B1F33"/>
                </a:solidFill>
                <a:latin typeface="DejaVu Sans Mono"/>
                <a:ea typeface="DejaVu Sans Mono"/>
                <a:cs typeface="DejaVu Sans Mono"/>
              </a:defRPr>
            </a:pPr>
            <a:r>
              <a:rPr sz="1650" b="0" i="0">
                <a:solidFill>
                  <a:srgbClr val="0B1F33"/>
                </a:solidFill>
                <a:latin typeface="DejaVu Sans Mono"/>
                <a:ea typeface="DejaVu Sans Mono"/>
                <a:cs typeface="DejaVu Sans Mono"/>
              </a:rPr>
              <a:t>μ(x*) = k*ᵀC⁻¹y = 0.533</a:t>
            </a:r>
          </a:p>
          <a:p xmlns:a="http://schemas.openxmlformats.org/drawingml/2006/main">
            <a:pPr algn="l">
              <a:defRPr sz="1650" b="0" i="0">
                <a:solidFill>
                  <a:srgbClr val="0B1F33"/>
                </a:solidFill>
                <a:latin typeface="DejaVu Sans Mono"/>
                <a:ea typeface="DejaVu Sans Mono"/>
                <a:cs typeface="DejaVu Sans Mono"/>
              </a:defRPr>
            </a:pPr>
            <a:r>
              <a:rPr sz="1650" b="0" i="0">
                <a:solidFill>
                  <a:srgbClr val="0B1F33"/>
                </a:solidFill>
                <a:latin typeface="DejaVu Sans Mono"/>
                <a:ea typeface="DejaVu Sans Mono"/>
                <a:cs typeface="DejaVu Sans Mono"/>
              </a:rPr>
              <a:t>σ²(x*) = 1 − k*ᵀC⁻¹k* = 0.353</a:t>
            </a:r>
          </a:p>
          <a:p xmlns:a="http://schemas.openxmlformats.org/drawingml/2006/main">
            <a:pPr algn="l">
              <a:defRPr sz="1650" b="0" i="0">
                <a:solidFill>
                  <a:srgbClr val="0B1F33"/>
                </a:solidFill>
                <a:latin typeface="DejaVu Sans Mono"/>
                <a:ea typeface="DejaVu Sans Mono"/>
                <a:cs typeface="DejaVu Sans Mono"/>
              </a:defRPr>
            </a:pPr>
            <a:r>
              <a:rPr sz="1650" b="0" i="0">
                <a:solidFill>
                  <a:srgbClr val="0B1F33"/>
                </a:solidFill>
                <a:latin typeface="DejaVu Sans Mono"/>
                <a:ea typeface="DejaVu Sans Mono"/>
                <a:cs typeface="DejaVu Sans Mono"/>
              </a:rPr>
              <a:t>σ(x*) = 0.594</a:t>
            </a:r>
          </a:p>
        </p:txBody>
      </p:sp>
      <p:sp>
        <p:nvSpPr>
          <p:cNvPr id="14" name="">
            <a:extLst xmlns:a="http://schemas.openxmlformats.org/drawingml/2006/main">
              <a:ext uri="{FF2B5EF4-FFF2-40B4-BE49-F238E27FC236}">
                <a16:creationId xmlns:a16="http://schemas.microsoft.com/office/drawing/2014/main" id="{DA369255-1C49-43C6-96F3-AA184E623546}"/>
              </a:ext>
            </a:extLst>
          </p:cNvPr>
          <p:cNvSpPr>
            <a:spLocks xmlns:a="http://schemas.openxmlformats.org/drawingml/2006/main" noGrp="1"/>
          </p:cNvSpPr>
          <p:nvPr/>
        </p:nvSpPr>
        <p:spPr>
          <a:xfrm xmlns:a="http://schemas.openxmlformats.org/drawingml/2006/main">
            <a:off x="9525000" y="1666875"/>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350" b="1" i="0">
                <a:solidFill>
                  <a:srgbClr val="E76F51"/>
                </a:solidFill>
                <a:latin typeface="DejaVu Sans"/>
                <a:ea typeface="DejaVu Sans"/>
                <a:cs typeface="DejaVu Sans"/>
              </a:defRPr>
            </a:defPPr>
          </a:lstStyle>
          <a:p xmlns:a="http://schemas.openxmlformats.org/drawingml/2006/main">
            <a:pPr algn="ctr">
              <a:defRPr sz="1350" b="1" i="0">
                <a:solidFill>
                  <a:srgbClr val="E76F51"/>
                </a:solidFill>
                <a:latin typeface="DejaVu Sans"/>
                <a:ea typeface="DejaVu Sans"/>
                <a:cs typeface="DejaVu Sans"/>
              </a:defRPr>
            </a:pPr>
            <a:r>
              <a:rPr sz="1350" b="1" i="0">
                <a:solidFill>
                  <a:srgbClr val="E76F51"/>
                </a:solidFill>
                <a:latin typeface="DejaVu Sans"/>
                <a:ea typeface="DejaVu Sans"/>
                <a:cs typeface="DejaVu Sans"/>
              </a:rPr>
              <a:t>Interpretation</a:t>
            </a:r>
          </a:p>
        </p:txBody>
      </p:sp>
      <p:sp>
        <p:nvSpPr>
          <p:cNvPr id="15" name="">
            <a:extLst xmlns:a="http://schemas.openxmlformats.org/drawingml/2006/main">
              <a:ext uri="{FF2B5EF4-FFF2-40B4-BE49-F238E27FC236}">
                <a16:creationId xmlns:a16="http://schemas.microsoft.com/office/drawing/2014/main" id="{200AB24D-80E4-4600-8C41-AFD7ECAD39C9}"/>
              </a:ext>
            </a:extLst>
          </p:cNvPr>
          <p:cNvSpPr>
            <a:spLocks xmlns:a="http://schemas.openxmlformats.org/drawingml/2006/main" noGrp="1"/>
          </p:cNvSpPr>
          <p:nvPr/>
        </p:nvSpPr>
        <p:spPr>
          <a:xfrm xmlns:a="http://schemas.openxmlformats.org/drawingml/2006/main">
            <a:off x="9191625" y="2190750"/>
            <a:ext cx="24765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650" b="1" i="0">
                <a:solidFill>
                  <a:srgbClr val="0B1F33"/>
                </a:solidFill>
                <a:latin typeface="DejaVu Sans"/>
                <a:ea typeface="DejaVu Sans"/>
                <a:cs typeface="DejaVu Sans"/>
              </a:defRPr>
            </a:defPPr>
          </a:lstStyle>
          <a:p xmlns:a="http://schemas.openxmlformats.org/drawingml/2006/main">
            <a:pPr algn="ctr">
              <a:defRPr sz="1650" b="1" i="0">
                <a:solidFill>
                  <a:srgbClr val="0B1F33"/>
                </a:solidFill>
                <a:latin typeface="DejaVu Sans"/>
                <a:ea typeface="DejaVu Sans"/>
                <a:cs typeface="DejaVu Sans"/>
              </a:defRPr>
            </a:pPr>
            <a:r>
              <a:rPr sz="1650" b="1" i="0">
                <a:solidFill>
                  <a:srgbClr val="0B1F33"/>
                </a:solidFill>
                <a:latin typeface="DejaVu Sans"/>
                <a:ea typeface="DejaVu Sans"/>
                <a:cs typeface="DejaVu Sans"/>
              </a:rPr>
              <a:t>The model predicts a middle value, but it remains uncertain because x = 0.50 has not been observed.</a:t>
            </a:r>
          </a:p>
        </p:txBody>
      </p:sp>
      <p:sp>
        <p:nvSpPr>
          <p:cNvPr id="16" name="">
            <a:extLst xmlns:a="http://schemas.openxmlformats.org/drawingml/2006/main">
              <a:ext uri="{FF2B5EF4-FFF2-40B4-BE49-F238E27FC236}">
                <a16:creationId xmlns:a16="http://schemas.microsoft.com/office/drawing/2014/main" id="{4D04A87E-2D85-4FBA-AA9B-422C03336B86}"/>
              </a:ext>
            </a:extLst>
          </p:cNvPr>
          <p:cNvSpPr>
            <a:spLocks xmlns:a="http://schemas.openxmlformats.org/drawingml/2006/main" noGrp="1"/>
          </p:cNvSpPr>
          <p:nvPr/>
        </p:nvSpPr>
        <p:spPr>
          <a:xfrm xmlns:a="http://schemas.openxmlformats.org/drawingml/2006/main">
            <a:off x="9286875" y="4381500"/>
            <a:ext cx="2286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425" b="0" i="0">
                <a:solidFill>
                  <a:srgbClr val="5D6A72"/>
                </a:solidFill>
                <a:latin typeface="DejaVu Sans"/>
                <a:ea typeface="DejaVu Sans"/>
                <a:cs typeface="DejaVu Sans"/>
              </a:defRPr>
            </a:defPPr>
          </a:lstStyle>
          <a:p xmlns:a="http://schemas.openxmlformats.org/drawingml/2006/main">
            <a:pPr algn="ctr">
              <a:defRPr sz="1425" b="0" i="0">
                <a:solidFill>
                  <a:srgbClr val="5D6A72"/>
                </a:solidFill>
                <a:latin typeface="DejaVu Sans"/>
                <a:ea typeface="DejaVu Sans"/>
                <a:cs typeface="DejaVu Sans"/>
              </a:defRPr>
            </a:pPr>
            <a:r>
              <a:rPr sz="1425" b="0" i="0">
                <a:solidFill>
                  <a:srgbClr val="5D6A72"/>
                </a:solidFill>
                <a:latin typeface="DejaVu Sans"/>
                <a:ea typeface="DejaVu Sans"/>
                <a:cs typeface="DejaVu Sans"/>
              </a:rPr>
              <a:t>The next decision uses both 0.533 and 0.594.</a:t>
            </a:r>
          </a:p>
        </p:txBody>
      </p:sp>
      <p:sp>
        <p:nvSpPr>
          <p:cNvPr id="17" name="">
            <a:extLst xmlns:a="http://schemas.openxmlformats.org/drawingml/2006/main">
              <a:ext uri="{FF2B5EF4-FFF2-40B4-BE49-F238E27FC236}">
                <a16:creationId xmlns:a16="http://schemas.microsoft.com/office/drawing/2014/main" id="{6BC3C6F6-5F70-405E-9867-C404008942EA}"/>
              </a:ext>
            </a:extLst>
          </p:cNvPr>
          <p:cNvSpPr>
            <a:spLocks xmlns:a="http://schemas.openxmlformats.org/drawingml/2006/main" noGrp="1"/>
          </p:cNvSpPr>
          <p:nvPr/>
        </p:nvSpPr>
        <p:spPr>
          <a:xfrm xmlns:a="http://schemas.openxmlformats.org/drawingml/2006/main">
            <a:off x="685800" y="6457950"/>
            <a:ext cx="1009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75" b="0" i="0">
                <a:solidFill>
                  <a:srgbClr val="71808A"/>
                </a:solidFill>
                <a:latin typeface="DejaVu Sans"/>
                <a:ea typeface="DejaVu Sans"/>
                <a:cs typeface="DejaVu Sans"/>
              </a:defRPr>
            </a:defPPr>
          </a:lstStyle>
          <a:p xmlns:a="http://schemas.openxmlformats.org/drawingml/2006/main">
            <a:pPr algn="l">
              <a:defRPr sz="675" b="0" i="0">
                <a:solidFill>
                  <a:srgbClr val="71808A"/>
                </a:solidFill>
                <a:latin typeface="DejaVu Sans"/>
                <a:ea typeface="DejaVu Sans"/>
                <a:cs typeface="DejaVu Sans"/>
              </a:defRPr>
            </a:pPr>
            <a:r>
              <a:rPr sz="675" b="0" i="0">
                <a:solidFill>
                  <a:srgbClr val="71808A"/>
                </a:solidFill>
                <a:latin typeface="DejaVu Sans"/>
                <a:ea typeface="DejaVu Sans"/>
                <a:cs typeface="DejaVu Sans"/>
              </a:rPr>
              <a:t>Posterior equations and BO interpretation: Frazier 2018</a:t>
            </a:r>
          </a:p>
        </p:txBody>
      </p:sp>
      <p:sp>
        <p:nvSpPr>
          <p:cNvPr id="18" name="">
            <a:extLst xmlns:a="http://schemas.openxmlformats.org/drawingml/2006/main">
              <a:ext uri="{FF2B5EF4-FFF2-40B4-BE49-F238E27FC236}">
                <a16:creationId xmlns:a16="http://schemas.microsoft.com/office/drawing/2014/main" id="{A43D7BD1-2773-4B72-8C5C-29D680F88B74}"/>
              </a:ext>
            </a:extLst>
          </p:cNvPr>
          <p:cNvSpPr>
            <a:spLocks xmlns:a="http://schemas.openxmlformats.org/drawingml/2006/main" noGrp="1"/>
          </p:cNvSpPr>
          <p:nvPr/>
        </p:nvSpPr>
        <p:spPr>
          <a:xfrm xmlns:a="http://schemas.openxmlformats.org/drawingml/2006/main">
            <a:off x="11049000" y="6419850"/>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i="0">
                <a:solidFill>
                  <a:srgbClr val="71808A"/>
                </a:solidFill>
                <a:latin typeface="DejaVu Sans"/>
                <a:ea typeface="DejaVu Sans"/>
                <a:cs typeface="DejaVu Sans"/>
              </a:defRPr>
            </a:defPPr>
          </a:lstStyle>
          <a:p xmlns:a="http://schemas.openxmlformats.org/drawingml/2006/main">
            <a:pPr algn="r">
              <a:defRPr sz="825" b="1" i="0">
                <a:solidFill>
                  <a:srgbClr val="71808A"/>
                </a:solidFill>
                <a:latin typeface="DejaVu Sans"/>
                <a:ea typeface="DejaVu Sans"/>
                <a:cs typeface="DejaVu Sans"/>
              </a:defRPr>
            </a:pPr>
            <a:r>
              <a:rPr sz="825" b="1" i="0">
                <a:solidFill>
                  <a:srgbClr val="71808A"/>
                </a:solidFill>
                <a:latin typeface="DejaVu Sans"/>
                <a:ea typeface="DejaVu Sans"/>
                <a:cs typeface="DejaVu Sans"/>
              </a:rPr>
              <a:t>04</a:t>
            </a:r>
          </a:p>
        </p:txBody>
      </p:sp>
    </p:spTree>
    <p:extLst>
      <p:ext uri="{BB962C8B-B14F-4D97-AF65-F5344CB8AC3E}">
        <p14:creationId xmlns:p14="http://schemas.microsoft.com/office/powerpoint/2010/main" val="159848795"/>
      </p:ext>
    </p:extLst>
  </p:cSld>
</p:sld>
</file>

<file path=ppt/slides/slide5.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1990A3A-7B6B-43E6-963D-C25E33D442AA}"/>
              </a:ext>
            </a:extLst>
          </p:cNvPr>
          <p:cNvSpPr>
            <a:spLocks xmlns:a="http://schemas.openxmlformats.org/drawingml/2006/main" noGrp="1"/>
          </p:cNvSpPr>
          <p:nvPr/>
        </p:nvSpPr>
        <p:spPr>
          <a:xfrm xmlns:a="http://schemas.openxmlformats.org/drawingml/2006/main">
            <a:off x="685800" y="4000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i="0">
                <a:solidFill>
                  <a:srgbClr val="0B1F33"/>
                </a:solidFill>
                <a:latin typeface="DejaVu Sans"/>
                <a:ea typeface="DejaVu Sans"/>
                <a:cs typeface="DejaVu Sans"/>
              </a:defRPr>
            </a:defPPr>
          </a:lstStyle>
          <a:p xmlns:a="http://schemas.openxmlformats.org/drawingml/2006/main">
            <a:pPr algn="l">
              <a:defRPr sz="2550" b="1" i="0">
                <a:solidFill>
                  <a:srgbClr val="0B1F33"/>
                </a:solidFill>
                <a:latin typeface="DejaVu Sans"/>
                <a:ea typeface="DejaVu Sans"/>
                <a:cs typeface="DejaVu Sans"/>
              </a:defRPr>
            </a:pPr>
            <a:r>
              <a:rPr sz="2550" b="1" i="0">
                <a:solidFill>
                  <a:srgbClr val="0B1F33"/>
                </a:solidFill>
                <a:latin typeface="DejaVu Sans"/>
                <a:ea typeface="DejaVu Sans"/>
                <a:cs typeface="DejaVu Sans"/>
              </a:rPr>
              <a:t>The acquisition function chooses the next evaluation</a:t>
            </a:r>
          </a:p>
        </p:txBody>
      </p:sp>
      <p:sp>
        <p:nvSpPr>
          <p:cNvPr id="2" name="">
            <a:extLst xmlns:a="http://schemas.openxmlformats.org/drawingml/2006/main">
              <a:ext uri="{FF2B5EF4-FFF2-40B4-BE49-F238E27FC236}">
                <a16:creationId xmlns:a16="http://schemas.microsoft.com/office/drawing/2014/main" id="{9FD4CF4E-D7DB-4A29-BF5A-8FB4D70A4681}"/>
              </a:ext>
            </a:extLst>
          </p:cNvPr>
          <p:cNvSpPr>
            <a:spLocks xmlns:a="http://schemas.openxmlformats.org/drawingml/2006/main" noGrp="1"/>
          </p:cNvSpPr>
          <p:nvPr/>
        </p:nvSpPr>
        <p:spPr>
          <a:xfrm xmlns:a="http://schemas.openxmlformats.org/drawingml/2006/main">
            <a:off x="704850" y="971550"/>
            <a:ext cx="1028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0" i="0">
                <a:solidFill>
                  <a:srgbClr val="5D6A72"/>
                </a:solidFill>
                <a:latin typeface="DejaVu Sans"/>
                <a:ea typeface="DejaVu Sans"/>
                <a:cs typeface="DejaVu Sans"/>
              </a:defRPr>
            </a:defPPr>
          </a:lstStyle>
          <a:p xmlns:a="http://schemas.openxmlformats.org/drawingml/2006/main">
            <a:pPr algn="l">
              <a:defRPr sz="1275" b="0" i="0">
                <a:solidFill>
                  <a:srgbClr val="5D6A72"/>
                </a:solidFill>
                <a:latin typeface="DejaVu Sans"/>
                <a:ea typeface="DejaVu Sans"/>
                <a:cs typeface="DejaVu Sans"/>
              </a:defRPr>
            </a:pPr>
            <a:r>
              <a:rPr sz="1275" b="0" i="0">
                <a:solidFill>
                  <a:srgbClr val="5D6A72"/>
                </a:solidFill>
                <a:latin typeface="DejaVu Sans"/>
                <a:ea typeface="DejaVu Sans"/>
                <a:cs typeface="DejaVu Sans"/>
              </a:rPr>
              <a:t>A lower predicted value can win when its uncertainty creates more upside</a:t>
            </a:r>
          </a:p>
        </p:txBody>
      </p:sp>
      <p:sp>
        <p:nvSpPr>
          <p:cNvPr id="3" name="">
            <a:extLst xmlns:a="http://schemas.openxmlformats.org/drawingml/2006/main">
              <a:ext uri="{FF2B5EF4-FFF2-40B4-BE49-F238E27FC236}">
                <a16:creationId xmlns:a16="http://schemas.microsoft.com/office/drawing/2014/main" id="{DA6464B3-2810-4AB3-9D00-59CC8FFE43FA}"/>
              </a:ext>
            </a:extLst>
          </p:cNvPr>
          <p:cNvSpPr>
            <a:spLocks xmlns:a="http://schemas.openxmlformats.org/drawingml/2006/main" noGrp="1"/>
          </p:cNvSpPr>
          <p:nvPr/>
        </p:nvSpPr>
        <p:spPr>
          <a:xfrm xmlns:a="http://schemas.openxmlformats.org/drawingml/2006/main">
            <a:off x="742950" y="1571625"/>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i="0">
                <a:solidFill>
                  <a:srgbClr val="218C7E"/>
                </a:solidFill>
                <a:latin typeface="DejaVu Sans"/>
                <a:ea typeface="DejaVu Sans"/>
                <a:cs typeface="DejaVu Sans"/>
              </a:defRPr>
            </a:defPPr>
          </a:lstStyle>
          <a:p xmlns:a="http://schemas.openxmlformats.org/drawingml/2006/main">
            <a:pPr algn="l">
              <a:defRPr sz="1350" b="1" i="0">
                <a:solidFill>
                  <a:srgbClr val="218C7E"/>
                </a:solidFill>
                <a:latin typeface="DejaVu Sans"/>
                <a:ea typeface="DejaVu Sans"/>
                <a:cs typeface="DejaVu Sans"/>
              </a:defRPr>
            </a:pPr>
            <a:r>
              <a:rPr sz="1350" b="1" i="0">
                <a:solidFill>
                  <a:srgbClr val="218C7E"/>
                </a:solidFill>
                <a:latin typeface="DejaVu Sans"/>
                <a:ea typeface="DejaVu Sans"/>
                <a:cs typeface="DejaVu Sans"/>
              </a:rPr>
              <a:t>UCB score</a:t>
            </a:r>
          </a:p>
        </p:txBody>
      </p:sp>
      <p:sp>
        <p:nvSpPr>
          <p:cNvPr id="4" name="">
            <a:extLst xmlns:a="http://schemas.openxmlformats.org/drawingml/2006/main">
              <a:ext uri="{FF2B5EF4-FFF2-40B4-BE49-F238E27FC236}">
                <a16:creationId xmlns:a16="http://schemas.microsoft.com/office/drawing/2014/main" id="{229443B6-4F27-4E16-AE89-3E2F2C58ECBF}"/>
              </a:ext>
            </a:extLst>
          </p:cNvPr>
          <p:cNvSpPr>
            <a:spLocks xmlns:a="http://schemas.openxmlformats.org/drawingml/2006/main" noGrp="1"/>
          </p:cNvSpPr>
          <p:nvPr/>
        </p:nvSpPr>
        <p:spPr>
          <a:xfrm xmlns:a="http://schemas.openxmlformats.org/drawingml/2006/main">
            <a:off x="762000" y="2047875"/>
            <a:ext cx="4000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325" b="1" i="0">
                <a:solidFill>
                  <a:srgbClr val="0B1F33"/>
                </a:solidFill>
                <a:latin typeface="DejaVu Sans"/>
                <a:ea typeface="DejaVu Sans"/>
                <a:cs typeface="DejaVu Sans"/>
              </a:defRPr>
            </a:defPPr>
          </a:lstStyle>
          <a:p xmlns:a="http://schemas.openxmlformats.org/drawingml/2006/main">
            <a:pPr algn="l">
              <a:defRPr sz="2325" b="1" i="0">
                <a:solidFill>
                  <a:srgbClr val="0B1F33"/>
                </a:solidFill>
                <a:latin typeface="DejaVu Sans"/>
                <a:ea typeface="DejaVu Sans"/>
                <a:cs typeface="DejaVu Sans"/>
              </a:defRPr>
            </a:pPr>
            <a:r>
              <a:rPr sz="2325" b="1" i="0">
                <a:solidFill>
                  <a:srgbClr val="0B1F33"/>
                </a:solidFill>
                <a:latin typeface="DejaVu Sans"/>
                <a:ea typeface="DejaVu Sans"/>
                <a:cs typeface="DejaVu Sans"/>
              </a:rPr>
              <a:t>a(x) = μ(x) + κσ(x)</a:t>
            </a:r>
          </a:p>
        </p:txBody>
      </p:sp>
      <p:sp>
        <p:nvSpPr>
          <p:cNvPr id="5" name="">
            <a:extLst xmlns:a="http://schemas.openxmlformats.org/drawingml/2006/main">
              <a:ext uri="{FF2B5EF4-FFF2-40B4-BE49-F238E27FC236}">
                <a16:creationId xmlns:a16="http://schemas.microsoft.com/office/drawing/2014/main" id="{C0E18239-C503-49BA-9EBD-57C3BC55B717}"/>
              </a:ext>
            </a:extLst>
          </p:cNvPr>
          <p:cNvSpPr>
            <a:spLocks xmlns:a="http://schemas.openxmlformats.org/drawingml/2006/main" noGrp="1"/>
          </p:cNvSpPr>
          <p:nvPr/>
        </p:nvSpPr>
        <p:spPr>
          <a:xfrm xmlns:a="http://schemas.openxmlformats.org/drawingml/2006/main">
            <a:off x="781050" y="27432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0" i="0">
                <a:solidFill>
                  <a:srgbClr val="5D6A72"/>
                </a:solidFill>
                <a:latin typeface="DejaVu Sans"/>
                <a:ea typeface="DejaVu Sans"/>
                <a:cs typeface="DejaVu Sans"/>
              </a:defRPr>
            </a:defPPr>
          </a:lstStyle>
          <a:p xmlns:a="http://schemas.openxmlformats.org/drawingml/2006/main">
            <a:pPr algn="l">
              <a:defRPr sz="1500" b="0" i="0">
                <a:solidFill>
                  <a:srgbClr val="5D6A72"/>
                </a:solidFill>
                <a:latin typeface="DejaVu Sans"/>
                <a:ea typeface="DejaVu Sans"/>
                <a:cs typeface="DejaVu Sans"/>
              </a:defRPr>
            </a:pPr>
            <a:r>
              <a:rPr sz="1500" b="0" i="0">
                <a:solidFill>
                  <a:srgbClr val="5D6A72"/>
                </a:solidFill>
                <a:latin typeface="DejaVu Sans"/>
                <a:ea typeface="DejaVu Sans"/>
                <a:cs typeface="DejaVu Sans"/>
              </a:rPr>
              <a:t>Use κ = 2</a:t>
            </a:r>
          </a:p>
        </p:txBody>
      </p:sp>
      <p:graphicFrame>
        <p:nvGraphicFramePr>
          <p:cNvPr id="6" name="">
            <a:extLst xmlns:a="http://schemas.openxmlformats.org/drawingml/2006/main">
              <a:ext uri="{FF2B5EF4-FFF2-40B4-BE49-F238E27FC236}">
                <a16:creationId xmlns:a16="http://schemas.microsoft.com/office/drawing/2014/main" id="{C4B2A1FD-3160-481C-B51E-DC167D64BCB7}"/>
              </a:ext>
            </a:extLst>
          </p:cNvPr>
          <p:cNvGraphicFramePr/>
          <p:nvPr/>
        </p:nvGraphicFramePr>
        <p:xfrm>
          <a:off xmlns:a="http://schemas.openxmlformats.org/drawingml/2006/main" x="685800" y="3333750"/>
          <a:ext xmlns:a="http://schemas.openxmlformats.org/drawingml/2006/main" cx="4667250" cy="1619250"/>
        </p:xfrm>
        <a:graphic xmlns:a="http://schemas.openxmlformats.org/drawingml/2006/main">
          <a:graphicData uri="http://schemas.openxmlformats.org/drawingml/2006/table">
            <a:tbl>
              <a:tblPr/>
              <a:tblGrid>
                <a:gridCol w="1381125"/>
                <a:gridCol w="952500"/>
                <a:gridCol w="952500"/>
                <a:gridCol w="1381125"/>
              </a:tblGrid>
              <a:tr h="457200">
                <a:tc>
                  <a:txBody>
                    <a:bodyPr/>
                    <a:lstStyle/>
                    <a:p>
                      <a:r>
                        <a:t>Candidate</a:t>
                      </a:r>
                    </a:p>
                  </a:txBody>
                  <a:tcPr marL="91440" marR="91440" marT="45720" marB="45720"/>
                </a:tc>
                <a:tc>
                  <a:txBody>
                    <a:bodyPr/>
                    <a:lstStyle/>
                    <a:p>
                      <a:r>
                        <a:t>μ</a:t>
                      </a:r>
                    </a:p>
                  </a:txBody>
                  <a:tcPr marL="91440" marR="91440" marT="45720" marB="45720"/>
                </a:tc>
                <a:tc>
                  <a:txBody>
                    <a:bodyPr/>
                    <a:lstStyle/>
                    <a:p>
                      <a:r>
                        <a:t>σ</a:t>
                      </a:r>
                    </a:p>
                  </a:txBody>
                  <a:tcPr marL="91440" marR="91440" marT="45720" marB="45720"/>
                </a:tc>
                <a:tc>
                  <a:txBody>
                    <a:bodyPr/>
                    <a:lstStyle/>
                    <a:p>
                      <a:r>
                        <a:t>UCB</a:t>
                      </a:r>
                    </a:p>
                  </a:txBody>
                  <a:tcPr marL="91440" marR="91440" marT="45720" marB="45720"/>
                </a:tc>
              </a:tr>
              <a:tr h="571500">
                <a:tc>
                  <a:txBody>
                    <a:bodyPr/>
                    <a:lstStyle/>
                    <a:p>
                      <a:r>
                        <a:t>A</a:t>
                      </a:r>
                    </a:p>
                  </a:txBody>
                  <a:tcPr marL="91440" marR="91440" marT="45720" marB="45720"/>
                </a:tc>
                <a:tc>
                  <a:txBody>
                    <a:bodyPr/>
                    <a:lstStyle/>
                    <a:p>
                      <a:r>
                        <a:t>0.72</a:t>
                      </a:r>
                    </a:p>
                  </a:txBody>
                  <a:tcPr marL="91440" marR="91440" marT="45720" marB="45720"/>
                </a:tc>
                <a:tc>
                  <a:txBody>
                    <a:bodyPr/>
                    <a:lstStyle/>
                    <a:p>
                      <a:r>
                        <a:t>0.06</a:t>
                      </a:r>
                    </a:p>
                  </a:txBody>
                  <a:tcPr marL="91440" marR="91440" marT="45720" marB="45720"/>
                </a:tc>
                <a:tc>
                  <a:txBody>
                    <a:bodyPr/>
                    <a:lstStyle/>
                    <a:p>
                      <a:r>
                        <a:t>0.84</a:t>
                      </a:r>
                    </a:p>
                  </a:txBody>
                  <a:tcPr marL="91440" marR="91440" marT="45720" marB="45720"/>
                </a:tc>
              </a:tr>
              <a:tr h="571500">
                <a:tc>
                  <a:txBody>
                    <a:bodyPr/>
                    <a:lstStyle/>
                    <a:p>
                      <a:r>
                        <a:t>B</a:t>
                      </a:r>
                    </a:p>
                  </a:txBody>
                  <a:tcPr marL="91440" marR="91440" marT="45720" marB="45720"/>
                </a:tc>
                <a:tc>
                  <a:txBody>
                    <a:bodyPr/>
                    <a:lstStyle/>
                    <a:p>
                      <a:r>
                        <a:t>0.65</a:t>
                      </a:r>
                    </a:p>
                  </a:txBody>
                  <a:tcPr marL="91440" marR="91440" marT="45720" marB="45720"/>
                </a:tc>
                <a:tc>
                  <a:txBody>
                    <a:bodyPr/>
                    <a:lstStyle/>
                    <a:p>
                      <a:r>
                        <a:t>0.20</a:t>
                      </a:r>
                    </a:p>
                  </a:txBody>
                  <a:tcPr marL="91440" marR="91440" marT="45720" marB="45720"/>
                </a:tc>
                <a:tc>
                  <a:txBody>
                    <a:bodyPr/>
                    <a:lstStyle/>
                    <a:p>
                      <a:r>
                        <a:t>1.05</a:t>
                      </a:r>
                    </a:p>
                  </a:txBody>
                  <a:tcPr marL="91440" marR="91440" marT="45720" marB="45720"/>
                </a:tc>
              </a:tr>
            </a:tbl>
          </a:graphicData>
        </a:graphic>
      </p:graphicFrame>
      <p:sp>
        <p:nvSpPr>
          <p:cNvPr id="7" name="">
            <a:extLst xmlns:a="http://schemas.openxmlformats.org/drawingml/2006/main">
              <a:ext uri="{FF2B5EF4-FFF2-40B4-BE49-F238E27FC236}">
                <a16:creationId xmlns:a16="http://schemas.microsoft.com/office/drawing/2014/main" id="{9DBEAF84-3850-47D9-9E69-8571EA6407B7}"/>
              </a:ext>
            </a:extLst>
          </p:cNvPr>
          <p:cNvSpPr>
            <a:spLocks xmlns:a="http://schemas.openxmlformats.org/drawingml/2006/main" noGrp="1"/>
          </p:cNvSpPr>
          <p:nvPr/>
        </p:nvSpPr>
        <p:spPr>
          <a:xfrm xmlns:a="http://schemas.openxmlformats.org/drawingml/2006/main">
            <a:off x="1000125" y="5286375"/>
            <a:ext cx="4000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2025" b="1" i="0">
                <a:solidFill>
                  <a:srgbClr val="E76F51"/>
                </a:solidFill>
                <a:latin typeface="DejaVu Sans"/>
                <a:ea typeface="DejaVu Sans"/>
                <a:cs typeface="DejaVu Sans"/>
              </a:defRPr>
            </a:defPPr>
          </a:lstStyle>
          <a:p xmlns:a="http://schemas.openxmlformats.org/drawingml/2006/main">
            <a:pPr algn="ctr">
              <a:defRPr sz="2025" b="1" i="0">
                <a:solidFill>
                  <a:srgbClr val="E76F51"/>
                </a:solidFill>
                <a:latin typeface="DejaVu Sans"/>
                <a:ea typeface="DejaVu Sans"/>
                <a:cs typeface="DejaVu Sans"/>
              </a:defRPr>
            </a:pPr>
            <a:r>
              <a:rPr sz="2025" b="1" i="0">
                <a:solidFill>
                  <a:srgbClr val="E76F51"/>
                </a:solidFill>
                <a:latin typeface="DejaVu Sans"/>
                <a:ea typeface="DejaVu Sans"/>
                <a:cs typeface="DejaVu Sans"/>
              </a:rPr>
              <a:t>B becomes x next</a:t>
            </a:r>
          </a:p>
        </p:txBody>
      </p:sp>
      <p:graphicFrame>
        <p:nvGraphicFramePr>
          <p:cNvPr id="8" name="Chart">
            <a:extLst xmlns:a="http://schemas.openxmlformats.org/drawingml/2006/main">
              <a:ext uri="{FF2B5EF4-FFF2-40B4-BE49-F238E27FC236}">
                <a16:creationId xmlns:a16="http://schemas.microsoft.com/office/drawing/2014/main" id="{F1E5B8A1-3B65-42BA-860C-2F138AF77654}"/>
              </a:ext>
            </a:extLst>
          </p:cNvPr>
          <p:cNvGraphicFramePr/>
          <p:nvPr/>
        </p:nvGraphicFramePr>
        <p:xfrm>
          <a:off xmlns:a="http://schemas.openxmlformats.org/drawingml/2006/main" x="5953125" y="1571625"/>
          <a:ext xmlns:a="http://schemas.openxmlformats.org/drawingml/2006/main" cx="5334000" cy="3714750"/>
        </p:xfrm>
        <a:graphic xmlns:a="http://schemas.openxmlformats.org/drawingml/2006/main">
          <a:graphicData uri="http://schemas.openxmlformats.org/drawingml/2006/chart">
            <c:chart xmlns:r="http://schemas.openxmlformats.org/officeDocument/2006/relationships" xmlns:c="http://schemas.openxmlformats.org/drawingml/2006/chart" r:id="R29b89faa44104e90"/>
          </a:graphicData>
        </a:graphic>
      </p:graphicFrame>
      <p:sp>
        <p:nvSpPr>
          <p:cNvPr id="9" name="">
            <a:extLst xmlns:a="http://schemas.openxmlformats.org/drawingml/2006/main">
              <a:ext uri="{FF2B5EF4-FFF2-40B4-BE49-F238E27FC236}">
                <a16:creationId xmlns:a16="http://schemas.microsoft.com/office/drawing/2014/main" id="{FED9A944-C812-4D48-AAA9-A31DBB3CAD3E}"/>
              </a:ext>
            </a:extLst>
          </p:cNvPr>
          <p:cNvSpPr>
            <a:spLocks xmlns:a="http://schemas.openxmlformats.org/drawingml/2006/main" noGrp="1"/>
          </p:cNvSpPr>
          <p:nvPr/>
        </p:nvSpPr>
        <p:spPr>
          <a:xfrm xmlns:a="http://schemas.openxmlformats.org/drawingml/2006/main">
            <a:off x="6096000" y="5553075"/>
            <a:ext cx="50958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75" b="0" i="0">
                <a:solidFill>
                  <a:srgbClr val="5D6A72"/>
                </a:solidFill>
                <a:latin typeface="DejaVu Sans"/>
                <a:ea typeface="DejaVu Sans"/>
                <a:cs typeface="DejaVu Sans"/>
              </a:defRPr>
            </a:defPPr>
          </a:lstStyle>
          <a:p xmlns:a="http://schemas.openxmlformats.org/drawingml/2006/main">
            <a:pPr algn="ctr">
              <a:defRPr sz="1275" b="0" i="0">
                <a:solidFill>
                  <a:srgbClr val="5D6A72"/>
                </a:solidFill>
                <a:latin typeface="DejaVu Sans"/>
                <a:ea typeface="DejaVu Sans"/>
                <a:cs typeface="DejaVu Sans"/>
              </a:defRPr>
            </a:pPr>
            <a:r>
              <a:rPr sz="1275" b="0" i="0">
                <a:solidFill>
                  <a:srgbClr val="5D6A72"/>
                </a:solidFill>
                <a:latin typeface="DejaVu Sans"/>
                <a:ea typeface="DejaVu Sans"/>
                <a:cs typeface="DejaVu Sans"/>
              </a:rPr>
              <a:t>EI asks about improvement. MES asks how much the observation teaches us about the maximum value.</a:t>
            </a:r>
          </a:p>
        </p:txBody>
      </p:sp>
      <p:sp>
        <p:nvSpPr>
          <p:cNvPr id="10" name="">
            <a:extLst xmlns:a="http://schemas.openxmlformats.org/drawingml/2006/main">
              <a:ext uri="{FF2B5EF4-FFF2-40B4-BE49-F238E27FC236}">
                <a16:creationId xmlns:a16="http://schemas.microsoft.com/office/drawing/2014/main" id="{050F78D4-9BDA-4825-A948-682E41BB02CA}"/>
              </a:ext>
            </a:extLst>
          </p:cNvPr>
          <p:cNvSpPr>
            <a:spLocks xmlns:a="http://schemas.openxmlformats.org/drawingml/2006/main" noGrp="1"/>
          </p:cNvSpPr>
          <p:nvPr/>
        </p:nvSpPr>
        <p:spPr>
          <a:xfrm xmlns:a="http://schemas.openxmlformats.org/drawingml/2006/main">
            <a:off x="685800" y="6457950"/>
            <a:ext cx="1009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75" b="0" i="0">
                <a:solidFill>
                  <a:srgbClr val="71808A"/>
                </a:solidFill>
                <a:latin typeface="DejaVu Sans"/>
                <a:ea typeface="DejaVu Sans"/>
                <a:cs typeface="DejaVu Sans"/>
              </a:defRPr>
            </a:defPPr>
          </a:lstStyle>
          <a:p xmlns:a="http://schemas.openxmlformats.org/drawingml/2006/main">
            <a:pPr algn="l">
              <a:defRPr sz="675" b="0" i="0">
                <a:solidFill>
                  <a:srgbClr val="71808A"/>
                </a:solidFill>
                <a:latin typeface="DejaVu Sans"/>
                <a:ea typeface="DejaVu Sans"/>
                <a:cs typeface="DejaVu Sans"/>
              </a:defRPr>
            </a:pPr>
            <a:r>
              <a:rPr sz="675" b="0" i="0">
                <a:solidFill>
                  <a:srgbClr val="71808A"/>
                </a:solidFill>
                <a:latin typeface="DejaVu Sans"/>
                <a:ea typeface="DejaVu Sans"/>
                <a:cs typeface="DejaVu Sans"/>
              </a:rPr>
              <a:t>Jones et al. 1998; Srinivas et al. 2010; Wang and Jegelka 2017; Ament et al. 2023</a:t>
            </a:r>
          </a:p>
        </p:txBody>
      </p:sp>
      <p:sp>
        <p:nvSpPr>
          <p:cNvPr id="11" name="">
            <a:extLst xmlns:a="http://schemas.openxmlformats.org/drawingml/2006/main">
              <a:ext uri="{FF2B5EF4-FFF2-40B4-BE49-F238E27FC236}">
                <a16:creationId xmlns:a16="http://schemas.microsoft.com/office/drawing/2014/main" id="{7901F616-5A21-45A0-9D13-537056A5CBE3}"/>
              </a:ext>
            </a:extLst>
          </p:cNvPr>
          <p:cNvSpPr>
            <a:spLocks xmlns:a="http://schemas.openxmlformats.org/drawingml/2006/main" noGrp="1"/>
          </p:cNvSpPr>
          <p:nvPr/>
        </p:nvSpPr>
        <p:spPr>
          <a:xfrm xmlns:a="http://schemas.openxmlformats.org/drawingml/2006/main">
            <a:off x="11049000" y="6419850"/>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i="0">
                <a:solidFill>
                  <a:srgbClr val="71808A"/>
                </a:solidFill>
                <a:latin typeface="DejaVu Sans"/>
                <a:ea typeface="DejaVu Sans"/>
                <a:cs typeface="DejaVu Sans"/>
              </a:defRPr>
            </a:defPPr>
          </a:lstStyle>
          <a:p xmlns:a="http://schemas.openxmlformats.org/drawingml/2006/main">
            <a:pPr algn="r">
              <a:defRPr sz="825" b="1" i="0">
                <a:solidFill>
                  <a:srgbClr val="71808A"/>
                </a:solidFill>
                <a:latin typeface="DejaVu Sans"/>
                <a:ea typeface="DejaVu Sans"/>
                <a:cs typeface="DejaVu Sans"/>
              </a:defRPr>
            </a:pPr>
            <a:r>
              <a:rPr sz="825" b="1" i="0">
                <a:solidFill>
                  <a:srgbClr val="71808A"/>
                </a:solidFill>
                <a:latin typeface="DejaVu Sans"/>
                <a:ea typeface="DejaVu Sans"/>
                <a:cs typeface="DejaVu Sans"/>
              </a:rPr>
              <a:t>05</a:t>
            </a:r>
          </a:p>
        </p:txBody>
      </p:sp>
    </p:spTree>
    <p:extLst>
      <p:ext uri="{BB962C8B-B14F-4D97-AF65-F5344CB8AC3E}">
        <p14:creationId xmlns:p14="http://schemas.microsoft.com/office/powerpoint/2010/main" val="775408521"/>
      </p:ext>
    </p:extLst>
  </p:cSld>
</p:sld>
</file>

<file path=ppt/slides/slide6.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B9C8CC5-C67C-4426-B4E3-06F76F7C7ADE}"/>
              </a:ext>
            </a:extLst>
          </p:cNvPr>
          <p:cNvSpPr>
            <a:spLocks xmlns:a="http://schemas.openxmlformats.org/drawingml/2006/main" noGrp="1"/>
          </p:cNvSpPr>
          <p:nvPr/>
        </p:nvSpPr>
        <p:spPr>
          <a:xfrm xmlns:a="http://schemas.openxmlformats.org/drawingml/2006/main">
            <a:off x="685800" y="4000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i="0">
                <a:solidFill>
                  <a:srgbClr val="0B1F33"/>
                </a:solidFill>
                <a:latin typeface="DejaVu Sans"/>
                <a:ea typeface="DejaVu Sans"/>
                <a:cs typeface="DejaVu Sans"/>
              </a:defRPr>
            </a:defPPr>
          </a:lstStyle>
          <a:p xmlns:a="http://schemas.openxmlformats.org/drawingml/2006/main">
            <a:pPr algn="l">
              <a:defRPr sz="2550" b="1" i="0">
                <a:solidFill>
                  <a:srgbClr val="0B1F33"/>
                </a:solidFill>
                <a:latin typeface="DejaVu Sans"/>
                <a:ea typeface="DejaVu Sans"/>
                <a:cs typeface="DejaVu Sans"/>
              </a:defRPr>
            </a:pPr>
            <a:r>
              <a:rPr sz="2550" b="1" i="0">
                <a:solidFill>
                  <a:srgbClr val="0B1F33"/>
                </a:solidFill>
                <a:latin typeface="DejaVu Sans"/>
                <a:ea typeface="DejaVu Sans"/>
                <a:cs typeface="DejaVu Sans"/>
              </a:rPr>
              <a:t>GP hyperparameters shape downstream decisions</a:t>
            </a:r>
          </a:p>
        </p:txBody>
      </p:sp>
      <p:sp>
        <p:nvSpPr>
          <p:cNvPr id="2" name="">
            <a:extLst xmlns:a="http://schemas.openxmlformats.org/drawingml/2006/main">
              <a:ext uri="{FF2B5EF4-FFF2-40B4-BE49-F238E27FC236}">
                <a16:creationId xmlns:a16="http://schemas.microsoft.com/office/drawing/2014/main" id="{C1A3C117-8635-49FB-8F52-5D93C93349EE}"/>
              </a:ext>
            </a:extLst>
          </p:cNvPr>
          <p:cNvSpPr>
            <a:spLocks xmlns:a="http://schemas.openxmlformats.org/drawingml/2006/main" noGrp="1"/>
          </p:cNvSpPr>
          <p:nvPr/>
        </p:nvSpPr>
        <p:spPr>
          <a:xfrm xmlns:a="http://schemas.openxmlformats.org/drawingml/2006/main">
            <a:off x="704850" y="971550"/>
            <a:ext cx="1028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0" i="0">
                <a:solidFill>
                  <a:srgbClr val="5D6A72"/>
                </a:solidFill>
                <a:latin typeface="DejaVu Sans"/>
                <a:ea typeface="DejaVu Sans"/>
                <a:cs typeface="DejaVu Sans"/>
              </a:defRPr>
            </a:defPPr>
          </a:lstStyle>
          <a:p xmlns:a="http://schemas.openxmlformats.org/drawingml/2006/main">
            <a:pPr algn="l">
              <a:defRPr sz="1275" b="0" i="0">
                <a:solidFill>
                  <a:srgbClr val="5D6A72"/>
                </a:solidFill>
                <a:latin typeface="DejaVu Sans"/>
                <a:ea typeface="DejaVu Sans"/>
                <a:cs typeface="DejaVu Sans"/>
              </a:defRPr>
            </a:pPr>
            <a:r>
              <a:rPr sz="1275" b="0" i="0">
                <a:solidFill>
                  <a:srgbClr val="5D6A72"/>
                </a:solidFill>
                <a:latin typeface="DejaVu Sans"/>
                <a:ea typeface="DejaVu Sans"/>
                <a:cs typeface="DejaVu Sans"/>
              </a:rPr>
              <a:t>Posterior confidence depends on the model assumptions, not only on the observations</a:t>
            </a:r>
          </a:p>
        </p:txBody>
      </p:sp>
      <p:sp>
        <p:nvSpPr>
          <p:cNvPr id="3" name="">
            <a:extLst xmlns:a="http://schemas.openxmlformats.org/drawingml/2006/main">
              <a:ext uri="{FF2B5EF4-FFF2-40B4-BE49-F238E27FC236}">
                <a16:creationId xmlns:a16="http://schemas.microsoft.com/office/drawing/2014/main" id="{9734FBDC-464D-42FF-861C-7988C944C22C}"/>
              </a:ext>
            </a:extLst>
          </p:cNvPr>
          <p:cNvSpPr>
            <a:spLocks xmlns:a="http://schemas.openxmlformats.org/drawingml/2006/main" noGrp="1"/>
          </p:cNvSpPr>
          <p:nvPr/>
        </p:nvSpPr>
        <p:spPr>
          <a:xfrm xmlns:a="http://schemas.openxmlformats.org/drawingml/2006/main">
            <a:off x="723900" y="1381125"/>
            <a:ext cx="3667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025" b="1" i="0">
                <a:solidFill>
                  <a:srgbClr val="218C7E"/>
                </a:solidFill>
                <a:latin typeface="DejaVu Sans"/>
                <a:ea typeface="DejaVu Sans"/>
                <a:cs typeface="DejaVu Sans"/>
              </a:defRPr>
            </a:defPPr>
          </a:lstStyle>
          <a:p xmlns:a="http://schemas.openxmlformats.org/drawingml/2006/main">
            <a:pPr algn="l">
              <a:defRPr sz="2025" b="1" i="0">
                <a:solidFill>
                  <a:srgbClr val="218C7E"/>
                </a:solidFill>
                <a:latin typeface="DejaVu Sans"/>
                <a:ea typeface="DejaVu Sans"/>
                <a:cs typeface="DejaVu Sans"/>
              </a:defRPr>
            </a:pPr>
            <a:r>
              <a:rPr sz="2025" b="1" i="0">
                <a:solidFill>
                  <a:srgbClr val="218C7E"/>
                </a:solidFill>
                <a:latin typeface="DejaVu Sans"/>
                <a:ea typeface="DejaVu Sans"/>
                <a:cs typeface="DejaVu Sans"/>
              </a:rPr>
              <a:t>f ~ GP(m(x), k(x,x′))</a:t>
            </a:r>
          </a:p>
        </p:txBody>
      </p:sp>
      <p:sp>
        <p:nvSpPr>
          <p:cNvPr id="4" name="">
            <a:extLst xmlns:a="http://schemas.openxmlformats.org/drawingml/2006/main">
              <a:ext uri="{FF2B5EF4-FFF2-40B4-BE49-F238E27FC236}">
                <a16:creationId xmlns:a16="http://schemas.microsoft.com/office/drawing/2014/main" id="{00ADF5AA-03F2-4798-9FE8-9BABA7C90924}"/>
              </a:ext>
            </a:extLst>
          </p:cNvPr>
          <p:cNvSpPr>
            <a:spLocks xmlns:a="http://schemas.openxmlformats.org/drawingml/2006/main" noGrp="1"/>
          </p:cNvSpPr>
          <p:nvPr/>
        </p:nvSpPr>
        <p:spPr>
          <a:xfrm xmlns:a="http://schemas.openxmlformats.org/drawingml/2006/main">
            <a:off x="4762500" y="1381125"/>
            <a:ext cx="514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875" b="0" i="0">
                <a:solidFill>
                  <a:srgbClr val="0B1F33"/>
                </a:solidFill>
                <a:latin typeface="DejaVu Sans"/>
                <a:ea typeface="DejaVu Sans"/>
                <a:cs typeface="DejaVu Sans"/>
              </a:defRPr>
            </a:defPPr>
          </a:lstStyle>
          <a:p xmlns:a="http://schemas.openxmlformats.org/drawingml/2006/main">
            <a:pPr algn="l">
              <a:defRPr sz="1875" b="0" i="0">
                <a:solidFill>
                  <a:srgbClr val="0B1F33"/>
                </a:solidFill>
                <a:latin typeface="DejaVu Sans"/>
                <a:ea typeface="DejaVu Sans"/>
                <a:cs typeface="DejaVu Sans"/>
              </a:defRPr>
            </a:pPr>
            <a:r>
              <a:rPr sz="1875" b="0" i="0">
                <a:solidFill>
                  <a:srgbClr val="0B1F33"/>
                </a:solidFill>
                <a:latin typeface="DejaVu Sans"/>
                <a:ea typeface="DejaVu Sans"/>
                <a:cs typeface="DejaVu Sans"/>
              </a:rPr>
              <a:t>RBF: k(d) = σf² exp(−d² / 2ℓ²)</a:t>
            </a:r>
          </a:p>
        </p:txBody>
      </p:sp>
      <p:graphicFrame>
        <p:nvGraphicFramePr>
          <p:cNvPr id="5" name="">
            <a:extLst xmlns:a="http://schemas.openxmlformats.org/drawingml/2006/main">
              <a:ext uri="{FF2B5EF4-FFF2-40B4-BE49-F238E27FC236}">
                <a16:creationId xmlns:a16="http://schemas.microsoft.com/office/drawing/2014/main" id="{646E0A79-B8C7-40ED-9793-AF562914329C}"/>
              </a:ext>
            </a:extLst>
          </p:cNvPr>
          <p:cNvGraphicFramePr/>
          <p:nvPr/>
        </p:nvGraphicFramePr>
        <p:xfrm>
          <a:off xmlns:a="http://schemas.openxmlformats.org/drawingml/2006/main" x="685800" y="2047875"/>
          <a:ext xmlns:a="http://schemas.openxmlformats.org/drawingml/2006/main" cx="10820400" cy="3714750"/>
        </p:xfrm>
        <a:graphic xmlns:a="http://schemas.openxmlformats.org/drawingml/2006/main">
          <a:graphicData uri="http://schemas.openxmlformats.org/drawingml/2006/table">
            <a:tbl>
              <a:tblPr/>
              <a:tblGrid>
                <a:gridCol w="1952625"/>
                <a:gridCol w="3143250"/>
                <a:gridCol w="3143250"/>
                <a:gridCol w="2581275"/>
              </a:tblGrid>
              <a:tr h="476250">
                <a:tc>
                  <a:txBody>
                    <a:bodyPr/>
                    <a:lstStyle/>
                    <a:p>
                      <a:r>
                        <a:t>Choice</a:t>
                      </a:r>
                    </a:p>
                  </a:txBody>
                  <a:tcPr marL="91440" marR="91440" marT="45720" marB="45720"/>
                </a:tc>
                <a:tc>
                  <a:txBody>
                    <a:bodyPr/>
                    <a:lstStyle/>
                    <a:p>
                      <a:r>
                        <a:t>What it controls</a:t>
                      </a:r>
                    </a:p>
                  </a:txBody>
                  <a:tcPr marL="91440" marR="91440" marT="45720" marB="45720"/>
                </a:tc>
                <a:tc>
                  <a:txBody>
                    <a:bodyPr/>
                    <a:lstStyle/>
                    <a:p>
                      <a:r>
                        <a:t>Main failure mode</a:t>
                      </a:r>
                    </a:p>
                  </a:txBody>
                  <a:tcPr marL="91440" marR="91440" marT="45720" marB="45720"/>
                </a:tc>
                <a:tc>
                  <a:txBody>
                    <a:bodyPr/>
                    <a:lstStyle/>
                    <a:p>
                      <a:r>
                        <a:t>Practical check</a:t>
                      </a:r>
                    </a:p>
                  </a:txBody>
                  <a:tcPr marL="91440" marR="91440" marT="45720" marB="45720"/>
                </a:tc>
              </a:tr>
              <a:tr h="628650">
                <a:tc>
                  <a:txBody>
                    <a:bodyPr/>
                    <a:lstStyle/>
                    <a:p>
                      <a:r>
                        <a:t>Kernel family</a:t>
                      </a:r>
                    </a:p>
                  </a:txBody>
                  <a:tcPr marL="91440" marR="91440" marT="45720" marB="45720"/>
                </a:tc>
                <a:tc>
                  <a:txBody>
                    <a:bodyPr/>
                    <a:lstStyle/>
                    <a:p>
                      <a:r>
                        <a:t>Allowed smoothness and local shape</a:t>
                      </a:r>
                    </a:p>
                  </a:txBody>
                  <a:tcPr marL="91440" marR="91440" marT="45720" marB="45720"/>
                </a:tc>
                <a:tc>
                  <a:txBody>
                    <a:bodyPr/>
                    <a:lstStyle/>
                    <a:p>
                      <a:r>
                        <a:t>A smooth kernel can hide a narrow peak</a:t>
                      </a:r>
                    </a:p>
                  </a:txBody>
                  <a:tcPr marL="91440" marR="91440" marT="45720" marB="45720"/>
                </a:tc>
                <a:tc>
                  <a:txBody>
                    <a:bodyPr/>
                    <a:lstStyle/>
                    <a:p>
                      <a:r>
                        <a:t>Compare RBF and Matérn cases</a:t>
                      </a:r>
                    </a:p>
                  </a:txBody>
                  <a:tcPr marL="91440" marR="91440" marT="45720" marB="45720"/>
                </a:tc>
              </a:tr>
              <a:tr h="628650">
                <a:tc>
                  <a:txBody>
                    <a:bodyPr/>
                    <a:lstStyle/>
                    <a:p>
                      <a:r>
                        <a:t>Length scale ℓ</a:t>
                      </a:r>
                    </a:p>
                  </a:txBody>
                  <a:tcPr marL="91440" marR="91440" marT="45720" marB="45720"/>
                </a:tc>
                <a:tc>
                  <a:txBody>
                    <a:bodyPr/>
                    <a:lstStyle/>
                    <a:p>
                      <a:r>
                        <a:t>How far one observation influences x</a:t>
                      </a:r>
                    </a:p>
                  </a:txBody>
                  <a:tcPr marL="91440" marR="91440" marT="45720" marB="45720"/>
                </a:tc>
                <a:tc>
                  <a:txBody>
                    <a:bodyPr/>
                    <a:lstStyle/>
                    <a:p>
                      <a:r>
                        <a:t>Large ℓ spreads false confidence</a:t>
                      </a:r>
                    </a:p>
                  </a:txBody>
                  <a:tcPr marL="91440" marR="91440" marT="45720" marB="45720"/>
                </a:tc>
                <a:tc>
                  <a:txBody>
                    <a:bodyPr/>
                    <a:lstStyle/>
                    <a:p>
                      <a:r>
                        <a:t>Stress test narrow peaks</a:t>
                      </a:r>
                    </a:p>
                  </a:txBody>
                  <a:tcPr marL="91440" marR="91440" marT="45720" marB="45720"/>
                </a:tc>
              </a:tr>
              <a:tr h="628650">
                <a:tc>
                  <a:txBody>
                    <a:bodyPr/>
                    <a:lstStyle/>
                    <a:p>
                      <a:r>
                        <a:t>Output scale σf²</a:t>
                      </a:r>
                    </a:p>
                  </a:txBody>
                  <a:tcPr marL="91440" marR="91440" marT="45720" marB="45720"/>
                </a:tc>
                <a:tc>
                  <a:txBody>
                    <a:bodyPr/>
                    <a:lstStyle/>
                    <a:p>
                      <a:r>
                        <a:t>Expected vertical variation</a:t>
                      </a:r>
                    </a:p>
                  </a:txBody>
                  <a:tcPr marL="91440" marR="91440" marT="45720" marB="45720"/>
                </a:tc>
                <a:tc>
                  <a:txBody>
                    <a:bodyPr/>
                    <a:lstStyle/>
                    <a:p>
                      <a:r>
                        <a:t>Wrong scale distorts uncertainty</a:t>
                      </a:r>
                    </a:p>
                  </a:txBody>
                  <a:tcPr marL="91440" marR="91440" marT="45720" marB="45720"/>
                </a:tc>
                <a:tc>
                  <a:txBody>
                    <a:bodyPr/>
                    <a:lstStyle/>
                    <a:p>
                      <a:r>
                        <a:t>Standardize y</a:t>
                      </a:r>
                    </a:p>
                  </a:txBody>
                  <a:tcPr marL="91440" marR="91440" marT="45720" marB="45720"/>
                </a:tc>
              </a:tr>
              <a:tr h="628650">
                <a:tc>
                  <a:txBody>
                    <a:bodyPr/>
                    <a:lstStyle/>
                    <a:p>
                      <a:r>
                        <a:t>Noise σn²</a:t>
                      </a:r>
                    </a:p>
                  </a:txBody>
                  <a:tcPr marL="91440" marR="91440" marT="45720" marB="45720"/>
                </a:tc>
                <a:tc>
                  <a:txBody>
                    <a:bodyPr/>
                    <a:lstStyle/>
                    <a:p>
                      <a:r>
                        <a:t>How strongly the GP trusts y</a:t>
                      </a:r>
                    </a:p>
                  </a:txBody>
                  <a:tcPr marL="91440" marR="91440" marT="45720" marB="45720"/>
                </a:tc>
                <a:tc>
                  <a:txBody>
                    <a:bodyPr/>
                    <a:lstStyle/>
                    <a:p>
                      <a:r>
                        <a:t>Noise and short-scale structure can be confused</a:t>
                      </a:r>
                    </a:p>
                  </a:txBody>
                  <a:tcPr marL="91440" marR="91440" marT="45720" marB="45720"/>
                </a:tc>
                <a:tc>
                  <a:txBody>
                    <a:bodyPr/>
                    <a:lstStyle/>
                    <a:p>
                      <a:r>
                        <a:t>Use repeats and residuals</a:t>
                      </a:r>
                    </a:p>
                  </a:txBody>
                  <a:tcPr marL="91440" marR="91440" marT="45720" marB="45720"/>
                </a:tc>
              </a:tr>
              <a:tr h="628650">
                <a:tc>
                  <a:txBody>
                    <a:bodyPr/>
                    <a:lstStyle/>
                    <a:p>
                      <a:r>
                        <a:t>Mean and ARD</a:t>
                      </a:r>
                    </a:p>
                  </a:txBody>
                  <a:tcPr marL="91440" marR="91440" marT="45720" marB="45720"/>
                </a:tc>
                <a:tc>
                  <a:txBody>
                    <a:bodyPr/>
                    <a:lstStyle/>
                    <a:p>
                      <a:r>
                        <a:t>Fallback level and dimension sensitivity</a:t>
                      </a:r>
                    </a:p>
                  </a:txBody>
                  <a:tcPr marL="91440" marR="91440" marT="45720" marB="45720"/>
                </a:tc>
                <a:tc>
                  <a:txBody>
                    <a:bodyPr/>
                    <a:lstStyle/>
                    <a:p>
                      <a:r>
                        <a:t>Units or prior level bias unseen regions</a:t>
                      </a:r>
                    </a:p>
                  </a:txBody>
                  <a:tcPr marL="91440" marR="91440" marT="45720" marB="45720"/>
                </a:tc>
                <a:tc>
                  <a:txBody>
                    <a:bodyPr/>
                    <a:lstStyle/>
                    <a:p>
                      <a:r>
                        <a:t>Normalize X and inspect ℓj</a:t>
                      </a:r>
                    </a:p>
                  </a:txBody>
                  <a:tcPr marL="91440" marR="91440" marT="45720" marB="45720"/>
                </a:tc>
              </a:tr>
            </a:tbl>
          </a:graphicData>
        </a:graphic>
      </p:graphicFrame>
      <p:sp>
        <p:nvSpPr>
          <p:cNvPr id="6" name="">
            <a:extLst xmlns:a="http://schemas.openxmlformats.org/drawingml/2006/main">
              <a:ext uri="{FF2B5EF4-FFF2-40B4-BE49-F238E27FC236}">
                <a16:creationId xmlns:a16="http://schemas.microsoft.com/office/drawing/2014/main" id="{2C7A59E5-DC82-4229-B83C-73014E41D739}"/>
              </a:ext>
            </a:extLst>
          </p:cNvPr>
          <p:cNvSpPr>
            <a:spLocks xmlns:a="http://schemas.openxmlformats.org/drawingml/2006/main" noGrp="1"/>
          </p:cNvSpPr>
          <p:nvPr/>
        </p:nvSpPr>
        <p:spPr>
          <a:xfrm xmlns:a="http://schemas.openxmlformats.org/drawingml/2006/main">
            <a:off x="685800" y="6457950"/>
            <a:ext cx="1009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75" b="0" i="0">
                <a:solidFill>
                  <a:srgbClr val="71808A"/>
                </a:solidFill>
                <a:latin typeface="DejaVu Sans"/>
                <a:ea typeface="DejaVu Sans"/>
                <a:cs typeface="DejaVu Sans"/>
              </a:defRPr>
            </a:defPPr>
          </a:lstStyle>
          <a:p xmlns:a="http://schemas.openxmlformats.org/drawingml/2006/main">
            <a:pPr algn="l">
              <a:defRPr sz="675" b="0" i="0">
                <a:solidFill>
                  <a:srgbClr val="71808A"/>
                </a:solidFill>
                <a:latin typeface="DejaVu Sans"/>
                <a:ea typeface="DejaVu Sans"/>
                <a:cs typeface="DejaVu Sans"/>
              </a:defRPr>
            </a:pPr>
            <a:r>
              <a:rPr sz="675" b="0" i="0">
                <a:solidFill>
                  <a:srgbClr val="71808A"/>
                </a:solidFill>
                <a:latin typeface="DejaVu Sans"/>
                <a:ea typeface="DejaVu Sans"/>
                <a:cs typeface="DejaVu Sans"/>
              </a:rPr>
              <a:t>Shahriari et al. 2016; Balandat et al. 2020; Ament et al. 2023</a:t>
            </a:r>
          </a:p>
        </p:txBody>
      </p:sp>
      <p:sp>
        <p:nvSpPr>
          <p:cNvPr id="7" name="">
            <a:extLst xmlns:a="http://schemas.openxmlformats.org/drawingml/2006/main">
              <a:ext uri="{FF2B5EF4-FFF2-40B4-BE49-F238E27FC236}">
                <a16:creationId xmlns:a16="http://schemas.microsoft.com/office/drawing/2014/main" id="{8E939527-82BE-44CC-BE90-727CC12485EF}"/>
              </a:ext>
            </a:extLst>
          </p:cNvPr>
          <p:cNvSpPr>
            <a:spLocks xmlns:a="http://schemas.openxmlformats.org/drawingml/2006/main" noGrp="1"/>
          </p:cNvSpPr>
          <p:nvPr/>
        </p:nvSpPr>
        <p:spPr>
          <a:xfrm xmlns:a="http://schemas.openxmlformats.org/drawingml/2006/main">
            <a:off x="11049000" y="6419850"/>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i="0">
                <a:solidFill>
                  <a:srgbClr val="71808A"/>
                </a:solidFill>
                <a:latin typeface="DejaVu Sans"/>
                <a:ea typeface="DejaVu Sans"/>
                <a:cs typeface="DejaVu Sans"/>
              </a:defRPr>
            </a:defPPr>
          </a:lstStyle>
          <a:p xmlns:a="http://schemas.openxmlformats.org/drawingml/2006/main">
            <a:pPr algn="r">
              <a:defRPr sz="825" b="1" i="0">
                <a:solidFill>
                  <a:srgbClr val="71808A"/>
                </a:solidFill>
                <a:latin typeface="DejaVu Sans"/>
                <a:ea typeface="DejaVu Sans"/>
                <a:cs typeface="DejaVu Sans"/>
              </a:defRPr>
            </a:pPr>
            <a:r>
              <a:rPr sz="825" b="1" i="0">
                <a:solidFill>
                  <a:srgbClr val="71808A"/>
                </a:solidFill>
                <a:latin typeface="DejaVu Sans"/>
                <a:ea typeface="DejaVu Sans"/>
                <a:cs typeface="DejaVu Sans"/>
              </a:rPr>
              <a:t>06</a:t>
            </a:r>
          </a:p>
        </p:txBody>
      </p:sp>
    </p:spTree>
    <p:extLst>
      <p:ext uri="{BB962C8B-B14F-4D97-AF65-F5344CB8AC3E}">
        <p14:creationId xmlns:p14="http://schemas.microsoft.com/office/powerpoint/2010/main" val="2119280306"/>
      </p:ext>
    </p:extLst>
  </p:cSld>
</p:sld>
</file>

<file path=ppt/slides/slide7.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A60981D-2F79-4BC1-84FB-DEE39668A097}"/>
              </a:ext>
            </a:extLst>
          </p:cNvPr>
          <p:cNvSpPr>
            <a:spLocks xmlns:a="http://schemas.openxmlformats.org/drawingml/2006/main" noGrp="1"/>
          </p:cNvSpPr>
          <p:nvPr/>
        </p:nvSpPr>
        <p:spPr>
          <a:xfrm xmlns:a="http://schemas.openxmlformats.org/drawingml/2006/main">
            <a:off x="685800" y="4000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i="0">
                <a:solidFill>
                  <a:srgbClr val="0B1F33"/>
                </a:solidFill>
                <a:latin typeface="DejaVu Sans"/>
                <a:ea typeface="DejaVu Sans"/>
                <a:cs typeface="DejaVu Sans"/>
              </a:defRPr>
            </a:defPPr>
          </a:lstStyle>
          <a:p xmlns:a="http://schemas.openxmlformats.org/drawingml/2006/main">
            <a:pPr algn="l">
              <a:defRPr sz="2550" b="1" i="0">
                <a:solidFill>
                  <a:srgbClr val="0B1F33"/>
                </a:solidFill>
                <a:latin typeface="DejaVu Sans"/>
                <a:ea typeface="DejaVu Sans"/>
                <a:cs typeface="DejaVu Sans"/>
              </a:defRPr>
            </a:pPr>
            <a:r>
              <a:rPr sz="2550" b="1" i="0">
                <a:solidFill>
                  <a:srgbClr val="0B1F33"/>
                </a:solidFill>
                <a:latin typeface="DejaVu Sans"/>
                <a:ea typeface="DejaVu Sans"/>
                <a:cs typeface="DejaVu Sans"/>
              </a:rPr>
              <a:t>Length scale can cause a premature stop</a:t>
            </a:r>
          </a:p>
        </p:txBody>
      </p:sp>
      <p:sp>
        <p:nvSpPr>
          <p:cNvPr id="2" name="">
            <a:extLst xmlns:a="http://schemas.openxmlformats.org/drawingml/2006/main">
              <a:ext uri="{FF2B5EF4-FFF2-40B4-BE49-F238E27FC236}">
                <a16:creationId xmlns:a16="http://schemas.microsoft.com/office/drawing/2014/main" id="{6AA53712-B25A-4CD1-A2BE-7F8DACDF6F79}"/>
              </a:ext>
            </a:extLst>
          </p:cNvPr>
          <p:cNvSpPr>
            <a:spLocks xmlns:a="http://schemas.openxmlformats.org/drawingml/2006/main" noGrp="1"/>
          </p:cNvSpPr>
          <p:nvPr/>
        </p:nvSpPr>
        <p:spPr>
          <a:xfrm xmlns:a="http://schemas.openxmlformats.org/drawingml/2006/main">
            <a:off x="704850" y="971550"/>
            <a:ext cx="1028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0" i="0">
                <a:solidFill>
                  <a:srgbClr val="5D6A72"/>
                </a:solidFill>
                <a:latin typeface="DejaVu Sans"/>
                <a:ea typeface="DejaVu Sans"/>
                <a:cs typeface="DejaVu Sans"/>
              </a:defRPr>
            </a:defPPr>
          </a:lstStyle>
          <a:p xmlns:a="http://schemas.openxmlformats.org/drawingml/2006/main">
            <a:pPr algn="l">
              <a:defRPr sz="1275" b="0" i="0">
                <a:solidFill>
                  <a:srgbClr val="5D6A72"/>
                </a:solidFill>
                <a:latin typeface="DejaVu Sans"/>
                <a:ea typeface="DejaVu Sans"/>
                <a:cs typeface="DejaVu Sans"/>
              </a:defRPr>
            </a:pPr>
            <a:r>
              <a:rPr sz="1275" b="0" i="0">
                <a:solidFill>
                  <a:srgbClr val="5D6A72"/>
                </a:solidFill>
                <a:latin typeface="DejaVu Sans"/>
                <a:ea typeface="DejaVu Sans"/>
                <a:cs typeface="DejaVu Sans"/>
              </a:rPr>
              <a:t>The same physical distance can imply very different posterior confidence</a:t>
            </a:r>
          </a:p>
        </p:txBody>
      </p:sp>
      <p:graphicFrame>
        <p:nvGraphicFramePr>
          <p:cNvPr id="3" name="Chart">
            <a:extLst xmlns:a="http://schemas.openxmlformats.org/drawingml/2006/main">
              <a:ext uri="{FF2B5EF4-FFF2-40B4-BE49-F238E27FC236}">
                <a16:creationId xmlns:a16="http://schemas.microsoft.com/office/drawing/2014/main" id="{2B3AD685-87BD-41CC-87BB-C86853A604A0}"/>
              </a:ext>
            </a:extLst>
          </p:cNvPr>
          <p:cNvGraphicFramePr/>
          <p:nvPr/>
        </p:nvGraphicFramePr>
        <p:xfrm>
          <a:off xmlns:a="http://schemas.openxmlformats.org/drawingml/2006/main" x="685800" y="1524000"/>
          <a:ext xmlns:a="http://schemas.openxmlformats.org/drawingml/2006/main" cx="6286500" cy="4000500"/>
        </p:xfrm>
        <a:graphic xmlns:a="http://schemas.openxmlformats.org/drawingml/2006/main">
          <a:graphicData uri="http://schemas.openxmlformats.org/drawingml/2006/chart">
            <c:chart xmlns:r="http://schemas.openxmlformats.org/officeDocument/2006/relationships" xmlns:c="http://schemas.openxmlformats.org/drawingml/2006/chart" r:id="R064eaf9dd43a4942"/>
          </a:graphicData>
        </a:graphic>
      </p:graphicFrame>
      <p:sp>
        <p:nvSpPr>
          <p:cNvPr id="4" name="">
            <a:extLst xmlns:a="http://schemas.openxmlformats.org/drawingml/2006/main">
              <a:ext uri="{FF2B5EF4-FFF2-40B4-BE49-F238E27FC236}">
                <a16:creationId xmlns:a16="http://schemas.microsoft.com/office/drawing/2014/main" id="{3652E198-818F-41BC-93D5-F3C87564A70F}"/>
              </a:ext>
            </a:extLst>
          </p:cNvPr>
          <p:cNvSpPr>
            <a:spLocks xmlns:a="http://schemas.openxmlformats.org/drawingml/2006/main" noGrp="1"/>
          </p:cNvSpPr>
          <p:nvPr/>
        </p:nvSpPr>
        <p:spPr>
          <a:xfrm xmlns:a="http://schemas.openxmlformats.org/drawingml/2006/main">
            <a:off x="7667625" y="1571625"/>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350" b="1" i="0">
                <a:solidFill>
                  <a:srgbClr val="0B1F33"/>
                </a:solidFill>
                <a:latin typeface="DejaVu Sans"/>
                <a:ea typeface="DejaVu Sans"/>
                <a:cs typeface="DejaVu Sans"/>
              </a:defRPr>
            </a:defPPr>
          </a:lstStyle>
          <a:p xmlns:a="http://schemas.openxmlformats.org/drawingml/2006/main">
            <a:pPr algn="ctr">
              <a:defRPr sz="1350" b="1" i="0">
                <a:solidFill>
                  <a:srgbClr val="0B1F33"/>
                </a:solidFill>
                <a:latin typeface="DejaVu Sans"/>
                <a:ea typeface="DejaVu Sans"/>
                <a:cs typeface="DejaVu Sans"/>
              </a:defRPr>
            </a:pPr>
            <a:r>
              <a:rPr sz="1350" b="1" i="0">
                <a:solidFill>
                  <a:srgbClr val="0B1F33"/>
                </a:solidFill>
                <a:latin typeface="DejaVu Sans"/>
                <a:ea typeface="DejaVu Sans"/>
                <a:cs typeface="DejaVu Sans"/>
              </a:rPr>
              <a:t>At d = 0.2</a:t>
            </a:r>
          </a:p>
        </p:txBody>
      </p:sp>
      <p:sp>
        <p:nvSpPr>
          <p:cNvPr id="5" name="">
            <a:extLst xmlns:a="http://schemas.openxmlformats.org/drawingml/2006/main">
              <a:ext uri="{FF2B5EF4-FFF2-40B4-BE49-F238E27FC236}">
                <a16:creationId xmlns:a16="http://schemas.microsoft.com/office/drawing/2014/main" id="{BBBDD8FD-16FF-4AC1-A215-F665F539EEAD}"/>
              </a:ext>
            </a:extLst>
          </p:cNvPr>
          <p:cNvSpPr>
            <a:spLocks xmlns:a="http://schemas.openxmlformats.org/drawingml/2006/main" noGrp="1"/>
          </p:cNvSpPr>
          <p:nvPr/>
        </p:nvSpPr>
        <p:spPr>
          <a:xfrm xmlns:a="http://schemas.openxmlformats.org/drawingml/2006/main">
            <a:off x="7477125" y="2047875"/>
            <a:ext cx="37147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650" b="0" i="0">
                <a:solidFill>
                  <a:srgbClr val="122536"/>
                </a:solidFill>
                <a:latin typeface="DejaVu Sans"/>
                <a:ea typeface="DejaVu Sans"/>
                <a:cs typeface="DejaVu Sans"/>
              </a:defRPr>
            </a:defPPr>
          </a:lstStyle>
          <a:p xmlns:a="http://schemas.openxmlformats.org/drawingml/2006/main">
            <a:pPr algn="ctr">
              <a:defRPr sz="1650" b="0" i="0">
                <a:solidFill>
                  <a:srgbClr val="122536"/>
                </a:solidFill>
                <a:latin typeface="DejaVu Sans"/>
                <a:ea typeface="DejaVu Sans"/>
                <a:cs typeface="DejaVu Sans"/>
              </a:defRPr>
            </a:pPr>
            <a:r>
              <a:rPr sz="1650" b="0" i="0">
                <a:solidFill>
                  <a:srgbClr val="122536"/>
                </a:solidFill>
                <a:latin typeface="DejaVu Sans"/>
                <a:ea typeface="DejaVu Sans"/>
                <a:cs typeface="DejaVu Sans"/>
              </a:rPr>
              <a:t>ℓ = 0.1     ρ = 0.135</a:t>
            </a:r>
          </a:p>
          <a:p xmlns:a="http://schemas.openxmlformats.org/drawingml/2006/main">
            <a:pPr algn="ctr">
              <a:defRPr sz="1650" b="0" i="0">
                <a:solidFill>
                  <a:srgbClr val="122536"/>
                </a:solidFill>
                <a:latin typeface="DejaVu Sans"/>
                <a:ea typeface="DejaVu Sans"/>
                <a:cs typeface="DejaVu Sans"/>
              </a:defRPr>
            </a:pPr>
            <a:r>
              <a:rPr sz="1650" b="0" i="0">
                <a:solidFill>
                  <a:srgbClr val="122536"/>
                </a:solidFill>
                <a:latin typeface="DejaVu Sans"/>
                <a:ea typeface="DejaVu Sans"/>
                <a:cs typeface="DejaVu Sans"/>
              </a:rPr>
              <a:t>ℓ = 0.2     ρ = 0.607</a:t>
            </a:r>
          </a:p>
          <a:p xmlns:a="http://schemas.openxmlformats.org/drawingml/2006/main">
            <a:pPr algn="ctr">
              <a:defRPr sz="1650" b="0" i="0">
                <a:solidFill>
                  <a:srgbClr val="122536"/>
                </a:solidFill>
                <a:latin typeface="DejaVu Sans"/>
                <a:ea typeface="DejaVu Sans"/>
                <a:cs typeface="DejaVu Sans"/>
              </a:defRPr>
            </a:pPr>
            <a:r>
              <a:rPr sz="1650" b="0" i="0">
                <a:solidFill>
                  <a:srgbClr val="122536"/>
                </a:solidFill>
                <a:latin typeface="DejaVu Sans"/>
                <a:ea typeface="DejaVu Sans"/>
                <a:cs typeface="DejaVu Sans"/>
              </a:rPr>
              <a:t>ℓ = 0.5     ρ = 0.923</a:t>
            </a:r>
          </a:p>
        </p:txBody>
      </p:sp>
      <p:sp>
        <p:nvSpPr>
          <p:cNvPr id="6" name="">
            <a:extLst xmlns:a="http://schemas.openxmlformats.org/drawingml/2006/main">
              <a:ext uri="{FF2B5EF4-FFF2-40B4-BE49-F238E27FC236}">
                <a16:creationId xmlns:a16="http://schemas.microsoft.com/office/drawing/2014/main" id="{D433350E-2DF9-4BA7-9717-FA74B8FCA525}"/>
              </a:ext>
            </a:extLst>
          </p:cNvPr>
          <p:cNvSpPr>
            <a:spLocks xmlns:a="http://schemas.openxmlformats.org/drawingml/2006/main" noGrp="1"/>
          </p:cNvSpPr>
          <p:nvPr/>
        </p:nvSpPr>
        <p:spPr>
          <a:xfrm xmlns:a="http://schemas.openxmlformats.org/drawingml/2006/main">
            <a:off x="7620000" y="361950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350" b="1" i="0">
                <a:solidFill>
                  <a:srgbClr val="E76F51"/>
                </a:solidFill>
                <a:latin typeface="DejaVu Sans"/>
                <a:ea typeface="DejaVu Sans"/>
                <a:cs typeface="DejaVu Sans"/>
              </a:defRPr>
            </a:defPPr>
          </a:lstStyle>
          <a:p xmlns:a="http://schemas.openxmlformats.org/drawingml/2006/main">
            <a:pPr algn="ctr">
              <a:defRPr sz="1350" b="1" i="0">
                <a:solidFill>
                  <a:srgbClr val="E76F51"/>
                </a:solidFill>
                <a:latin typeface="DejaVu Sans"/>
                <a:ea typeface="DejaVu Sans"/>
                <a:cs typeface="DejaVu Sans"/>
              </a:defRPr>
            </a:pPr>
            <a:r>
              <a:rPr sz="1350" b="1" i="0">
                <a:solidFill>
                  <a:srgbClr val="E76F51"/>
                </a:solidFill>
                <a:latin typeface="DejaVu Sans"/>
                <a:ea typeface="DejaVu Sans"/>
                <a:cs typeface="DejaVu Sans"/>
              </a:rPr>
              <a:t>Failure mechanism</a:t>
            </a:r>
          </a:p>
        </p:txBody>
      </p:sp>
      <p:sp>
        <p:nvSpPr>
          <p:cNvPr id="7" name="">
            <a:extLst xmlns:a="http://schemas.openxmlformats.org/drawingml/2006/main">
              <a:ext uri="{FF2B5EF4-FFF2-40B4-BE49-F238E27FC236}">
                <a16:creationId xmlns:a16="http://schemas.microsoft.com/office/drawing/2014/main" id="{F4F71045-84D6-475E-980B-32B2395EC22B}"/>
              </a:ext>
            </a:extLst>
          </p:cNvPr>
          <p:cNvSpPr>
            <a:spLocks xmlns:a="http://schemas.openxmlformats.org/drawingml/2006/main" noGrp="1"/>
          </p:cNvSpPr>
          <p:nvPr/>
        </p:nvSpPr>
        <p:spPr>
          <a:xfrm xmlns:a="http://schemas.openxmlformats.org/drawingml/2006/main">
            <a:off x="7524750" y="4048125"/>
            <a:ext cx="34290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500" b="1" i="0">
                <a:solidFill>
                  <a:srgbClr val="0B1F33"/>
                </a:solidFill>
                <a:latin typeface="DejaVu Sans"/>
                <a:ea typeface="DejaVu Sans"/>
                <a:cs typeface="DejaVu Sans"/>
              </a:defRPr>
            </a:defPPr>
          </a:lstStyle>
          <a:p xmlns:a="http://schemas.openxmlformats.org/drawingml/2006/main">
            <a:pPr algn="ctr">
              <a:defRPr sz="1500" b="1" i="0">
                <a:solidFill>
                  <a:srgbClr val="0B1F33"/>
                </a:solidFill>
                <a:latin typeface="DejaVu Sans"/>
                <a:ea typeface="DejaVu Sans"/>
                <a:cs typeface="DejaVu Sans"/>
              </a:defRPr>
            </a:pPr>
            <a:r>
              <a:rPr sz="1500" b="1" i="0">
                <a:solidFill>
                  <a:srgbClr val="0B1F33"/>
                </a:solidFill>
                <a:latin typeface="DejaVu Sans"/>
                <a:ea typeface="DejaVu Sans"/>
                <a:cs typeface="DejaVu Sans"/>
              </a:rPr>
              <a:t>Overestimated ℓ</a:t>
            </a:r>
          </a:p>
          <a:p xmlns:a="http://schemas.openxmlformats.org/drawingml/2006/main">
            <a:pPr algn="ctr">
              <a:defRPr sz="1500" b="1" i="0">
                <a:solidFill>
                  <a:srgbClr val="0B1F33"/>
                </a:solidFill>
                <a:latin typeface="DejaVu Sans"/>
                <a:ea typeface="DejaVu Sans"/>
                <a:cs typeface="DejaVu Sans"/>
              </a:defRPr>
            </a:pPr>
            <a:r>
              <a:rPr sz="1500" b="1" i="0">
                <a:solidFill>
                  <a:srgbClr val="0B1F33"/>
                </a:solidFill>
                <a:latin typeface="DejaVu Sans"/>
                <a:ea typeface="DejaVu Sans"/>
                <a:cs typeface="DejaVu Sans"/>
              </a:rPr>
              <a:t>Confidence spreads too far</a:t>
            </a:r>
          </a:p>
          <a:p xmlns:a="http://schemas.openxmlformats.org/drawingml/2006/main">
            <a:pPr algn="ctr">
              <a:defRPr sz="1500" b="1" i="0">
                <a:solidFill>
                  <a:srgbClr val="0B1F33"/>
                </a:solidFill>
                <a:latin typeface="DejaVu Sans"/>
                <a:ea typeface="DejaVu Sans"/>
                <a:cs typeface="DejaVu Sans"/>
              </a:defRPr>
            </a:pPr>
            <a:r>
              <a:rPr sz="1500" b="1" i="0">
                <a:solidFill>
                  <a:srgbClr val="0B1F33"/>
                </a:solidFill>
                <a:latin typeface="DejaVu Sans"/>
                <a:ea typeface="DejaVu Sans"/>
                <a:cs typeface="DejaVu Sans"/>
              </a:rPr>
              <a:t>Acquisition values shrink</a:t>
            </a:r>
          </a:p>
          <a:p xmlns:a="http://schemas.openxmlformats.org/drawingml/2006/main">
            <a:pPr algn="ctr">
              <a:defRPr sz="1500" b="1" i="0">
                <a:solidFill>
                  <a:srgbClr val="0B1F33"/>
                </a:solidFill>
                <a:latin typeface="DejaVu Sans"/>
                <a:ea typeface="DejaVu Sans"/>
                <a:cs typeface="DejaVu Sans"/>
              </a:defRPr>
            </a:pPr>
            <a:r>
              <a:rPr sz="1500" b="1" i="0">
                <a:solidFill>
                  <a:srgbClr val="0B1F33"/>
                </a:solidFill>
                <a:latin typeface="DejaVu Sans"/>
                <a:ea typeface="DejaVu Sans"/>
                <a:cs typeface="DejaVu Sans"/>
              </a:rPr>
              <a:t>Stopping rule misses a narrow peak</a:t>
            </a:r>
          </a:p>
        </p:txBody>
      </p:sp>
      <p:sp>
        <p:nvSpPr>
          <p:cNvPr id="8" name="">
            <a:extLst xmlns:a="http://schemas.openxmlformats.org/drawingml/2006/main">
              <a:ext uri="{FF2B5EF4-FFF2-40B4-BE49-F238E27FC236}">
                <a16:creationId xmlns:a16="http://schemas.microsoft.com/office/drawing/2014/main" id="{00BF16C6-47AA-4733-998E-6EEE922AB653}"/>
              </a:ext>
            </a:extLst>
          </p:cNvPr>
          <p:cNvSpPr>
            <a:spLocks xmlns:a="http://schemas.openxmlformats.org/drawingml/2006/main" noGrp="1"/>
          </p:cNvSpPr>
          <p:nvPr/>
        </p:nvSpPr>
        <p:spPr>
          <a:xfrm xmlns:a="http://schemas.openxmlformats.org/drawingml/2006/main">
            <a:off x="1619250" y="5810250"/>
            <a:ext cx="895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350" b="0" i="0">
                <a:solidFill>
                  <a:srgbClr val="5D6A72"/>
                </a:solidFill>
                <a:latin typeface="DejaVu Sans"/>
                <a:ea typeface="DejaVu Sans"/>
                <a:cs typeface="DejaVu Sans"/>
              </a:defRPr>
            </a:defPPr>
          </a:lstStyle>
          <a:p xmlns:a="http://schemas.openxmlformats.org/drawingml/2006/main">
            <a:pPr algn="ctr">
              <a:defRPr sz="1350" b="0" i="0">
                <a:solidFill>
                  <a:srgbClr val="5D6A72"/>
                </a:solidFill>
                <a:latin typeface="DejaVu Sans"/>
                <a:ea typeface="DejaVu Sans"/>
                <a:cs typeface="DejaVu Sans"/>
              </a:defRPr>
            </a:pPr>
            <a:r>
              <a:rPr sz="1350" b="0" i="0">
                <a:solidFill>
                  <a:srgbClr val="5D6A72"/>
                </a:solidFill>
                <a:latin typeface="DejaVu Sans"/>
                <a:ea typeface="DejaVu Sans"/>
                <a:cs typeface="DejaVu Sans"/>
              </a:rPr>
              <a:t>A small ℓ usually delays stopping because uncertainty returns quickly between observations.</a:t>
            </a:r>
          </a:p>
        </p:txBody>
      </p:sp>
      <p:sp>
        <p:nvSpPr>
          <p:cNvPr id="9" name="">
            <a:extLst xmlns:a="http://schemas.openxmlformats.org/drawingml/2006/main">
              <a:ext uri="{FF2B5EF4-FFF2-40B4-BE49-F238E27FC236}">
                <a16:creationId xmlns:a16="http://schemas.microsoft.com/office/drawing/2014/main" id="{474325E9-8BF2-4CB4-82DD-3B6AB6C66039}"/>
              </a:ext>
            </a:extLst>
          </p:cNvPr>
          <p:cNvSpPr>
            <a:spLocks xmlns:a="http://schemas.openxmlformats.org/drawingml/2006/main" noGrp="1"/>
          </p:cNvSpPr>
          <p:nvPr/>
        </p:nvSpPr>
        <p:spPr>
          <a:xfrm xmlns:a="http://schemas.openxmlformats.org/drawingml/2006/main">
            <a:off x="685800" y="6457950"/>
            <a:ext cx="1009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75" b="0" i="0">
                <a:solidFill>
                  <a:srgbClr val="71808A"/>
                </a:solidFill>
                <a:latin typeface="DejaVu Sans"/>
                <a:ea typeface="DejaVu Sans"/>
                <a:cs typeface="DejaVu Sans"/>
              </a:defRPr>
            </a:defPPr>
          </a:lstStyle>
          <a:p xmlns:a="http://schemas.openxmlformats.org/drawingml/2006/main">
            <a:pPr algn="l">
              <a:defRPr sz="675" b="0" i="0">
                <a:solidFill>
                  <a:srgbClr val="71808A"/>
                </a:solidFill>
                <a:latin typeface="DejaVu Sans"/>
                <a:ea typeface="DejaVu Sans"/>
                <a:cs typeface="DejaVu Sans"/>
              </a:defRPr>
            </a:pPr>
            <a:r>
              <a:rPr sz="675" b="0" i="0">
                <a:solidFill>
                  <a:srgbClr val="71808A"/>
                </a:solidFill>
                <a:latin typeface="DejaVu Sans"/>
                <a:ea typeface="DejaVu Sans"/>
                <a:cs typeface="DejaVu Sans"/>
              </a:rPr>
              <a:t>RBF correlation example; failure analysis connected to Wilson 2024</a:t>
            </a:r>
          </a:p>
        </p:txBody>
      </p:sp>
      <p:sp>
        <p:nvSpPr>
          <p:cNvPr id="10" name="">
            <a:extLst xmlns:a="http://schemas.openxmlformats.org/drawingml/2006/main">
              <a:ext uri="{FF2B5EF4-FFF2-40B4-BE49-F238E27FC236}">
                <a16:creationId xmlns:a16="http://schemas.microsoft.com/office/drawing/2014/main" id="{6806150F-7436-4461-B4A8-356F96C711C8}"/>
              </a:ext>
            </a:extLst>
          </p:cNvPr>
          <p:cNvSpPr>
            <a:spLocks xmlns:a="http://schemas.openxmlformats.org/drawingml/2006/main" noGrp="1"/>
          </p:cNvSpPr>
          <p:nvPr/>
        </p:nvSpPr>
        <p:spPr>
          <a:xfrm xmlns:a="http://schemas.openxmlformats.org/drawingml/2006/main">
            <a:off x="11049000" y="6419850"/>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i="0">
                <a:solidFill>
                  <a:srgbClr val="71808A"/>
                </a:solidFill>
                <a:latin typeface="DejaVu Sans"/>
                <a:ea typeface="DejaVu Sans"/>
                <a:cs typeface="DejaVu Sans"/>
              </a:defRPr>
            </a:defPPr>
          </a:lstStyle>
          <a:p xmlns:a="http://schemas.openxmlformats.org/drawingml/2006/main">
            <a:pPr algn="r">
              <a:defRPr sz="825" b="1" i="0">
                <a:solidFill>
                  <a:srgbClr val="71808A"/>
                </a:solidFill>
                <a:latin typeface="DejaVu Sans"/>
                <a:ea typeface="DejaVu Sans"/>
                <a:cs typeface="DejaVu Sans"/>
              </a:defRPr>
            </a:pPr>
            <a:r>
              <a:rPr sz="825" b="1" i="0">
                <a:solidFill>
                  <a:srgbClr val="71808A"/>
                </a:solidFill>
                <a:latin typeface="DejaVu Sans"/>
                <a:ea typeface="DejaVu Sans"/>
                <a:cs typeface="DejaVu Sans"/>
              </a:rPr>
              <a:t>07</a:t>
            </a:r>
          </a:p>
        </p:txBody>
      </p:sp>
    </p:spTree>
    <p:extLst>
      <p:ext uri="{BB962C8B-B14F-4D97-AF65-F5344CB8AC3E}">
        <p14:creationId xmlns:p14="http://schemas.microsoft.com/office/powerpoint/2010/main" val="1948281927"/>
      </p:ext>
    </p:extLst>
  </p:cSld>
</p:sld>
</file>

<file path=ppt/slides/slide8.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7123CF9-D9AB-415B-AB0E-121A8582A3D9}"/>
              </a:ext>
            </a:extLst>
          </p:cNvPr>
          <p:cNvSpPr>
            <a:spLocks xmlns:a="http://schemas.openxmlformats.org/drawingml/2006/main" noGrp="1"/>
          </p:cNvSpPr>
          <p:nvPr/>
        </p:nvSpPr>
        <p:spPr>
          <a:xfrm xmlns:a="http://schemas.openxmlformats.org/drawingml/2006/main">
            <a:off x="685800" y="4000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i="0">
                <a:solidFill>
                  <a:srgbClr val="0B1F33"/>
                </a:solidFill>
                <a:latin typeface="DejaVu Sans"/>
                <a:ea typeface="DejaVu Sans"/>
                <a:cs typeface="DejaVu Sans"/>
              </a:defRPr>
            </a:defPPr>
          </a:lstStyle>
          <a:p xmlns:a="http://schemas.openxmlformats.org/drawingml/2006/main">
            <a:pPr algn="l">
              <a:defRPr sz="2550" b="1" i="0">
                <a:solidFill>
                  <a:srgbClr val="0B1F33"/>
                </a:solidFill>
                <a:latin typeface="DejaVu Sans"/>
                <a:ea typeface="DejaVu Sans"/>
                <a:cs typeface="DejaVu Sans"/>
              </a:defRPr>
            </a:pPr>
            <a:r>
              <a:rPr sz="2550" b="1" i="0">
                <a:solidFill>
                  <a:srgbClr val="0B1F33"/>
                </a:solidFill>
                <a:latin typeface="DejaVu Sans"/>
                <a:ea typeface="DejaVu Sans"/>
                <a:cs typeface="DejaVu Sans"/>
              </a:rPr>
              <a:t>Model fitting, calibration, and stopping</a:t>
            </a:r>
          </a:p>
        </p:txBody>
      </p:sp>
      <p:sp>
        <p:nvSpPr>
          <p:cNvPr id="2" name="">
            <a:extLst xmlns:a="http://schemas.openxmlformats.org/drawingml/2006/main">
              <a:ext uri="{FF2B5EF4-FFF2-40B4-BE49-F238E27FC236}">
                <a16:creationId xmlns:a16="http://schemas.microsoft.com/office/drawing/2014/main" id="{EC6B32A8-4B28-44EF-8D4F-BAC320B77B5F}"/>
              </a:ext>
            </a:extLst>
          </p:cNvPr>
          <p:cNvSpPr>
            <a:spLocks xmlns:a="http://schemas.openxmlformats.org/drawingml/2006/main" noGrp="1"/>
          </p:cNvSpPr>
          <p:nvPr/>
        </p:nvSpPr>
        <p:spPr>
          <a:xfrm xmlns:a="http://schemas.openxmlformats.org/drawingml/2006/main">
            <a:off x="704850" y="971550"/>
            <a:ext cx="1028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0" i="0">
                <a:solidFill>
                  <a:srgbClr val="5D6A72"/>
                </a:solidFill>
                <a:latin typeface="DejaVu Sans"/>
                <a:ea typeface="DejaVu Sans"/>
                <a:cs typeface="DejaVu Sans"/>
              </a:defRPr>
            </a:defPPr>
          </a:lstStyle>
          <a:p xmlns:a="http://schemas.openxmlformats.org/drawingml/2006/main">
            <a:pPr algn="l">
              <a:defRPr sz="1275" b="0" i="0">
                <a:solidFill>
                  <a:srgbClr val="5D6A72"/>
                </a:solidFill>
                <a:latin typeface="DejaVu Sans"/>
                <a:ea typeface="DejaVu Sans"/>
                <a:cs typeface="DejaVu Sans"/>
              </a:defRPr>
            </a:pPr>
            <a:r>
              <a:rPr sz="1275" b="0" i="0">
                <a:solidFill>
                  <a:srgbClr val="5D6A72"/>
                </a:solidFill>
                <a:latin typeface="DejaVu Sans"/>
                <a:ea typeface="DejaVu Sans"/>
                <a:cs typeface="DejaVu Sans"/>
              </a:rPr>
              <a:t>Small datasets can support different length scale and noise explanations</a:t>
            </a:r>
          </a:p>
        </p:txBody>
      </p:sp>
      <p:sp>
        <p:nvSpPr>
          <p:cNvPr id="3" name="">
            <a:extLst xmlns:a="http://schemas.openxmlformats.org/drawingml/2006/main">
              <a:ext uri="{FF2B5EF4-FFF2-40B4-BE49-F238E27FC236}">
                <a16:creationId xmlns:a16="http://schemas.microsoft.com/office/drawing/2014/main" id="{70E965BD-6911-4BDA-93DC-3540A70F5072}"/>
              </a:ext>
            </a:extLst>
          </p:cNvPr>
          <p:cNvSpPr>
            <a:spLocks xmlns:a="http://schemas.openxmlformats.org/drawingml/2006/main" noGrp="1"/>
          </p:cNvSpPr>
          <p:nvPr/>
        </p:nvSpPr>
        <p:spPr>
          <a:xfrm xmlns:a="http://schemas.openxmlformats.org/drawingml/2006/main">
            <a:off x="723900" y="14287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i="0">
                <a:solidFill>
                  <a:srgbClr val="218C7E"/>
                </a:solidFill>
                <a:latin typeface="DejaVu Sans"/>
                <a:ea typeface="DejaVu Sans"/>
                <a:cs typeface="DejaVu Sans"/>
              </a:defRPr>
            </a:defPPr>
          </a:lstStyle>
          <a:p xmlns:a="http://schemas.openxmlformats.org/drawingml/2006/main">
            <a:pPr algn="l">
              <a:defRPr sz="1425" b="1" i="0">
                <a:solidFill>
                  <a:srgbClr val="218C7E"/>
                </a:solidFill>
                <a:latin typeface="DejaVu Sans"/>
                <a:ea typeface="DejaVu Sans"/>
                <a:cs typeface="DejaVu Sans"/>
              </a:defRPr>
            </a:pPr>
            <a:r>
              <a:rPr sz="1425" b="1" i="0">
                <a:solidFill>
                  <a:srgbClr val="218C7E"/>
                </a:solidFill>
                <a:latin typeface="DejaVu Sans"/>
                <a:ea typeface="DejaVu Sans"/>
                <a:cs typeface="DejaVu Sans"/>
              </a:rPr>
              <a:t>Fit θ with marginal likelihood</a:t>
            </a:r>
          </a:p>
        </p:txBody>
      </p:sp>
      <p:sp>
        <p:nvSpPr>
          <p:cNvPr id="4" name="">
            <a:extLst xmlns:a="http://schemas.openxmlformats.org/drawingml/2006/main">
              <a:ext uri="{FF2B5EF4-FFF2-40B4-BE49-F238E27FC236}">
                <a16:creationId xmlns:a16="http://schemas.microsoft.com/office/drawing/2014/main" id="{9EFB6648-E380-4988-A742-650228B74923}"/>
              </a:ext>
            </a:extLst>
          </p:cNvPr>
          <p:cNvSpPr>
            <a:spLocks xmlns:a="http://schemas.openxmlformats.org/drawingml/2006/main" noGrp="1"/>
          </p:cNvSpPr>
          <p:nvPr/>
        </p:nvSpPr>
        <p:spPr>
          <a:xfrm xmlns:a="http://schemas.openxmlformats.org/drawingml/2006/main">
            <a:off x="819150" y="1885950"/>
            <a:ext cx="10572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650" b="1" i="0">
                <a:solidFill>
                  <a:srgbClr val="0B1F33"/>
                </a:solidFill>
                <a:latin typeface="DejaVu Sans Mono"/>
                <a:ea typeface="DejaVu Sans Mono"/>
                <a:cs typeface="DejaVu Sans Mono"/>
              </a:defRPr>
            </a:defPPr>
          </a:lstStyle>
          <a:p xmlns:a="http://schemas.openxmlformats.org/drawingml/2006/main">
            <a:pPr algn="ctr">
              <a:defRPr sz="1650" b="1" i="0">
                <a:solidFill>
                  <a:srgbClr val="0B1F33"/>
                </a:solidFill>
                <a:latin typeface="DejaVu Sans Mono"/>
                <a:ea typeface="DejaVu Sans Mono"/>
                <a:cs typeface="DejaVu Sans Mono"/>
              </a:defRPr>
            </a:pPr>
            <a:r>
              <a:rPr sz="1650" b="1" i="0">
                <a:solidFill>
                  <a:srgbClr val="0B1F33"/>
                </a:solidFill>
                <a:latin typeface="DejaVu Sans Mono"/>
                <a:ea typeface="DejaVu Sans Mono"/>
                <a:cs typeface="DejaVu Sans Mono"/>
              </a:rPr>
              <a:t>log p(y|X,θ) = −½(y−m)ᵀCθ⁻¹(y−m) − ½log|Cθ| − n/2 log(2π)</a:t>
            </a:r>
          </a:p>
        </p:txBody>
      </p:sp>
      <p:graphicFrame>
        <p:nvGraphicFramePr>
          <p:cNvPr id="5" name="">
            <a:extLst xmlns:a="http://schemas.openxmlformats.org/drawingml/2006/main">
              <a:ext uri="{FF2B5EF4-FFF2-40B4-BE49-F238E27FC236}">
                <a16:creationId xmlns:a16="http://schemas.microsoft.com/office/drawing/2014/main" id="{D987F02F-68A3-4965-8214-102C4732F1BF}"/>
              </a:ext>
            </a:extLst>
          </p:cNvPr>
          <p:cNvGraphicFramePr/>
          <p:nvPr/>
        </p:nvGraphicFramePr>
        <p:xfrm>
          <a:off xmlns:a="http://schemas.openxmlformats.org/drawingml/2006/main" x="685800" y="2714625"/>
          <a:ext xmlns:a="http://schemas.openxmlformats.org/drawingml/2006/main" cx="6191250" cy="2714625"/>
        </p:xfrm>
        <a:graphic xmlns:a="http://schemas.openxmlformats.org/drawingml/2006/main">
          <a:graphicData uri="http://schemas.openxmlformats.org/drawingml/2006/table">
            <a:tbl>
              <a:tblPr/>
              <a:tblGrid>
                <a:gridCol w="1905000"/>
                <a:gridCol w="2333625"/>
                <a:gridCol w="1952625"/>
              </a:tblGrid>
              <a:tr h="428625">
                <a:tc>
                  <a:txBody>
                    <a:bodyPr/>
                    <a:lstStyle/>
                    <a:p>
                      <a:r>
                        <a:t>Step</a:t>
                      </a:r>
                    </a:p>
                  </a:txBody>
                  <a:tcPr marL="91440" marR="91440" marT="45720" marB="45720"/>
                </a:tc>
                <a:tc>
                  <a:txBody>
                    <a:bodyPr/>
                    <a:lstStyle/>
                    <a:p>
                      <a:r>
                        <a:t>Purpose</a:t>
                      </a:r>
                    </a:p>
                  </a:txBody>
                  <a:tcPr marL="91440" marR="91440" marT="45720" marB="45720"/>
                </a:tc>
                <a:tc>
                  <a:txBody>
                    <a:bodyPr/>
                    <a:lstStyle/>
                    <a:p>
                      <a:r>
                        <a:t>Check</a:t>
                      </a:r>
                    </a:p>
                  </a:txBody>
                  <a:tcPr marL="91440" marR="91440" marT="45720" marB="45720"/>
                </a:tc>
              </a:tr>
              <a:tr h="571500">
                <a:tc>
                  <a:txBody>
                    <a:bodyPr/>
                    <a:lstStyle/>
                    <a:p>
                      <a:r>
                        <a:t>Normalize X and y</a:t>
                      </a:r>
                    </a:p>
                  </a:txBody>
                  <a:tcPr marL="91440" marR="91440" marT="45720" marB="45720"/>
                </a:tc>
                <a:tc>
                  <a:txBody>
                    <a:bodyPr/>
                    <a:lstStyle/>
                    <a:p>
                      <a:r>
                        <a:t>Make scales comparable</a:t>
                      </a:r>
                    </a:p>
                  </a:txBody>
                  <a:tcPr marL="91440" marR="91440" marT="45720" marB="45720"/>
                </a:tc>
                <a:tc>
                  <a:txBody>
                    <a:bodyPr/>
                    <a:lstStyle/>
                    <a:p>
                      <a:r>
                        <a:t>Record transforms</a:t>
                      </a:r>
                    </a:p>
                  </a:txBody>
                  <a:tcPr marL="91440" marR="91440" marT="45720" marB="45720"/>
                </a:tc>
              </a:tr>
              <a:tr h="571500">
                <a:tc>
                  <a:txBody>
                    <a:bodyPr/>
                    <a:lstStyle/>
                    <a:p>
                      <a:r>
                        <a:t>Optimize θ</a:t>
                      </a:r>
                    </a:p>
                  </a:txBody>
                  <a:tcPr marL="91440" marR="91440" marT="45720" marB="45720"/>
                </a:tc>
                <a:tc>
                  <a:txBody>
                    <a:bodyPr/>
                    <a:lstStyle/>
                    <a:p>
                      <a:r>
                        <a:t>Fit kernel and noise</a:t>
                      </a:r>
                    </a:p>
                  </a:txBody>
                  <a:tcPr marL="91440" marR="91440" marT="45720" marB="45720"/>
                </a:tc>
                <a:tc>
                  <a:txBody>
                    <a:bodyPr/>
                    <a:lstStyle/>
                    <a:p>
                      <a:r>
                        <a:t>Use multiple starts</a:t>
                      </a:r>
                    </a:p>
                  </a:txBody>
                  <a:tcPr marL="91440" marR="91440" marT="45720" marB="45720"/>
                </a:tc>
              </a:tr>
              <a:tr h="571500">
                <a:tc>
                  <a:txBody>
                    <a:bodyPr/>
                    <a:lstStyle/>
                    <a:p>
                      <a:r>
                        <a:t>Update after each y</a:t>
                      </a:r>
                    </a:p>
                  </a:txBody>
                  <a:tcPr marL="91440" marR="91440" marT="45720" marB="45720"/>
                </a:tc>
                <a:tc>
                  <a:txBody>
                    <a:bodyPr/>
                    <a:lstStyle/>
                    <a:p>
                      <a:r>
                        <a:t>Condition on new evidence</a:t>
                      </a:r>
                    </a:p>
                  </a:txBody>
                  <a:tcPr marL="91440" marR="91440" marT="45720" marB="45720"/>
                </a:tc>
                <a:tc>
                  <a:txBody>
                    <a:bodyPr/>
                    <a:lstStyle/>
                    <a:p>
                      <a:r>
                        <a:t>Track parameter paths</a:t>
                      </a:r>
                    </a:p>
                  </a:txBody>
                  <a:tcPr marL="91440" marR="91440" marT="45720" marB="45720"/>
                </a:tc>
              </a:tr>
              <a:tr h="571500">
                <a:tc>
                  <a:txBody>
                    <a:bodyPr/>
                    <a:lstStyle/>
                    <a:p>
                      <a:r>
                        <a:t>Inspect deviations</a:t>
                      </a:r>
                    </a:p>
                  </a:txBody>
                  <a:tcPr marL="91440" marR="91440" marT="45720" marB="45720"/>
                </a:tc>
                <a:tc>
                  <a:txBody>
                    <a:bodyPr/>
                    <a:lstStyle/>
                    <a:p>
                      <a:r>
                        <a:t>Test calibration</a:t>
                      </a:r>
                    </a:p>
                  </a:txBody>
                  <a:tcPr marL="91440" marR="91440" marT="45720" marB="45720"/>
                </a:tc>
                <a:tc>
                  <a:txBody>
                    <a:bodyPr/>
                    <a:lstStyle/>
                    <a:p>
                      <a:r>
                        <a:t>Residual z scores and coverage</a:t>
                      </a:r>
                    </a:p>
                  </a:txBody>
                  <a:tcPr marL="91440" marR="91440" marT="45720" marB="45720"/>
                </a:tc>
              </a:tr>
            </a:tbl>
          </a:graphicData>
        </a:graphic>
      </p:graphicFrame>
      <p:sp>
        <p:nvSpPr>
          <p:cNvPr id="6" name="">
            <a:extLst xmlns:a="http://schemas.openxmlformats.org/drawingml/2006/main">
              <a:ext uri="{FF2B5EF4-FFF2-40B4-BE49-F238E27FC236}">
                <a16:creationId xmlns:a16="http://schemas.microsoft.com/office/drawing/2014/main" id="{91939D01-5CCD-4217-9DA8-B5BAD5C2ACD6}"/>
              </a:ext>
            </a:extLst>
          </p:cNvPr>
          <p:cNvSpPr>
            <a:spLocks xmlns:a="http://schemas.openxmlformats.org/drawingml/2006/main" noGrp="1"/>
          </p:cNvSpPr>
          <p:nvPr/>
        </p:nvSpPr>
        <p:spPr>
          <a:xfrm xmlns:a="http://schemas.openxmlformats.org/drawingml/2006/main">
            <a:off x="7524750" y="2714625"/>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425" b="1" i="0">
                <a:solidFill>
                  <a:srgbClr val="E76F51"/>
                </a:solidFill>
                <a:latin typeface="DejaVu Sans"/>
                <a:ea typeface="DejaVu Sans"/>
                <a:cs typeface="DejaVu Sans"/>
              </a:defRPr>
            </a:defPPr>
          </a:lstStyle>
          <a:p xmlns:a="http://schemas.openxmlformats.org/drawingml/2006/main">
            <a:pPr algn="ctr">
              <a:defRPr sz="1425" b="1" i="0">
                <a:solidFill>
                  <a:srgbClr val="E76F51"/>
                </a:solidFill>
                <a:latin typeface="DejaVu Sans"/>
                <a:ea typeface="DejaVu Sans"/>
                <a:cs typeface="DejaVu Sans"/>
              </a:defRPr>
            </a:pPr>
            <a:r>
              <a:rPr sz="1425" b="1" i="0">
                <a:solidFill>
                  <a:srgbClr val="E76F51"/>
                </a:solidFill>
                <a:latin typeface="DejaVu Sans"/>
                <a:ea typeface="DejaVu Sans"/>
                <a:cs typeface="DejaVu Sans"/>
              </a:rPr>
              <a:t>Stopping examples</a:t>
            </a:r>
          </a:p>
        </p:txBody>
      </p:sp>
      <p:sp>
        <p:nvSpPr>
          <p:cNvPr id="7" name="">
            <a:extLst xmlns:a="http://schemas.openxmlformats.org/drawingml/2006/main">
              <a:ext uri="{FF2B5EF4-FFF2-40B4-BE49-F238E27FC236}">
                <a16:creationId xmlns:a16="http://schemas.microsoft.com/office/drawing/2014/main" id="{6ACE4B5C-01D3-4DA3-A3B8-16AB306334D9}"/>
              </a:ext>
            </a:extLst>
          </p:cNvPr>
          <p:cNvSpPr>
            <a:spLocks xmlns:a="http://schemas.openxmlformats.org/drawingml/2006/main" noGrp="1"/>
          </p:cNvSpPr>
          <p:nvPr/>
        </p:nvSpPr>
        <p:spPr>
          <a:xfrm xmlns:a="http://schemas.openxmlformats.org/drawingml/2006/main">
            <a:off x="7334250" y="3190875"/>
            <a:ext cx="39052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500" b="0" i="0">
                <a:solidFill>
                  <a:srgbClr val="0B1F33"/>
                </a:solidFill>
                <a:latin typeface="DejaVu Sans"/>
                <a:ea typeface="DejaVu Sans"/>
                <a:cs typeface="DejaVu Sans"/>
              </a:defRPr>
            </a:defPPr>
          </a:lstStyle>
          <a:p xmlns:a="http://schemas.openxmlformats.org/drawingml/2006/main">
            <a:pPr algn="ctr">
              <a:defRPr sz="1500" b="0" i="0">
                <a:solidFill>
                  <a:srgbClr val="0B1F33"/>
                </a:solidFill>
                <a:latin typeface="DejaVu Sans"/>
                <a:ea typeface="DejaVu Sans"/>
                <a:cs typeface="DejaVu Sans"/>
              </a:defRPr>
            </a:pPr>
            <a:r>
              <a:rPr sz="1500" b="0" i="0">
                <a:solidFill>
                  <a:srgbClr val="0B1F33"/>
                </a:solidFill>
                <a:latin typeface="DejaVu Sans"/>
                <a:ea typeface="DejaVu Sans"/>
                <a:cs typeface="DejaVu Sans"/>
              </a:rPr>
              <a:t>Heuristic</a:t>
            </a:r>
          </a:p>
          <a:p xmlns:a="http://schemas.openxmlformats.org/drawingml/2006/main">
            <a:pPr algn="ctr">
              <a:defRPr sz="1500" b="0" i="0">
                <a:solidFill>
                  <a:srgbClr val="0B1F33"/>
                </a:solidFill>
                <a:latin typeface="DejaVu Sans"/>
                <a:ea typeface="DejaVu Sans"/>
                <a:cs typeface="DejaVu Sans"/>
              </a:defRPr>
            </a:pPr>
            <a:r>
              <a:rPr sz="1500" b="0" i="0">
                <a:solidFill>
                  <a:srgbClr val="0B1F33"/>
                </a:solidFill>
                <a:latin typeface="DejaVu Sans"/>
                <a:ea typeface="DejaVu Sans"/>
                <a:cs typeface="DejaVu Sans"/>
              </a:rPr>
              <a:t>EI(x next) &lt; τ</a:t>
            </a:r>
          </a:p>
          <a:p xmlns:a="http://schemas.openxmlformats.org/drawingml/2006/main">
            <a:r>
              <a:t/>
            </a:r>
          </a:p>
          <a:p xmlns:a="http://schemas.openxmlformats.org/drawingml/2006/main">
            <a:pPr algn="ctr">
              <a:defRPr sz="1500" b="0" i="0">
                <a:solidFill>
                  <a:srgbClr val="0B1F33"/>
                </a:solidFill>
                <a:latin typeface="DejaVu Sans"/>
                <a:ea typeface="DejaVu Sans"/>
                <a:cs typeface="DejaVu Sans"/>
              </a:defRPr>
            </a:pPr>
            <a:r>
              <a:rPr sz="1500" b="0" i="0">
                <a:solidFill>
                  <a:srgbClr val="0B1F33"/>
                </a:solidFill>
                <a:latin typeface="DejaVu Sans"/>
                <a:ea typeface="DejaVu Sans"/>
                <a:cs typeface="DejaVu Sans"/>
              </a:rPr>
              <a:t>Probability aware</a:t>
            </a:r>
          </a:p>
          <a:p xmlns:a="http://schemas.openxmlformats.org/drawingml/2006/main">
            <a:pPr algn="ctr">
              <a:defRPr sz="1500" b="0" i="0">
                <a:solidFill>
                  <a:srgbClr val="0B1F33"/>
                </a:solidFill>
                <a:latin typeface="DejaVu Sans"/>
                <a:ea typeface="DejaVu Sans"/>
                <a:cs typeface="DejaVu Sans"/>
              </a:defRPr>
            </a:pPr>
            <a:r>
              <a:rPr sz="1500" b="0" i="0">
                <a:solidFill>
                  <a:srgbClr val="0B1F33"/>
                </a:solidFill>
                <a:latin typeface="DejaVu Sans"/>
                <a:ea typeface="DejaVu Sans"/>
                <a:cs typeface="DejaVu Sans"/>
              </a:rPr>
              <a:t>P(regret ≤ ε | data) ≥ 1 − δ</a:t>
            </a:r>
          </a:p>
          <a:p xmlns:a="http://schemas.openxmlformats.org/drawingml/2006/main">
            <a:r>
              <a:t/>
            </a:r>
          </a:p>
          <a:p xmlns:a="http://schemas.openxmlformats.org/drawingml/2006/main">
            <a:pPr algn="ctr">
              <a:defRPr sz="1500" b="0" i="0">
                <a:solidFill>
                  <a:srgbClr val="0B1F33"/>
                </a:solidFill>
                <a:latin typeface="DejaVu Sans"/>
                <a:ea typeface="DejaVu Sans"/>
                <a:cs typeface="DejaVu Sans"/>
              </a:defRPr>
            </a:pPr>
            <a:r>
              <a:rPr sz="1500" b="0" i="0">
                <a:solidFill>
                  <a:srgbClr val="0B1F33"/>
                </a:solidFill>
                <a:latin typeface="DejaVu Sans"/>
                <a:ea typeface="DejaVu Sans"/>
                <a:cs typeface="DejaVu Sans"/>
              </a:rPr>
              <a:t>Decision focused</a:t>
            </a:r>
          </a:p>
          <a:p xmlns:a="http://schemas.openxmlformats.org/drawingml/2006/main">
            <a:pPr algn="ctr">
              <a:defRPr sz="1500" b="0" i="0">
                <a:solidFill>
                  <a:srgbClr val="0B1F33"/>
                </a:solidFill>
                <a:latin typeface="DejaVu Sans"/>
                <a:ea typeface="DejaVu Sans"/>
                <a:cs typeface="DejaVu Sans"/>
              </a:defRPr>
            </a:pPr>
            <a:r>
              <a:rPr sz="1500" b="0" i="0">
                <a:solidFill>
                  <a:srgbClr val="0B1F33"/>
                </a:solidFill>
                <a:latin typeface="DejaVu Sans"/>
                <a:ea typeface="DejaVu Sans"/>
                <a:cs typeface="DejaVu Sans"/>
              </a:rPr>
              <a:t>Expected simple regret changes very little</a:t>
            </a:r>
          </a:p>
        </p:txBody>
      </p:sp>
      <p:sp>
        <p:nvSpPr>
          <p:cNvPr id="8" name="">
            <a:extLst xmlns:a="http://schemas.openxmlformats.org/drawingml/2006/main">
              <a:ext uri="{FF2B5EF4-FFF2-40B4-BE49-F238E27FC236}">
                <a16:creationId xmlns:a16="http://schemas.microsoft.com/office/drawing/2014/main" id="{2B20F660-4703-4177-9616-1B508514E2A9}"/>
              </a:ext>
            </a:extLst>
          </p:cNvPr>
          <p:cNvSpPr>
            <a:spLocks xmlns:a="http://schemas.openxmlformats.org/drawingml/2006/main" noGrp="1"/>
          </p:cNvSpPr>
          <p:nvPr/>
        </p:nvSpPr>
        <p:spPr>
          <a:xfrm xmlns:a="http://schemas.openxmlformats.org/drawingml/2006/main">
            <a:off x="904875" y="2400300"/>
            <a:ext cx="581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i="0">
                <a:solidFill>
                  <a:srgbClr val="5D6A72"/>
                </a:solidFill>
                <a:latin typeface="DejaVu Sans"/>
                <a:ea typeface="DejaVu Sans"/>
                <a:cs typeface="DejaVu Sans"/>
              </a:defRPr>
            </a:defPPr>
          </a:lstStyle>
          <a:p xmlns:a="http://schemas.openxmlformats.org/drawingml/2006/main">
            <a:pPr algn="ctr">
              <a:defRPr sz="1050" b="0" i="0">
                <a:solidFill>
                  <a:srgbClr val="5D6A72"/>
                </a:solidFill>
                <a:latin typeface="DejaVu Sans"/>
                <a:ea typeface="DejaVu Sans"/>
                <a:cs typeface="DejaVu Sans"/>
              </a:defRPr>
            </a:pPr>
            <a:r>
              <a:rPr sz="1050" b="0" i="0">
                <a:solidFill>
                  <a:srgbClr val="5D6A72"/>
                </a:solidFill>
                <a:latin typeface="DejaVu Sans"/>
                <a:ea typeface="DejaVu Sans"/>
                <a:cs typeface="DejaVu Sans"/>
              </a:rPr>
              <a:t>Standardized deviation:  zᵢ = (yᵢ − μᵢ) / √(σᵢ² + σn²)</a:t>
            </a:r>
          </a:p>
        </p:txBody>
      </p:sp>
      <p:sp>
        <p:nvSpPr>
          <p:cNvPr id="9" name="">
            <a:extLst xmlns:a="http://schemas.openxmlformats.org/drawingml/2006/main">
              <a:ext uri="{FF2B5EF4-FFF2-40B4-BE49-F238E27FC236}">
                <a16:creationId xmlns:a16="http://schemas.microsoft.com/office/drawing/2014/main" id="{47F74A89-8763-4141-B4E3-38D58D3BC4A7}"/>
              </a:ext>
            </a:extLst>
          </p:cNvPr>
          <p:cNvSpPr>
            <a:spLocks xmlns:a="http://schemas.openxmlformats.org/drawingml/2006/main" noGrp="1"/>
          </p:cNvSpPr>
          <p:nvPr/>
        </p:nvSpPr>
        <p:spPr>
          <a:xfrm xmlns:a="http://schemas.openxmlformats.org/drawingml/2006/main">
            <a:off x="685800" y="6457950"/>
            <a:ext cx="1009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75" b="0" i="0">
                <a:solidFill>
                  <a:srgbClr val="71808A"/>
                </a:solidFill>
                <a:latin typeface="DejaVu Sans"/>
                <a:ea typeface="DejaVu Sans"/>
                <a:cs typeface="DejaVu Sans"/>
              </a:defRPr>
            </a:defPPr>
          </a:lstStyle>
          <a:p xmlns:a="http://schemas.openxmlformats.org/drawingml/2006/main">
            <a:pPr algn="l">
              <a:defRPr sz="675" b="0" i="0">
                <a:solidFill>
                  <a:srgbClr val="71808A"/>
                </a:solidFill>
                <a:latin typeface="DejaVu Sans"/>
                <a:ea typeface="DejaVu Sans"/>
                <a:cs typeface="DejaVu Sans"/>
              </a:defRPr>
            </a:pPr>
            <a:r>
              <a:rPr sz="675" b="0" i="0">
                <a:solidFill>
                  <a:srgbClr val="71808A"/>
                </a:solidFill>
                <a:latin typeface="DejaVu Sans"/>
                <a:ea typeface="DejaVu Sans"/>
                <a:cs typeface="DejaVu Sans"/>
              </a:rPr>
              <a:t>Makarova et al. 2022; Ishibashi et al. 2023; Wilson 2024</a:t>
            </a:r>
          </a:p>
        </p:txBody>
      </p:sp>
      <p:sp>
        <p:nvSpPr>
          <p:cNvPr id="10" name="">
            <a:extLst xmlns:a="http://schemas.openxmlformats.org/drawingml/2006/main">
              <a:ext uri="{FF2B5EF4-FFF2-40B4-BE49-F238E27FC236}">
                <a16:creationId xmlns:a16="http://schemas.microsoft.com/office/drawing/2014/main" id="{44C86ADD-B66D-4AD4-98DA-0C46A8DE9732}"/>
              </a:ext>
            </a:extLst>
          </p:cNvPr>
          <p:cNvSpPr>
            <a:spLocks xmlns:a="http://schemas.openxmlformats.org/drawingml/2006/main" noGrp="1"/>
          </p:cNvSpPr>
          <p:nvPr/>
        </p:nvSpPr>
        <p:spPr>
          <a:xfrm xmlns:a="http://schemas.openxmlformats.org/drawingml/2006/main">
            <a:off x="11049000" y="6419850"/>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i="0">
                <a:solidFill>
                  <a:srgbClr val="71808A"/>
                </a:solidFill>
                <a:latin typeface="DejaVu Sans"/>
                <a:ea typeface="DejaVu Sans"/>
                <a:cs typeface="DejaVu Sans"/>
              </a:defRPr>
            </a:defPPr>
          </a:lstStyle>
          <a:p xmlns:a="http://schemas.openxmlformats.org/drawingml/2006/main">
            <a:pPr algn="r">
              <a:defRPr sz="825" b="1" i="0">
                <a:solidFill>
                  <a:srgbClr val="71808A"/>
                </a:solidFill>
                <a:latin typeface="DejaVu Sans"/>
                <a:ea typeface="DejaVu Sans"/>
                <a:cs typeface="DejaVu Sans"/>
              </a:defRPr>
            </a:pPr>
            <a:r>
              <a:rPr sz="825" b="1" i="0">
                <a:solidFill>
                  <a:srgbClr val="71808A"/>
                </a:solidFill>
                <a:latin typeface="DejaVu Sans"/>
                <a:ea typeface="DejaVu Sans"/>
                <a:cs typeface="DejaVu Sans"/>
              </a:rPr>
              <a:t>08</a:t>
            </a:r>
          </a:p>
        </p:txBody>
      </p:sp>
    </p:spTree>
    <p:extLst>
      <p:ext uri="{BB962C8B-B14F-4D97-AF65-F5344CB8AC3E}">
        <p14:creationId xmlns:p14="http://schemas.microsoft.com/office/powerpoint/2010/main" val="66091794"/>
      </p:ext>
    </p:extLst>
  </p:cSld>
</p:sld>
</file>

<file path=ppt/slides/slide9.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03B3BA4-5FD6-4AB7-A136-8BA85C2DEF4A}"/>
              </a:ext>
            </a:extLst>
          </p:cNvPr>
          <p:cNvSpPr>
            <a:spLocks xmlns:a="http://schemas.openxmlformats.org/drawingml/2006/main" noGrp="1"/>
          </p:cNvSpPr>
          <p:nvPr/>
        </p:nvSpPr>
        <p:spPr>
          <a:xfrm xmlns:a="http://schemas.openxmlformats.org/drawingml/2006/main">
            <a:off x="685800" y="4000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i="0">
                <a:solidFill>
                  <a:srgbClr val="0B1F33"/>
                </a:solidFill>
                <a:latin typeface="DejaVu Sans"/>
                <a:ea typeface="DejaVu Sans"/>
                <a:cs typeface="DejaVu Sans"/>
              </a:defRPr>
            </a:defPPr>
          </a:lstStyle>
          <a:p xmlns:a="http://schemas.openxmlformats.org/drawingml/2006/main">
            <a:pPr algn="l">
              <a:defRPr sz="2550" b="1" i="0">
                <a:solidFill>
                  <a:srgbClr val="0B1F33"/>
                </a:solidFill>
                <a:latin typeface="DejaVu Sans"/>
                <a:ea typeface="DejaVu Sans"/>
                <a:cs typeface="DejaVu Sans"/>
              </a:defRPr>
            </a:pPr>
            <a:r>
              <a:rPr sz="2550" b="1" i="0">
                <a:solidFill>
                  <a:srgbClr val="0B1F33"/>
                </a:solidFill>
                <a:latin typeface="DejaVu Sans"/>
                <a:ea typeface="DejaVu Sans"/>
                <a:cs typeface="DejaVu Sans"/>
              </a:rPr>
              <a:t>A minimal BoTorch loop</a:t>
            </a:r>
          </a:p>
        </p:txBody>
      </p:sp>
      <p:sp>
        <p:nvSpPr>
          <p:cNvPr id="2" name="">
            <a:extLst xmlns:a="http://schemas.openxmlformats.org/drawingml/2006/main">
              <a:ext uri="{FF2B5EF4-FFF2-40B4-BE49-F238E27FC236}">
                <a16:creationId xmlns:a16="http://schemas.microsoft.com/office/drawing/2014/main" id="{19B095AC-54FC-48D9-A956-13F3D29F724C}"/>
              </a:ext>
            </a:extLst>
          </p:cNvPr>
          <p:cNvSpPr>
            <a:spLocks xmlns:a="http://schemas.openxmlformats.org/drawingml/2006/main" noGrp="1"/>
          </p:cNvSpPr>
          <p:nvPr/>
        </p:nvSpPr>
        <p:spPr>
          <a:xfrm xmlns:a="http://schemas.openxmlformats.org/drawingml/2006/main">
            <a:off x="704850" y="971550"/>
            <a:ext cx="1028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0" i="0">
                <a:solidFill>
                  <a:srgbClr val="5D6A72"/>
                </a:solidFill>
                <a:latin typeface="DejaVu Sans"/>
                <a:ea typeface="DejaVu Sans"/>
                <a:cs typeface="DejaVu Sans"/>
              </a:defRPr>
            </a:defPPr>
          </a:lstStyle>
          <a:p xmlns:a="http://schemas.openxmlformats.org/drawingml/2006/main">
            <a:pPr algn="l">
              <a:defRPr sz="1275" b="0" i="0">
                <a:solidFill>
                  <a:srgbClr val="5D6A72"/>
                </a:solidFill>
                <a:latin typeface="DejaVu Sans"/>
                <a:ea typeface="DejaVu Sans"/>
                <a:cs typeface="DejaVu Sans"/>
              </a:defRPr>
            </a:pPr>
            <a:r>
              <a:rPr sz="1275" b="0" i="0">
                <a:solidFill>
                  <a:srgbClr val="5D6A72"/>
                </a:solidFill>
                <a:latin typeface="DejaVu Sans"/>
                <a:ea typeface="DejaVu Sans"/>
                <a:cs typeface="DejaVu Sans"/>
              </a:rPr>
              <a:t>Code mirrors the conceptual separation used in the experiment design</a:t>
            </a:r>
          </a:p>
        </p:txBody>
      </p:sp>
      <p:sp>
        <p:nvSpPr>
          <p:cNvPr id="3" name="">
            <a:extLst xmlns:a="http://schemas.openxmlformats.org/drawingml/2006/main">
              <a:ext uri="{FF2B5EF4-FFF2-40B4-BE49-F238E27FC236}">
                <a16:creationId xmlns:a16="http://schemas.microsoft.com/office/drawing/2014/main" id="{FD535327-2F23-46C3-8A99-ED4867542E4F}"/>
              </a:ext>
            </a:extLst>
          </p:cNvPr>
          <p:cNvSpPr>
            <a:spLocks xmlns:a="http://schemas.openxmlformats.org/drawingml/2006/main" noGrp="1"/>
          </p:cNvSpPr>
          <p:nvPr/>
        </p:nvSpPr>
        <p:spPr>
          <a:xfrm xmlns:a="http://schemas.openxmlformats.org/drawingml/2006/main">
            <a:off x="590550" y="1428750"/>
            <a:ext cx="7000875" cy="4667250"/>
          </a:xfrm>
          <a:prstGeom xmlns:a="http://schemas.openxmlformats.org/drawingml/2006/main" prst="roundRect">
            <a:avLst>
              <a:gd name="adj" fmla="val 1633"/>
            </a:avLst>
          </a:prstGeom>
          <a:solidFill xmlns:a="http://schemas.openxmlformats.org/drawingml/2006/main">
            <a:srgbClr val="102331"/>
          </a:solidFill>
          <a:ln xmlns:a="http://schemas.openxmlformats.org/drawingml/2006/main" w="9525">
            <a:solidFill>
              <a:srgbClr val="102331"/>
            </a:solidFill>
            <a:prstDash val="solid"/>
          </a:ln>
        </p:spPr>
      </p:sp>
      <p:sp>
        <p:nvSpPr>
          <p:cNvPr id="4" name="">
            <a:extLst xmlns:a="http://schemas.openxmlformats.org/drawingml/2006/main">
              <a:ext uri="{FF2B5EF4-FFF2-40B4-BE49-F238E27FC236}">
                <a16:creationId xmlns:a16="http://schemas.microsoft.com/office/drawing/2014/main" id="{DB264348-B08C-4496-B5BA-654F21F08512}"/>
              </a:ext>
            </a:extLst>
          </p:cNvPr>
          <p:cNvSpPr>
            <a:spLocks xmlns:a="http://schemas.openxmlformats.org/drawingml/2006/main" noGrp="1"/>
          </p:cNvSpPr>
          <p:nvPr/>
        </p:nvSpPr>
        <p:spPr>
          <a:xfrm xmlns:a="http://schemas.openxmlformats.org/drawingml/2006/main">
            <a:off x="819150" y="1657350"/>
            <a:ext cx="6572250" cy="423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i="0">
                <a:solidFill>
                  <a:srgbClr val="E9F1F5"/>
                </a:solidFill>
                <a:latin typeface="DejaVu Sans Mono"/>
                <a:ea typeface="DejaVu Sans Mono"/>
                <a:cs typeface="DejaVu Sans Mono"/>
              </a:defRPr>
            </a:defPPr>
          </a:lstStyle>
          <a:p xmlns:a="http://schemas.openxmlformats.org/drawingml/2006/main">
            <a:pPr algn="l">
              <a:defRPr sz="1125" b="0" i="0">
                <a:solidFill>
                  <a:srgbClr val="E9F1F5"/>
                </a:solidFill>
                <a:latin typeface="DejaVu Sans Mono"/>
                <a:ea typeface="DejaVu Sans Mono"/>
                <a:cs typeface="DejaVu Sans Mono"/>
              </a:defRPr>
            </a:pPr>
            <a:r>
              <a:rPr sz="1125" b="0" i="0">
                <a:solidFill>
                  <a:srgbClr val="E9F1F5"/>
                </a:solidFill>
                <a:latin typeface="DejaVu Sans Mono"/>
                <a:ea typeface="DejaVu Sans Mono"/>
                <a:cs typeface="DejaVu Sans Mono"/>
              </a:rPr>
              <a:t>for step in range(max_steps):</a:t>
            </a:r>
          </a:p>
          <a:p xmlns:a="http://schemas.openxmlformats.org/drawingml/2006/main">
            <a:pPr algn="l">
              <a:defRPr sz="1125" b="0" i="0">
                <a:solidFill>
                  <a:srgbClr val="E9F1F5"/>
                </a:solidFill>
                <a:latin typeface="DejaVu Sans Mono"/>
                <a:ea typeface="DejaVu Sans Mono"/>
                <a:cs typeface="DejaVu Sans Mono"/>
              </a:defRPr>
            </a:pPr>
            <a:r>
              <a:rPr sz="1125" b="0" i="0">
                <a:solidFill>
                  <a:srgbClr val="E9F1F5"/>
                </a:solidFill>
                <a:latin typeface="DejaVu Sans Mono"/>
                <a:ea typeface="DejaVu Sans Mono"/>
                <a:cs typeface="DejaVu Sans Mono"/>
              </a:rPr>
              <a:t>    model = SingleTaskGP(</a:t>
            </a:r>
          </a:p>
          <a:p xmlns:a="http://schemas.openxmlformats.org/drawingml/2006/main">
            <a:pPr algn="l">
              <a:defRPr sz="1125" b="0" i="0">
                <a:solidFill>
                  <a:srgbClr val="E9F1F5"/>
                </a:solidFill>
                <a:latin typeface="DejaVu Sans Mono"/>
                <a:ea typeface="DejaVu Sans Mono"/>
                <a:cs typeface="DejaVu Sans Mono"/>
              </a:defRPr>
            </a:pPr>
            <a:r>
              <a:rPr sz="1125" b="0" i="0">
                <a:solidFill>
                  <a:srgbClr val="E9F1F5"/>
                </a:solidFill>
                <a:latin typeface="DejaVu Sans Mono"/>
                <a:ea typeface="DejaVu Sans Mono"/>
                <a:cs typeface="DejaVu Sans Mono"/>
              </a:rPr>
              <a:t>        train_X, train_Y,</a:t>
            </a:r>
          </a:p>
          <a:p xmlns:a="http://schemas.openxmlformats.org/drawingml/2006/main">
            <a:pPr algn="l">
              <a:defRPr sz="1125" b="0" i="0">
                <a:solidFill>
                  <a:srgbClr val="E9F1F5"/>
                </a:solidFill>
                <a:latin typeface="DejaVu Sans Mono"/>
                <a:ea typeface="DejaVu Sans Mono"/>
                <a:cs typeface="DejaVu Sans Mono"/>
              </a:defRPr>
            </a:pPr>
            <a:r>
              <a:rPr sz="1125" b="0" i="0">
                <a:solidFill>
                  <a:srgbClr val="E9F1F5"/>
                </a:solidFill>
                <a:latin typeface="DejaVu Sans Mono"/>
                <a:ea typeface="DejaVu Sans Mono"/>
                <a:cs typeface="DejaVu Sans Mono"/>
              </a:rPr>
              <a:t>        input_transform=Normalize(d),</a:t>
            </a:r>
          </a:p>
          <a:p xmlns:a="http://schemas.openxmlformats.org/drawingml/2006/main">
            <a:pPr algn="l">
              <a:defRPr sz="1125" b="0" i="0">
                <a:solidFill>
                  <a:srgbClr val="E9F1F5"/>
                </a:solidFill>
                <a:latin typeface="DejaVu Sans Mono"/>
                <a:ea typeface="DejaVu Sans Mono"/>
                <a:cs typeface="DejaVu Sans Mono"/>
              </a:defRPr>
            </a:pPr>
            <a:r>
              <a:rPr sz="1125" b="0" i="0">
                <a:solidFill>
                  <a:srgbClr val="E9F1F5"/>
                </a:solidFill>
                <a:latin typeface="DejaVu Sans Mono"/>
                <a:ea typeface="DejaVu Sans Mono"/>
                <a:cs typeface="DejaVu Sans Mono"/>
              </a:rPr>
              <a:t>        outcome_transform=Standardize(m=1))</a:t>
            </a:r>
          </a:p>
          <a:p xmlns:a="http://schemas.openxmlformats.org/drawingml/2006/main">
            <a:pPr algn="l">
              <a:defRPr sz="1125" b="0" i="0">
                <a:solidFill>
                  <a:srgbClr val="E9F1F5"/>
                </a:solidFill>
                <a:latin typeface="DejaVu Sans Mono"/>
                <a:ea typeface="DejaVu Sans Mono"/>
                <a:cs typeface="DejaVu Sans Mono"/>
              </a:defRPr>
            </a:pPr>
            <a:r>
              <a:rPr sz="1125" b="0" i="0">
                <a:solidFill>
                  <a:srgbClr val="E9F1F5"/>
                </a:solidFill>
                <a:latin typeface="DejaVu Sans Mono"/>
                <a:ea typeface="DejaVu Sans Mono"/>
                <a:cs typeface="DejaVu Sans Mono"/>
              </a:rPr>
              <a:t>    mll = ExactMarginalLogLikelihood(</a:t>
            </a:r>
          </a:p>
          <a:p xmlns:a="http://schemas.openxmlformats.org/drawingml/2006/main">
            <a:pPr algn="l">
              <a:defRPr sz="1125" b="0" i="0">
                <a:solidFill>
                  <a:srgbClr val="E9F1F5"/>
                </a:solidFill>
                <a:latin typeface="DejaVu Sans Mono"/>
                <a:ea typeface="DejaVu Sans Mono"/>
                <a:cs typeface="DejaVu Sans Mono"/>
              </a:defRPr>
            </a:pPr>
            <a:r>
              <a:rPr sz="1125" b="0" i="0">
                <a:solidFill>
                  <a:srgbClr val="E9F1F5"/>
                </a:solidFill>
                <a:latin typeface="DejaVu Sans Mono"/>
                <a:ea typeface="DejaVu Sans Mono"/>
                <a:cs typeface="DejaVu Sans Mono"/>
              </a:rPr>
              <a:t>        model.likelihood, model)</a:t>
            </a:r>
          </a:p>
          <a:p xmlns:a="http://schemas.openxmlformats.org/drawingml/2006/main">
            <a:pPr algn="l">
              <a:defRPr sz="1125" b="0" i="0">
                <a:solidFill>
                  <a:srgbClr val="E9F1F5"/>
                </a:solidFill>
                <a:latin typeface="DejaVu Sans Mono"/>
                <a:ea typeface="DejaVu Sans Mono"/>
                <a:cs typeface="DejaVu Sans Mono"/>
              </a:defRPr>
            </a:pPr>
            <a:r>
              <a:rPr sz="1125" b="0" i="0">
                <a:solidFill>
                  <a:srgbClr val="E9F1F5"/>
                </a:solidFill>
                <a:latin typeface="DejaVu Sans Mono"/>
                <a:ea typeface="DejaVu Sans Mono"/>
                <a:cs typeface="DejaVu Sans Mono"/>
              </a:rPr>
              <a:t>    fit_gpytorch_mll(mll)</a:t>
            </a:r>
          </a:p>
          <a:p xmlns:a="http://schemas.openxmlformats.org/drawingml/2006/main">
            <a:r>
              <a:t/>
            </a:r>
          </a:p>
          <a:p xmlns:a="http://schemas.openxmlformats.org/drawingml/2006/main">
            <a:pPr algn="l">
              <a:defRPr sz="1125" b="0" i="0">
                <a:solidFill>
                  <a:srgbClr val="E9F1F5"/>
                </a:solidFill>
                <a:latin typeface="DejaVu Sans Mono"/>
                <a:ea typeface="DejaVu Sans Mono"/>
                <a:cs typeface="DejaVu Sans Mono"/>
              </a:defRPr>
            </a:pPr>
            <a:r>
              <a:rPr sz="1125" b="0" i="0">
                <a:solidFill>
                  <a:srgbClr val="E9F1F5"/>
                </a:solidFill>
                <a:latin typeface="DejaVu Sans Mono"/>
                <a:ea typeface="DejaVu Sans Mono"/>
                <a:cs typeface="DejaVu Sans Mono"/>
              </a:rPr>
              <a:t>    acq = LogExpectedImprovement(</a:t>
            </a:r>
          </a:p>
          <a:p xmlns:a="http://schemas.openxmlformats.org/drawingml/2006/main">
            <a:pPr algn="l">
              <a:defRPr sz="1125" b="0" i="0">
                <a:solidFill>
                  <a:srgbClr val="E9F1F5"/>
                </a:solidFill>
                <a:latin typeface="DejaVu Sans Mono"/>
                <a:ea typeface="DejaVu Sans Mono"/>
                <a:cs typeface="DejaVu Sans Mono"/>
              </a:defRPr>
            </a:pPr>
            <a:r>
              <a:rPr sz="1125" b="0" i="0">
                <a:solidFill>
                  <a:srgbClr val="E9F1F5"/>
                </a:solidFill>
                <a:latin typeface="DejaVu Sans Mono"/>
                <a:ea typeface="DejaVu Sans Mono"/>
                <a:cs typeface="DejaVu Sans Mono"/>
              </a:rPr>
              <a:t>        model, best_f=train_Y.max())</a:t>
            </a:r>
          </a:p>
          <a:p xmlns:a="http://schemas.openxmlformats.org/drawingml/2006/main">
            <a:pPr algn="l">
              <a:defRPr sz="1125" b="0" i="0">
                <a:solidFill>
                  <a:srgbClr val="E9F1F5"/>
                </a:solidFill>
                <a:latin typeface="DejaVu Sans Mono"/>
                <a:ea typeface="DejaVu Sans Mono"/>
                <a:cs typeface="DejaVu Sans Mono"/>
              </a:defRPr>
            </a:pPr>
            <a:r>
              <a:rPr sz="1125" b="0" i="0">
                <a:solidFill>
                  <a:srgbClr val="E9F1F5"/>
                </a:solidFill>
                <a:latin typeface="DejaVu Sans Mono"/>
                <a:ea typeface="DejaVu Sans Mono"/>
                <a:cs typeface="DejaVu Sans Mono"/>
              </a:rPr>
              <a:t>    x_next, log_ei = optimize_acqf(</a:t>
            </a:r>
          </a:p>
          <a:p xmlns:a="http://schemas.openxmlformats.org/drawingml/2006/main">
            <a:pPr algn="l">
              <a:defRPr sz="1125" b="0" i="0">
                <a:solidFill>
                  <a:srgbClr val="E9F1F5"/>
                </a:solidFill>
                <a:latin typeface="DejaVu Sans Mono"/>
                <a:ea typeface="DejaVu Sans Mono"/>
                <a:cs typeface="DejaVu Sans Mono"/>
              </a:defRPr>
            </a:pPr>
            <a:r>
              <a:rPr sz="1125" b="0" i="0">
                <a:solidFill>
                  <a:srgbClr val="E9F1F5"/>
                </a:solidFill>
                <a:latin typeface="DejaVu Sans Mono"/>
                <a:ea typeface="DejaVu Sans Mono"/>
                <a:cs typeface="DejaVu Sans Mono"/>
              </a:rPr>
              <a:t>        acq, bounds, q=1, num_restarts=10,</a:t>
            </a:r>
          </a:p>
          <a:p xmlns:a="http://schemas.openxmlformats.org/drawingml/2006/main">
            <a:pPr algn="l">
              <a:defRPr sz="1125" b="0" i="0">
                <a:solidFill>
                  <a:srgbClr val="E9F1F5"/>
                </a:solidFill>
                <a:latin typeface="DejaVu Sans Mono"/>
                <a:ea typeface="DejaVu Sans Mono"/>
                <a:cs typeface="DejaVu Sans Mono"/>
              </a:defRPr>
            </a:pPr>
            <a:r>
              <a:rPr sz="1125" b="0" i="0">
                <a:solidFill>
                  <a:srgbClr val="E9F1F5"/>
                </a:solidFill>
                <a:latin typeface="DejaVu Sans Mono"/>
                <a:ea typeface="DejaVu Sans Mono"/>
                <a:cs typeface="DejaVu Sans Mono"/>
              </a:rPr>
              <a:t>        raw_samples=256)</a:t>
            </a:r>
          </a:p>
          <a:p xmlns:a="http://schemas.openxmlformats.org/drawingml/2006/main">
            <a:r>
              <a:t/>
            </a:r>
          </a:p>
          <a:p xmlns:a="http://schemas.openxmlformats.org/drawingml/2006/main">
            <a:pPr algn="l">
              <a:defRPr sz="1125" b="0" i="0">
                <a:solidFill>
                  <a:srgbClr val="E9F1F5"/>
                </a:solidFill>
                <a:latin typeface="DejaVu Sans Mono"/>
                <a:ea typeface="DejaVu Sans Mono"/>
                <a:cs typeface="DejaVu Sans Mono"/>
              </a:defRPr>
            </a:pPr>
            <a:r>
              <a:rPr sz="1125" b="0" i="0">
                <a:solidFill>
                  <a:srgbClr val="E9F1F5"/>
                </a:solidFill>
                <a:latin typeface="DejaVu Sans Mono"/>
                <a:ea typeface="DejaVu Sans Mono"/>
                <a:cs typeface="DejaVu Sans Mono"/>
              </a:rPr>
              <a:t>    if log_ei.item() &lt; math.log(tau):</a:t>
            </a:r>
          </a:p>
          <a:p xmlns:a="http://schemas.openxmlformats.org/drawingml/2006/main">
            <a:pPr algn="l">
              <a:defRPr sz="1125" b="0" i="0">
                <a:solidFill>
                  <a:srgbClr val="E9F1F5"/>
                </a:solidFill>
                <a:latin typeface="DejaVu Sans Mono"/>
                <a:ea typeface="DejaVu Sans Mono"/>
                <a:cs typeface="DejaVu Sans Mono"/>
              </a:defRPr>
            </a:pPr>
            <a:r>
              <a:rPr sz="1125" b="0" i="0">
                <a:solidFill>
                  <a:srgbClr val="E9F1F5"/>
                </a:solidFill>
                <a:latin typeface="DejaVu Sans Mono"/>
                <a:ea typeface="DejaVu Sans Mono"/>
                <a:cs typeface="DejaVu Sans Mono"/>
              </a:rPr>
              <a:t>        break</a:t>
            </a:r>
          </a:p>
          <a:p xmlns:a="http://schemas.openxmlformats.org/drawingml/2006/main">
            <a:r>
              <a:t/>
            </a:r>
          </a:p>
          <a:p xmlns:a="http://schemas.openxmlformats.org/drawingml/2006/main">
            <a:pPr algn="l">
              <a:defRPr sz="1125" b="0" i="0">
                <a:solidFill>
                  <a:srgbClr val="E9F1F5"/>
                </a:solidFill>
                <a:latin typeface="DejaVu Sans Mono"/>
                <a:ea typeface="DejaVu Sans Mono"/>
                <a:cs typeface="DejaVu Sans Mono"/>
              </a:defRPr>
            </a:pPr>
            <a:r>
              <a:rPr sz="1125" b="0" i="0">
                <a:solidFill>
                  <a:srgbClr val="E9F1F5"/>
                </a:solidFill>
                <a:latin typeface="DejaVu Sans Mono"/>
                <a:ea typeface="DejaVu Sans Mono"/>
                <a:cs typeface="DejaVu Sans Mono"/>
              </a:rPr>
              <a:t>    y_next = experiment(x_next)</a:t>
            </a:r>
          </a:p>
          <a:p xmlns:a="http://schemas.openxmlformats.org/drawingml/2006/main">
            <a:pPr algn="l">
              <a:defRPr sz="1125" b="0" i="0">
                <a:solidFill>
                  <a:srgbClr val="E9F1F5"/>
                </a:solidFill>
                <a:latin typeface="DejaVu Sans Mono"/>
                <a:ea typeface="DejaVu Sans Mono"/>
                <a:cs typeface="DejaVu Sans Mono"/>
              </a:defRPr>
            </a:pPr>
            <a:r>
              <a:rPr sz="1125" b="0" i="0">
                <a:solidFill>
                  <a:srgbClr val="E9F1F5"/>
                </a:solidFill>
                <a:latin typeface="DejaVu Sans Mono"/>
                <a:ea typeface="DejaVu Sans Mono"/>
                <a:cs typeface="DejaVu Sans Mono"/>
              </a:rPr>
              <a:t>    train_X, train_Y = append_observation(</a:t>
            </a:r>
          </a:p>
          <a:p xmlns:a="http://schemas.openxmlformats.org/drawingml/2006/main">
            <a:pPr algn="l">
              <a:defRPr sz="1125" b="0" i="0">
                <a:solidFill>
                  <a:srgbClr val="E9F1F5"/>
                </a:solidFill>
                <a:latin typeface="DejaVu Sans Mono"/>
                <a:ea typeface="DejaVu Sans Mono"/>
                <a:cs typeface="DejaVu Sans Mono"/>
              </a:defRPr>
            </a:pPr>
            <a:r>
              <a:rPr sz="1125" b="0" i="0">
                <a:solidFill>
                  <a:srgbClr val="E9F1F5"/>
                </a:solidFill>
                <a:latin typeface="DejaVu Sans Mono"/>
                <a:ea typeface="DejaVu Sans Mono"/>
                <a:cs typeface="DejaVu Sans Mono"/>
              </a:rPr>
              <a:t>        train_X, train_Y, x_next, y_next)</a:t>
            </a:r>
          </a:p>
          <a:p xmlns:a="http://schemas.openxmlformats.org/drawingml/2006/main">
            <a:r>
              <a:t/>
            </a:r>
          </a:p>
          <a:p xmlns:a="http://schemas.openxmlformats.org/drawingml/2006/main">
            <a:pPr algn="l">
              <a:defRPr sz="1125" b="0" i="0">
                <a:solidFill>
                  <a:srgbClr val="E9F1F5"/>
                </a:solidFill>
                <a:latin typeface="DejaVu Sans Mono"/>
                <a:ea typeface="DejaVu Sans Mono"/>
                <a:cs typeface="DejaVu Sans Mono"/>
              </a:defRPr>
            </a:pPr>
            <a:r>
              <a:rPr sz="1125" b="0" i="0">
                <a:solidFill>
                  <a:srgbClr val="E9F1F5"/>
                </a:solidFill>
                <a:latin typeface="DejaVu Sans Mono"/>
                <a:ea typeface="DejaVu Sans Mono"/>
                <a:cs typeface="DejaVu Sans Mono"/>
              </a:rPr>
              <a:t>x_hat = recommendation_rule(model, train_X, train_Y)</a:t>
            </a:r>
          </a:p>
        </p:txBody>
      </p:sp>
      <p:sp>
        <p:nvSpPr>
          <p:cNvPr id="5" name="">
            <a:extLst xmlns:a="http://schemas.openxmlformats.org/drawingml/2006/main">
              <a:ext uri="{FF2B5EF4-FFF2-40B4-BE49-F238E27FC236}">
                <a16:creationId xmlns:a16="http://schemas.microsoft.com/office/drawing/2014/main" id="{84E5D8B2-8443-46BA-B111-4FDD216BC395}"/>
              </a:ext>
            </a:extLst>
          </p:cNvPr>
          <p:cNvSpPr>
            <a:spLocks xmlns:a="http://schemas.openxmlformats.org/drawingml/2006/main" noGrp="1"/>
          </p:cNvSpPr>
          <p:nvPr/>
        </p:nvSpPr>
        <p:spPr>
          <a:xfrm xmlns:a="http://schemas.openxmlformats.org/drawingml/2006/main">
            <a:off x="8096250" y="1571625"/>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500" b="1" i="0">
                <a:solidFill>
                  <a:srgbClr val="218C7E"/>
                </a:solidFill>
                <a:latin typeface="DejaVu Sans"/>
                <a:ea typeface="DejaVu Sans"/>
                <a:cs typeface="DejaVu Sans"/>
              </a:defRPr>
            </a:defPPr>
          </a:lstStyle>
          <a:p xmlns:a="http://schemas.openxmlformats.org/drawingml/2006/main">
            <a:pPr algn="ctr">
              <a:defRPr sz="1500" b="1" i="0">
                <a:solidFill>
                  <a:srgbClr val="218C7E"/>
                </a:solidFill>
                <a:latin typeface="DejaVu Sans"/>
                <a:ea typeface="DejaVu Sans"/>
                <a:cs typeface="DejaVu Sans"/>
              </a:defRPr>
            </a:pPr>
            <a:r>
              <a:rPr sz="1500" b="1" i="0">
                <a:solidFill>
                  <a:srgbClr val="218C7E"/>
                </a:solidFill>
                <a:latin typeface="DejaVu Sans"/>
                <a:ea typeface="DejaVu Sans"/>
                <a:cs typeface="DejaVu Sans"/>
              </a:rPr>
              <a:t>What each block does</a:t>
            </a:r>
          </a:p>
        </p:txBody>
      </p:sp>
      <p:sp>
        <p:nvSpPr>
          <p:cNvPr id="6" name="">
            <a:extLst xmlns:a="http://schemas.openxmlformats.org/drawingml/2006/main">
              <a:ext uri="{FF2B5EF4-FFF2-40B4-BE49-F238E27FC236}">
                <a16:creationId xmlns:a16="http://schemas.microsoft.com/office/drawing/2014/main" id="{5832FD8B-8883-4986-A506-14020D81140F}"/>
              </a:ext>
            </a:extLst>
          </p:cNvPr>
          <p:cNvSpPr>
            <a:spLocks xmlns:a="http://schemas.openxmlformats.org/drawingml/2006/main" noGrp="1"/>
          </p:cNvSpPr>
          <p:nvPr/>
        </p:nvSpPr>
        <p:spPr>
          <a:xfrm xmlns:a="http://schemas.openxmlformats.org/drawingml/2006/main">
            <a:off x="8001000" y="2095500"/>
            <a:ext cx="3333750" cy="3429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0" i="0">
                <a:solidFill>
                  <a:srgbClr val="0B1F33"/>
                </a:solidFill>
                <a:latin typeface="DejaVu Sans"/>
                <a:ea typeface="DejaVu Sans"/>
                <a:cs typeface="DejaVu Sans"/>
              </a:defRPr>
            </a:defPPr>
          </a:lstStyle>
          <a:p xmlns:a="http://schemas.openxmlformats.org/drawingml/2006/main">
            <a:pPr algn="l">
              <a:defRPr sz="1350" b="0" i="0">
                <a:solidFill>
                  <a:srgbClr val="0B1F33"/>
                </a:solidFill>
                <a:latin typeface="DejaVu Sans"/>
                <a:ea typeface="DejaVu Sans"/>
                <a:cs typeface="DejaVu Sans"/>
              </a:defRPr>
            </a:pPr>
            <a:r>
              <a:rPr sz="1350" b="0" i="0">
                <a:solidFill>
                  <a:srgbClr val="0B1F33"/>
                </a:solidFill>
                <a:latin typeface="DejaVu Sans"/>
                <a:ea typeface="DejaVu Sans"/>
                <a:cs typeface="DejaVu Sans"/>
              </a:rPr>
              <a:t>1  Normalize data and fit the GP</a:t>
            </a:r>
          </a:p>
          <a:p xmlns:a="http://schemas.openxmlformats.org/drawingml/2006/main">
            <a:r>
              <a:t/>
            </a:r>
          </a:p>
          <a:p xmlns:a="http://schemas.openxmlformats.org/drawingml/2006/main">
            <a:pPr algn="l">
              <a:defRPr sz="1350" b="0" i="0">
                <a:solidFill>
                  <a:srgbClr val="0B1F33"/>
                </a:solidFill>
                <a:latin typeface="DejaVu Sans"/>
                <a:ea typeface="DejaVu Sans"/>
                <a:cs typeface="DejaVu Sans"/>
              </a:defRPr>
            </a:pPr>
            <a:r>
              <a:rPr sz="1350" b="0" i="0">
                <a:solidFill>
                  <a:srgbClr val="0B1F33"/>
                </a:solidFill>
                <a:latin typeface="DejaVu Sans"/>
                <a:ea typeface="DejaVu Sans"/>
                <a:cs typeface="DejaVu Sans"/>
              </a:rPr>
              <a:t>2  Build a stable LogEI acquisition</a:t>
            </a:r>
          </a:p>
          <a:p xmlns:a="http://schemas.openxmlformats.org/drawingml/2006/main">
            <a:r>
              <a:t/>
            </a:r>
          </a:p>
          <a:p xmlns:a="http://schemas.openxmlformats.org/drawingml/2006/main">
            <a:pPr algn="l">
              <a:defRPr sz="1350" b="0" i="0">
                <a:solidFill>
                  <a:srgbClr val="0B1F33"/>
                </a:solidFill>
                <a:latin typeface="DejaVu Sans"/>
                <a:ea typeface="DejaVu Sans"/>
                <a:cs typeface="DejaVu Sans"/>
              </a:defRPr>
            </a:pPr>
            <a:r>
              <a:rPr sz="1350" b="0" i="0">
                <a:solidFill>
                  <a:srgbClr val="0B1F33"/>
                </a:solidFill>
                <a:latin typeface="DejaVu Sans"/>
                <a:ea typeface="DejaVu Sans"/>
                <a:cs typeface="DejaVu Sans"/>
              </a:rPr>
              <a:t>3  Optimize acquisition to obtain x next</a:t>
            </a:r>
          </a:p>
          <a:p xmlns:a="http://schemas.openxmlformats.org/drawingml/2006/main">
            <a:r>
              <a:t/>
            </a:r>
          </a:p>
          <a:p xmlns:a="http://schemas.openxmlformats.org/drawingml/2006/main">
            <a:pPr algn="l">
              <a:defRPr sz="1350" b="0" i="0">
                <a:solidFill>
                  <a:srgbClr val="0B1F33"/>
                </a:solidFill>
                <a:latin typeface="DejaVu Sans"/>
                <a:ea typeface="DejaVu Sans"/>
                <a:cs typeface="DejaVu Sans"/>
              </a:defRPr>
            </a:pPr>
            <a:r>
              <a:rPr sz="1350" b="0" i="0">
                <a:solidFill>
                  <a:srgbClr val="0B1F33"/>
                </a:solidFill>
                <a:latin typeface="DejaVu Sans"/>
                <a:ea typeface="DejaVu Sans"/>
                <a:cs typeface="DejaVu Sans"/>
              </a:rPr>
              <a:t>4  Apply an illustrative stopping rule</a:t>
            </a:r>
          </a:p>
          <a:p xmlns:a="http://schemas.openxmlformats.org/drawingml/2006/main">
            <a:r>
              <a:t/>
            </a:r>
          </a:p>
          <a:p xmlns:a="http://schemas.openxmlformats.org/drawingml/2006/main">
            <a:pPr algn="l">
              <a:defRPr sz="1350" b="0" i="0">
                <a:solidFill>
                  <a:srgbClr val="0B1F33"/>
                </a:solidFill>
                <a:latin typeface="DejaVu Sans"/>
                <a:ea typeface="DejaVu Sans"/>
                <a:cs typeface="DejaVu Sans"/>
              </a:defRPr>
            </a:pPr>
            <a:r>
              <a:rPr sz="1350" b="0" i="0">
                <a:solidFill>
                  <a:srgbClr val="0B1F33"/>
                </a:solidFill>
                <a:latin typeface="DejaVu Sans"/>
                <a:ea typeface="DejaVu Sans"/>
                <a:cs typeface="DejaVu Sans"/>
              </a:rPr>
              <a:t>5  Run the experiment and update data</a:t>
            </a:r>
          </a:p>
          <a:p xmlns:a="http://schemas.openxmlformats.org/drawingml/2006/main">
            <a:r>
              <a:t/>
            </a:r>
          </a:p>
          <a:p xmlns:a="http://schemas.openxmlformats.org/drawingml/2006/main">
            <a:pPr algn="l">
              <a:defRPr sz="1350" b="0" i="0">
                <a:solidFill>
                  <a:srgbClr val="0B1F33"/>
                </a:solidFill>
                <a:latin typeface="DejaVu Sans"/>
                <a:ea typeface="DejaVu Sans"/>
                <a:cs typeface="DejaVu Sans"/>
              </a:defRPr>
            </a:pPr>
            <a:r>
              <a:rPr sz="1350" b="0" i="0">
                <a:solidFill>
                  <a:srgbClr val="0B1F33"/>
                </a:solidFill>
                <a:latin typeface="DejaVu Sans"/>
                <a:ea typeface="DejaVu Sans"/>
                <a:cs typeface="DejaVu Sans"/>
              </a:rPr>
              <a:t>6  Apply a declared recommendation rule</a:t>
            </a:r>
          </a:p>
        </p:txBody>
      </p:sp>
      <p:sp>
        <p:nvSpPr>
          <p:cNvPr id="7" name="">
            <a:extLst xmlns:a="http://schemas.openxmlformats.org/drawingml/2006/main">
              <a:ext uri="{FF2B5EF4-FFF2-40B4-BE49-F238E27FC236}">
                <a16:creationId xmlns:a16="http://schemas.microsoft.com/office/drawing/2014/main" id="{33445A95-D5FD-4516-9504-0E786D9A91EF}"/>
              </a:ext>
            </a:extLst>
          </p:cNvPr>
          <p:cNvSpPr>
            <a:spLocks xmlns:a="http://schemas.openxmlformats.org/drawingml/2006/main" noGrp="1"/>
          </p:cNvSpPr>
          <p:nvPr/>
        </p:nvSpPr>
        <p:spPr>
          <a:xfrm xmlns:a="http://schemas.openxmlformats.org/drawingml/2006/main">
            <a:off x="8020050" y="5905500"/>
            <a:ext cx="3333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1" i="0">
                <a:solidFill>
                  <a:srgbClr val="E76F51"/>
                </a:solidFill>
                <a:latin typeface="DejaVu Sans"/>
                <a:ea typeface="DejaVu Sans"/>
                <a:cs typeface="DejaVu Sans"/>
              </a:defRPr>
            </a:defPPr>
          </a:lstStyle>
          <a:p xmlns:a="http://schemas.openxmlformats.org/drawingml/2006/main">
            <a:pPr algn="ctr">
              <a:defRPr sz="1050" b="1" i="0">
                <a:solidFill>
                  <a:srgbClr val="E76F51"/>
                </a:solidFill>
                <a:latin typeface="DejaVu Sans"/>
                <a:ea typeface="DejaVu Sans"/>
                <a:cs typeface="DejaVu Sans"/>
              </a:defRPr>
            </a:pPr>
            <a:r>
              <a:rPr sz="1050" b="1" i="0">
                <a:solidFill>
                  <a:srgbClr val="E76F51"/>
                </a:solidFill>
                <a:latin typeface="DejaVu Sans"/>
                <a:ea typeface="DejaVu Sans"/>
                <a:cs typeface="DejaVu Sans"/>
              </a:rPr>
              <a:t>Benchmark change: replace the τ rule with each stopping observer while keeping the trajectory fixed.</a:t>
            </a:r>
          </a:p>
        </p:txBody>
      </p:sp>
      <p:sp>
        <p:nvSpPr>
          <p:cNvPr id="8" name="">
            <a:extLst xmlns:a="http://schemas.openxmlformats.org/drawingml/2006/main">
              <a:ext uri="{FF2B5EF4-FFF2-40B4-BE49-F238E27FC236}">
                <a16:creationId xmlns:a16="http://schemas.microsoft.com/office/drawing/2014/main" id="{AEB94788-60C9-4C74-9ED4-04075FBD7CDA}"/>
              </a:ext>
            </a:extLst>
          </p:cNvPr>
          <p:cNvSpPr>
            <a:spLocks xmlns:a="http://schemas.openxmlformats.org/drawingml/2006/main" noGrp="1"/>
          </p:cNvSpPr>
          <p:nvPr/>
        </p:nvSpPr>
        <p:spPr>
          <a:xfrm xmlns:a="http://schemas.openxmlformats.org/drawingml/2006/main">
            <a:off x="685800" y="6457950"/>
            <a:ext cx="1009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75" b="0" i="0">
                <a:solidFill>
                  <a:srgbClr val="71808A"/>
                </a:solidFill>
                <a:latin typeface="DejaVu Sans"/>
                <a:ea typeface="DejaVu Sans"/>
                <a:cs typeface="DejaVu Sans"/>
              </a:defRPr>
            </a:defPPr>
          </a:lstStyle>
          <a:p xmlns:a="http://schemas.openxmlformats.org/drawingml/2006/main">
            <a:pPr algn="l">
              <a:defRPr sz="675" b="0" i="0">
                <a:solidFill>
                  <a:srgbClr val="71808A"/>
                </a:solidFill>
                <a:latin typeface="DejaVu Sans"/>
                <a:ea typeface="DejaVu Sans"/>
                <a:cs typeface="DejaVu Sans"/>
              </a:defRPr>
            </a:pPr>
            <a:r>
              <a:rPr sz="675" b="0" i="0">
                <a:solidFill>
                  <a:srgbClr val="71808A"/>
                </a:solidFill>
                <a:latin typeface="DejaVu Sans"/>
                <a:ea typeface="DejaVu Sans"/>
                <a:cs typeface="DejaVu Sans"/>
              </a:rPr>
              <a:t>Implementation: Balandat et al. 2020; numerical stability: Ament et al. 2023</a:t>
            </a:r>
          </a:p>
        </p:txBody>
      </p:sp>
      <p:sp>
        <p:nvSpPr>
          <p:cNvPr id="9" name="">
            <a:extLst xmlns:a="http://schemas.openxmlformats.org/drawingml/2006/main">
              <a:ext uri="{FF2B5EF4-FFF2-40B4-BE49-F238E27FC236}">
                <a16:creationId xmlns:a16="http://schemas.microsoft.com/office/drawing/2014/main" id="{2DA6087D-8002-4190-B32D-8B44ED8790AC}"/>
              </a:ext>
            </a:extLst>
          </p:cNvPr>
          <p:cNvSpPr>
            <a:spLocks xmlns:a="http://schemas.openxmlformats.org/drawingml/2006/main" noGrp="1"/>
          </p:cNvSpPr>
          <p:nvPr/>
        </p:nvSpPr>
        <p:spPr>
          <a:xfrm xmlns:a="http://schemas.openxmlformats.org/drawingml/2006/main">
            <a:off x="11049000" y="6419850"/>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i="0">
                <a:solidFill>
                  <a:srgbClr val="71808A"/>
                </a:solidFill>
                <a:latin typeface="DejaVu Sans"/>
                <a:ea typeface="DejaVu Sans"/>
                <a:cs typeface="DejaVu Sans"/>
              </a:defRPr>
            </a:defPPr>
          </a:lstStyle>
          <a:p xmlns:a="http://schemas.openxmlformats.org/drawingml/2006/main">
            <a:pPr algn="r">
              <a:defRPr sz="825" b="1" i="0">
                <a:solidFill>
                  <a:srgbClr val="71808A"/>
                </a:solidFill>
                <a:latin typeface="DejaVu Sans"/>
                <a:ea typeface="DejaVu Sans"/>
                <a:cs typeface="DejaVu Sans"/>
              </a:defRPr>
            </a:pPr>
            <a:r>
              <a:rPr sz="825" b="1" i="0">
                <a:solidFill>
                  <a:srgbClr val="71808A"/>
                </a:solidFill>
                <a:latin typeface="DejaVu Sans"/>
                <a:ea typeface="DejaVu Sans"/>
                <a:cs typeface="DejaVu Sans"/>
              </a:rPr>
              <a:t>09</a:t>
            </a:r>
          </a:p>
        </p:txBody>
      </p:sp>
    </p:spTree>
    <p:extLst>
      <p:ext uri="{BB962C8B-B14F-4D97-AF65-F5344CB8AC3E}">
        <p14:creationId xmlns:p14="http://schemas.microsoft.com/office/powerpoint/2010/main" val="973197979"/>
      </p:ext>
    </p:extLst>
  </p:cSld>
</p:sld>
</file>

<file path=ppt/slides/slide10.xml><?xml version="1.0" encoding="utf-8"?>
<p:sld xmlns:p="http://schemas.openxmlformats.org/presentationml/2006/main">
  <p:cSld>
    <p:bg>
      <p:bgPr>
        <a:solidFill xmlns:a="http://schemas.openxmlformats.org/drawingml/2006/main">
          <a:srgbClr val="0B1F33"/>
        </a:solidFill>
      </p:bgPr>
    </p:bg>
    <p:spTree>
      <p:nvGrpSpPr>
        <p:cNvPr id="1" name=""/>
        <p:cNvGrpSpPr/>
        <p:nvPr/>
      </p:nvGrpSpPr>
      <p:grpSpPr>
        <a:xfrm xmlns:a="http://schemas.openxmlformats.org/drawingml/2006/main"/>
      </p:grpSpPr>
      <p:cxnSp>
        <p:nvCxnSpPr>
          <p:cNvPr id="26" name="">
            <a:extLst xmlns:a="http://schemas.openxmlformats.org/drawingml/2006/main">
              <a:ext uri="{FF2B5EF4-FFF2-40B4-BE49-F238E27FC236}">
                <a16:creationId xmlns:a16="http://schemas.microsoft.com/office/drawing/2014/main" id="{437B0C53-C63D-4111-87A5-0A2FCA0071F5}"/>
              </a:ext>
            </a:extLst>
          </p:cNvPr>
          <p:cNvCxnSpPr>
            <a:stCxn xmlns:a="http://schemas.openxmlformats.org/drawingml/2006/main" id="17" idx="3"/>
            <a:endCxn xmlns:a="http://schemas.openxmlformats.org/drawingml/2006/main" id="22" idx="1"/>
          </p:cNvCxnSpPr>
          <p:nvPr/>
        </p:nvCxnSpPr>
        <p:spPr>
          <a:xfrm xmlns:a="http://schemas.openxmlformats.org/drawingml/2006/main">
            <a:off x="9572625" y="2690813"/>
            <a:ext cx="285750" cy="0"/>
          </a:xfrm>
          <a:prstGeom xmlns:a="http://schemas.openxmlformats.org/drawingml/2006/main" prst="straightConnector1">
            <a:avLst/>
          </a:prstGeom>
          <a:ln xmlns:a="http://schemas.openxmlformats.org/drawingml/2006/main" w="19050">
            <a:solidFill>
              <a:srgbClr val="58C7C0"/>
            </a:solidFill>
            <a:prstDash val="solid"/>
            <a:tailEnd type="arrow" w="sm" len="sm"/>
          </a:ln>
        </p:spPr>
      </p:cxnSp>
      <p:cxnSp>
        <p:nvCxnSpPr>
          <p:cNvPr id="21" name="">
            <a:extLst xmlns:a="http://schemas.openxmlformats.org/drawingml/2006/main">
              <a:ext uri="{FF2B5EF4-FFF2-40B4-BE49-F238E27FC236}">
                <a16:creationId xmlns:a16="http://schemas.microsoft.com/office/drawing/2014/main" id="{1CF56A8A-46B6-4872-840E-536103F439F3}"/>
              </a:ext>
            </a:extLst>
          </p:cNvPr>
          <p:cNvCxnSpPr>
            <a:stCxn xmlns:a="http://schemas.openxmlformats.org/drawingml/2006/main" id="12" idx="3"/>
            <a:endCxn xmlns:a="http://schemas.openxmlformats.org/drawingml/2006/main" id="17" idx="1"/>
          </p:cNvCxnSpPr>
          <p:nvPr/>
        </p:nvCxnSpPr>
        <p:spPr>
          <a:xfrm xmlns:a="http://schemas.openxmlformats.org/drawingml/2006/main">
            <a:off x="7239000" y="2690813"/>
            <a:ext cx="285750" cy="0"/>
          </a:xfrm>
          <a:prstGeom xmlns:a="http://schemas.openxmlformats.org/drawingml/2006/main" prst="straightConnector1">
            <a:avLst/>
          </a:prstGeom>
          <a:ln xmlns:a="http://schemas.openxmlformats.org/drawingml/2006/main" w="19050">
            <a:solidFill>
              <a:srgbClr val="58C7C0"/>
            </a:solidFill>
            <a:prstDash val="solid"/>
            <a:tailEnd type="arrow" w="sm" len="sm"/>
          </a:ln>
        </p:spPr>
      </p:cxnSp>
      <p:cxnSp>
        <p:nvCxnSpPr>
          <p:cNvPr id="16" name="">
            <a:extLst xmlns:a="http://schemas.openxmlformats.org/drawingml/2006/main">
              <a:ext uri="{FF2B5EF4-FFF2-40B4-BE49-F238E27FC236}">
                <a16:creationId xmlns:a16="http://schemas.microsoft.com/office/drawing/2014/main" id="{DAB9663B-C496-40B0-92CB-FE16EB69DF4F}"/>
              </a:ext>
            </a:extLst>
          </p:cNvPr>
          <p:cNvCxnSpPr>
            <a:stCxn xmlns:a="http://schemas.openxmlformats.org/drawingml/2006/main" id="7" idx="3"/>
            <a:endCxn xmlns:a="http://schemas.openxmlformats.org/drawingml/2006/main" id="12" idx="1"/>
          </p:cNvCxnSpPr>
          <p:nvPr/>
        </p:nvCxnSpPr>
        <p:spPr>
          <a:xfrm xmlns:a="http://schemas.openxmlformats.org/drawingml/2006/main">
            <a:off x="4905375" y="2690813"/>
            <a:ext cx="285750" cy="0"/>
          </a:xfrm>
          <a:prstGeom xmlns:a="http://schemas.openxmlformats.org/drawingml/2006/main" prst="straightConnector1">
            <a:avLst/>
          </a:prstGeom>
          <a:ln xmlns:a="http://schemas.openxmlformats.org/drawingml/2006/main" w="19050">
            <a:solidFill>
              <a:srgbClr val="58C7C0"/>
            </a:solidFill>
            <a:prstDash val="solid"/>
            <a:tailEnd type="arrow" w="sm" len="sm"/>
          </a:ln>
        </p:spPr>
      </p:cxnSp>
      <p:cxnSp>
        <p:nvCxnSpPr>
          <p:cNvPr id="11" name="">
            <a:extLst xmlns:a="http://schemas.openxmlformats.org/drawingml/2006/main">
              <a:ext uri="{FF2B5EF4-FFF2-40B4-BE49-F238E27FC236}">
                <a16:creationId xmlns:a16="http://schemas.microsoft.com/office/drawing/2014/main" id="{198B4743-FE51-4703-982C-F033037EF4C3}"/>
              </a:ext>
            </a:extLst>
          </p:cNvPr>
          <p:cNvCxnSpPr>
            <a:stCxn xmlns:a="http://schemas.openxmlformats.org/drawingml/2006/main" id="3" idx="3"/>
            <a:endCxn xmlns:a="http://schemas.openxmlformats.org/drawingml/2006/main" id="7" idx="1"/>
          </p:cNvCxnSpPr>
          <p:nvPr/>
        </p:nvCxnSpPr>
        <p:spPr>
          <a:xfrm xmlns:a="http://schemas.openxmlformats.org/drawingml/2006/main">
            <a:off x="2571750" y="2690813"/>
            <a:ext cx="285750" cy="0"/>
          </a:xfrm>
          <a:prstGeom xmlns:a="http://schemas.openxmlformats.org/drawingml/2006/main" prst="straightConnector1">
            <a:avLst/>
          </a:prstGeom>
          <a:ln xmlns:a="http://schemas.openxmlformats.org/drawingml/2006/main" w="19050">
            <a:solidFill>
              <a:srgbClr val="58C7C0"/>
            </a:solidFill>
            <a:prstDash val="solid"/>
            <a:tailEnd type="arrow" w="sm" len="sm"/>
          </a:ln>
        </p:spPr>
      </p:cxnSp>
      <p:sp>
        <p:nvSpPr>
          <p:cNvPr id="33" name="">
            <a:extLst xmlns:a="http://schemas.openxmlformats.org/drawingml/2006/main">
              <a:ext uri="{FF2B5EF4-FFF2-40B4-BE49-F238E27FC236}">
                <a16:creationId xmlns:a16="http://schemas.microsoft.com/office/drawing/2014/main" id="{3D2E2D7E-AFD1-439F-8A68-385E54E0CE00}"/>
              </a:ext>
            </a:extLst>
          </p:cNvPr>
          <p:cNvSpPr>
            <a:spLocks xmlns:a="http://schemas.openxmlformats.org/drawingml/2006/main" noGrp="1"/>
          </p:cNvSpPr>
          <p:nvPr/>
        </p:nvSpPr>
        <p:spPr>
          <a:xfrm xmlns:a="http://schemas.openxmlformats.org/drawingml/2006/main">
            <a:off x="685800" y="4000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i="0">
                <a:solidFill>
                  <a:srgbClr val="FFFFFF"/>
                </a:solidFill>
                <a:latin typeface="DejaVu Sans"/>
                <a:ea typeface="DejaVu Sans"/>
                <a:cs typeface="DejaVu Sans"/>
              </a:defRPr>
            </a:defPPr>
          </a:lstStyle>
          <a:p xmlns:a="http://schemas.openxmlformats.org/drawingml/2006/main">
            <a:pPr algn="l">
              <a:defRPr sz="2550" b="1" i="0">
                <a:solidFill>
                  <a:srgbClr val="FFFFFF"/>
                </a:solidFill>
                <a:latin typeface="DejaVu Sans"/>
                <a:ea typeface="DejaVu Sans"/>
                <a:cs typeface="DejaVu Sans"/>
              </a:defRPr>
            </a:pPr>
            <a:r>
              <a:rPr sz="2550" b="1" i="0">
                <a:solidFill>
                  <a:srgbClr val="FFFFFF"/>
                </a:solidFill>
                <a:latin typeface="DejaVu Sans"/>
                <a:ea typeface="DejaVu Sans"/>
                <a:cs typeface="DejaVu Sans"/>
              </a:rPr>
              <a:t>Next implementation plan</a:t>
            </a:r>
          </a:p>
        </p:txBody>
      </p:sp>
      <p:sp>
        <p:nvSpPr>
          <p:cNvPr id="2" name="">
            <a:extLst xmlns:a="http://schemas.openxmlformats.org/drawingml/2006/main">
              <a:ext uri="{FF2B5EF4-FFF2-40B4-BE49-F238E27FC236}">
                <a16:creationId xmlns:a16="http://schemas.microsoft.com/office/drawing/2014/main" id="{A77D7EAD-6020-4E35-8D8F-0B24EDB77555}"/>
              </a:ext>
            </a:extLst>
          </p:cNvPr>
          <p:cNvSpPr>
            <a:spLocks xmlns:a="http://schemas.openxmlformats.org/drawingml/2006/main" noGrp="1"/>
          </p:cNvSpPr>
          <p:nvPr/>
        </p:nvSpPr>
        <p:spPr>
          <a:xfrm xmlns:a="http://schemas.openxmlformats.org/drawingml/2006/main">
            <a:off x="704850" y="971550"/>
            <a:ext cx="1028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0" i="0">
                <a:solidFill>
                  <a:srgbClr val="C4D2DC"/>
                </a:solidFill>
                <a:latin typeface="DejaVu Sans"/>
                <a:ea typeface="DejaVu Sans"/>
                <a:cs typeface="DejaVu Sans"/>
              </a:defRPr>
            </a:defPPr>
          </a:lstStyle>
          <a:p xmlns:a="http://schemas.openxmlformats.org/drawingml/2006/main">
            <a:pPr algn="l">
              <a:defRPr sz="1275" b="0" i="0">
                <a:solidFill>
                  <a:srgbClr val="C4D2DC"/>
                </a:solidFill>
                <a:latin typeface="DejaVu Sans"/>
                <a:ea typeface="DejaVu Sans"/>
                <a:cs typeface="DejaVu Sans"/>
              </a:defRPr>
            </a:pPr>
            <a:r>
              <a:rPr sz="1275" b="0" i="0">
                <a:solidFill>
                  <a:srgbClr val="C4D2DC"/>
                </a:solidFill>
                <a:latin typeface="DejaVu Sans"/>
                <a:ea typeface="DejaVu Sans"/>
                <a:cs typeface="DejaVu Sans"/>
              </a:rPr>
              <a:t>A small complete run comes before the full benchmark</a:t>
            </a:r>
          </a:p>
        </p:txBody>
      </p:sp>
      <p:sp>
        <p:nvSpPr>
          <p:cNvPr id="3" name="">
            <a:extLst xmlns:a="http://schemas.openxmlformats.org/drawingml/2006/main">
              <a:ext uri="{FF2B5EF4-FFF2-40B4-BE49-F238E27FC236}">
                <a16:creationId xmlns:a16="http://schemas.microsoft.com/office/drawing/2014/main" id="{38E1982B-C8FB-44D8-8345-AAFCCADEA50D}"/>
              </a:ext>
            </a:extLst>
          </p:cNvPr>
          <p:cNvSpPr>
            <a:spLocks xmlns:a="http://schemas.openxmlformats.org/drawingml/2006/main" noGrp="1"/>
          </p:cNvSpPr>
          <p:nvPr/>
        </p:nvSpPr>
        <p:spPr>
          <a:xfrm xmlns:a="http://schemas.openxmlformats.org/drawingml/2006/main">
            <a:off x="523875" y="1714500"/>
            <a:ext cx="2047875" cy="1952625"/>
          </a:xfrm>
          <a:prstGeom xmlns:a="http://schemas.openxmlformats.org/drawingml/2006/main" prst="roundRect">
            <a:avLst>
              <a:gd name="adj" fmla="val 3902"/>
            </a:avLst>
          </a:prstGeom>
          <a:solidFill xmlns:a="http://schemas.openxmlformats.org/drawingml/2006/main">
            <a:srgbClr val="19465A"/>
          </a:solidFill>
          <a:ln xmlns:a="http://schemas.openxmlformats.org/drawingml/2006/main" w="9525">
            <a:solidFill>
              <a:srgbClr val="58C7C0"/>
            </a:solidFill>
            <a:prstDash val="solid"/>
          </a:ln>
        </p:spPr>
      </p:sp>
      <p:sp>
        <p:nvSpPr>
          <p:cNvPr id="4" name="">
            <a:extLst xmlns:a="http://schemas.openxmlformats.org/drawingml/2006/main">
              <a:ext uri="{FF2B5EF4-FFF2-40B4-BE49-F238E27FC236}">
                <a16:creationId xmlns:a16="http://schemas.microsoft.com/office/drawing/2014/main" id="{00EE3434-133B-491A-A1C9-559AF5F22D4F}"/>
              </a:ext>
            </a:extLst>
          </p:cNvPr>
          <p:cNvSpPr>
            <a:spLocks xmlns:a="http://schemas.openxmlformats.org/drawingml/2006/main" noGrp="1"/>
          </p:cNvSpPr>
          <p:nvPr/>
        </p:nvSpPr>
        <p:spPr>
          <a:xfrm xmlns:a="http://schemas.openxmlformats.org/drawingml/2006/main">
            <a:off x="695325" y="1905000"/>
            <a:ext cx="333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i="0">
                <a:solidFill>
                  <a:srgbClr val="58C7C0"/>
                </a:solidFill>
                <a:latin typeface="DejaVu Sans"/>
                <a:ea typeface="DejaVu Sans"/>
                <a:cs typeface="DejaVu Sans"/>
              </a:defRPr>
            </a:defPPr>
          </a:lstStyle>
          <a:p xmlns:a="http://schemas.openxmlformats.org/drawingml/2006/main">
            <a:pPr algn="l">
              <a:defRPr sz="1500" b="1" i="0">
                <a:solidFill>
                  <a:srgbClr val="58C7C0"/>
                </a:solidFill>
                <a:latin typeface="DejaVu Sans"/>
                <a:ea typeface="DejaVu Sans"/>
                <a:cs typeface="DejaVu Sans"/>
              </a:defRPr>
            </a:pPr>
            <a:r>
              <a:rPr sz="1500" b="1" i="0">
                <a:solidFill>
                  <a:srgbClr val="58C7C0"/>
                </a:solidFill>
                <a:latin typeface="DejaVu Sans"/>
                <a:ea typeface="DejaVu Sans"/>
                <a:cs typeface="DejaVu Sans"/>
              </a:rPr>
              <a:t>1</a:t>
            </a:r>
          </a:p>
        </p:txBody>
      </p:sp>
      <p:sp>
        <p:nvSpPr>
          <p:cNvPr id="5" name="">
            <a:extLst xmlns:a="http://schemas.openxmlformats.org/drawingml/2006/main">
              <a:ext uri="{FF2B5EF4-FFF2-40B4-BE49-F238E27FC236}">
                <a16:creationId xmlns:a16="http://schemas.microsoft.com/office/drawing/2014/main" id="{C6B18B6B-65BF-4E40-B8F9-592350E2F484}"/>
              </a:ext>
            </a:extLst>
          </p:cNvPr>
          <p:cNvSpPr>
            <a:spLocks xmlns:a="http://schemas.openxmlformats.org/drawingml/2006/main" noGrp="1"/>
          </p:cNvSpPr>
          <p:nvPr/>
        </p:nvSpPr>
        <p:spPr>
          <a:xfrm xmlns:a="http://schemas.openxmlformats.org/drawingml/2006/main">
            <a:off x="695325" y="2381250"/>
            <a:ext cx="17049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500" b="1" i="0">
                <a:solidFill>
                  <a:srgbClr val="FFFFFF"/>
                </a:solidFill>
                <a:latin typeface="DejaVu Sans"/>
                <a:ea typeface="DejaVu Sans"/>
                <a:cs typeface="DejaVu Sans"/>
              </a:defRPr>
            </a:defPPr>
          </a:lstStyle>
          <a:p xmlns:a="http://schemas.openxmlformats.org/drawingml/2006/main">
            <a:pPr algn="ctr">
              <a:defRPr sz="1500" b="1" i="0">
                <a:solidFill>
                  <a:srgbClr val="FFFFFF"/>
                </a:solidFill>
                <a:latin typeface="DejaVu Sans"/>
                <a:ea typeface="DejaVu Sans"/>
                <a:cs typeface="DejaVu Sans"/>
              </a:defRPr>
            </a:pPr>
            <a:r>
              <a:rPr sz="1500" b="1" i="0">
                <a:solidFill>
                  <a:srgbClr val="FFFFFF"/>
                </a:solidFill>
                <a:latin typeface="DejaVu Sans"/>
                <a:ea typeface="DejaVu Sans"/>
                <a:cs typeface="DejaVu Sans"/>
              </a:rPr>
              <a:t>Close Phase 1</a:t>
            </a:r>
          </a:p>
        </p:txBody>
      </p:sp>
      <p:sp>
        <p:nvSpPr>
          <p:cNvPr id="6" name="">
            <a:extLst xmlns:a="http://schemas.openxmlformats.org/drawingml/2006/main">
              <a:ext uri="{FF2B5EF4-FFF2-40B4-BE49-F238E27FC236}">
                <a16:creationId xmlns:a16="http://schemas.microsoft.com/office/drawing/2014/main" id="{99D3800D-039E-442C-AFD6-A750D041DC2A}"/>
              </a:ext>
            </a:extLst>
          </p:cNvPr>
          <p:cNvSpPr>
            <a:spLocks xmlns:a="http://schemas.openxmlformats.org/drawingml/2006/main" noGrp="1"/>
          </p:cNvSpPr>
          <p:nvPr/>
        </p:nvSpPr>
        <p:spPr>
          <a:xfrm xmlns:a="http://schemas.openxmlformats.org/drawingml/2006/main">
            <a:off x="695325" y="3076575"/>
            <a:ext cx="1704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i="0">
                <a:solidFill>
                  <a:srgbClr val="C8D5DD"/>
                </a:solidFill>
                <a:latin typeface="DejaVu Sans"/>
                <a:ea typeface="DejaVu Sans"/>
                <a:cs typeface="DejaVu Sans"/>
              </a:defRPr>
            </a:defPPr>
          </a:lstStyle>
          <a:p xmlns:a="http://schemas.openxmlformats.org/drawingml/2006/main">
            <a:pPr algn="ctr">
              <a:defRPr sz="1050" b="0" i="0">
                <a:solidFill>
                  <a:srgbClr val="C8D5DD"/>
                </a:solidFill>
                <a:latin typeface="DejaVu Sans"/>
                <a:ea typeface="DejaVu Sans"/>
                <a:cs typeface="DejaVu Sans"/>
              </a:defRPr>
            </a:pPr>
            <a:r>
              <a:rPr sz="1050" b="0" i="0">
                <a:solidFill>
                  <a:srgbClr val="C8D5DD"/>
                </a:solidFill>
                <a:latin typeface="DejaVu Sans"/>
                <a:ea typeface="DejaVu Sans"/>
                <a:cs typeface="DejaVu Sans"/>
              </a:rPr>
              <a:t>Check Tasks 1.1 to 1.3 in a clean environment</a:t>
            </a:r>
          </a:p>
        </p:txBody>
      </p:sp>
      <p:sp>
        <p:nvSpPr>
          <p:cNvPr id="7" name="">
            <a:extLst xmlns:a="http://schemas.openxmlformats.org/drawingml/2006/main">
              <a:ext uri="{FF2B5EF4-FFF2-40B4-BE49-F238E27FC236}">
                <a16:creationId xmlns:a16="http://schemas.microsoft.com/office/drawing/2014/main" id="{72778823-463E-47C7-A9F1-5F1FD54D9408}"/>
              </a:ext>
            </a:extLst>
          </p:cNvPr>
          <p:cNvSpPr>
            <a:spLocks xmlns:a="http://schemas.openxmlformats.org/drawingml/2006/main" noGrp="1"/>
          </p:cNvSpPr>
          <p:nvPr/>
        </p:nvSpPr>
        <p:spPr>
          <a:xfrm xmlns:a="http://schemas.openxmlformats.org/drawingml/2006/main">
            <a:off x="2857500" y="1714500"/>
            <a:ext cx="2047875" cy="1952625"/>
          </a:xfrm>
          <a:prstGeom xmlns:a="http://schemas.openxmlformats.org/drawingml/2006/main" prst="roundRect">
            <a:avLst>
              <a:gd name="adj" fmla="val 3902"/>
            </a:avLst>
          </a:prstGeom>
          <a:solidFill xmlns:a="http://schemas.openxmlformats.org/drawingml/2006/main">
            <a:srgbClr val="132D40"/>
          </a:solidFill>
          <a:ln xmlns:a="http://schemas.openxmlformats.org/drawingml/2006/main" w="9525">
            <a:solidFill>
              <a:srgbClr val="355064"/>
            </a:solidFill>
            <a:prstDash val="solid"/>
          </a:ln>
        </p:spPr>
      </p:sp>
      <p:sp>
        <p:nvSpPr>
          <p:cNvPr id="8" name="">
            <a:extLst xmlns:a="http://schemas.openxmlformats.org/drawingml/2006/main">
              <a:ext uri="{FF2B5EF4-FFF2-40B4-BE49-F238E27FC236}">
                <a16:creationId xmlns:a16="http://schemas.microsoft.com/office/drawing/2014/main" id="{EEED2BA1-D3BF-4EBE-BC9A-B3929887007F}"/>
              </a:ext>
            </a:extLst>
          </p:cNvPr>
          <p:cNvSpPr>
            <a:spLocks xmlns:a="http://schemas.openxmlformats.org/drawingml/2006/main" noGrp="1"/>
          </p:cNvSpPr>
          <p:nvPr/>
        </p:nvSpPr>
        <p:spPr>
          <a:xfrm xmlns:a="http://schemas.openxmlformats.org/drawingml/2006/main">
            <a:off x="3028950" y="1905000"/>
            <a:ext cx="333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i="0">
                <a:solidFill>
                  <a:srgbClr val="A8BBC7"/>
                </a:solidFill>
                <a:latin typeface="DejaVu Sans"/>
                <a:ea typeface="DejaVu Sans"/>
                <a:cs typeface="DejaVu Sans"/>
              </a:defRPr>
            </a:defPPr>
          </a:lstStyle>
          <a:p xmlns:a="http://schemas.openxmlformats.org/drawingml/2006/main">
            <a:pPr algn="l">
              <a:defRPr sz="1500" b="1" i="0">
                <a:solidFill>
                  <a:srgbClr val="A8BBC7"/>
                </a:solidFill>
                <a:latin typeface="DejaVu Sans"/>
                <a:ea typeface="DejaVu Sans"/>
                <a:cs typeface="DejaVu Sans"/>
              </a:defRPr>
            </a:pPr>
            <a:r>
              <a:rPr sz="1500" b="1" i="0">
                <a:solidFill>
                  <a:srgbClr val="A8BBC7"/>
                </a:solidFill>
                <a:latin typeface="DejaVu Sans"/>
                <a:ea typeface="DejaVu Sans"/>
                <a:cs typeface="DejaVu Sans"/>
              </a:rPr>
              <a:t>2</a:t>
            </a:r>
          </a:p>
        </p:txBody>
      </p:sp>
      <p:sp>
        <p:nvSpPr>
          <p:cNvPr id="9" name="">
            <a:extLst xmlns:a="http://schemas.openxmlformats.org/drawingml/2006/main">
              <a:ext uri="{FF2B5EF4-FFF2-40B4-BE49-F238E27FC236}">
                <a16:creationId xmlns:a16="http://schemas.microsoft.com/office/drawing/2014/main" id="{A95F99F3-DF90-49B9-9930-53B59290C810}"/>
              </a:ext>
            </a:extLst>
          </p:cNvPr>
          <p:cNvSpPr>
            <a:spLocks xmlns:a="http://schemas.openxmlformats.org/drawingml/2006/main" noGrp="1"/>
          </p:cNvSpPr>
          <p:nvPr/>
        </p:nvSpPr>
        <p:spPr>
          <a:xfrm xmlns:a="http://schemas.openxmlformats.org/drawingml/2006/main">
            <a:off x="3028950" y="2381250"/>
            <a:ext cx="17049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500" b="1" i="0">
                <a:solidFill>
                  <a:srgbClr val="FFFFFF"/>
                </a:solidFill>
                <a:latin typeface="DejaVu Sans"/>
                <a:ea typeface="DejaVu Sans"/>
                <a:cs typeface="DejaVu Sans"/>
              </a:defRPr>
            </a:defPPr>
          </a:lstStyle>
          <a:p xmlns:a="http://schemas.openxmlformats.org/drawingml/2006/main">
            <a:pPr algn="ctr">
              <a:defRPr sz="1500" b="1" i="0">
                <a:solidFill>
                  <a:srgbClr val="FFFFFF"/>
                </a:solidFill>
                <a:latin typeface="DejaVu Sans"/>
                <a:ea typeface="DejaVu Sans"/>
                <a:cs typeface="DejaVu Sans"/>
              </a:defRPr>
            </a:pPr>
            <a:r>
              <a:rPr sz="1500" b="1" i="0">
                <a:solidFill>
                  <a:srgbClr val="FFFFFF"/>
                </a:solidFill>
                <a:latin typeface="DejaVu Sans"/>
                <a:ea typeface="DejaVu Sans"/>
                <a:cs typeface="DejaVu Sans"/>
              </a:rPr>
              <a:t>Build benchmarks</a:t>
            </a:r>
          </a:p>
        </p:txBody>
      </p:sp>
      <p:sp>
        <p:nvSpPr>
          <p:cNvPr id="10" name="">
            <a:extLst xmlns:a="http://schemas.openxmlformats.org/drawingml/2006/main">
              <a:ext uri="{FF2B5EF4-FFF2-40B4-BE49-F238E27FC236}">
                <a16:creationId xmlns:a16="http://schemas.microsoft.com/office/drawing/2014/main" id="{5BE15FD0-0D8D-4507-9F45-80FDF887A786}"/>
              </a:ext>
            </a:extLst>
          </p:cNvPr>
          <p:cNvSpPr>
            <a:spLocks xmlns:a="http://schemas.openxmlformats.org/drawingml/2006/main" noGrp="1"/>
          </p:cNvSpPr>
          <p:nvPr/>
        </p:nvSpPr>
        <p:spPr>
          <a:xfrm xmlns:a="http://schemas.openxmlformats.org/drawingml/2006/main">
            <a:off x="3028950" y="3076575"/>
            <a:ext cx="1704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i="0">
                <a:solidFill>
                  <a:srgbClr val="C8D5DD"/>
                </a:solidFill>
                <a:latin typeface="DejaVu Sans"/>
                <a:ea typeface="DejaVu Sans"/>
                <a:cs typeface="DejaVu Sans"/>
              </a:defRPr>
            </a:defPPr>
          </a:lstStyle>
          <a:p xmlns:a="http://schemas.openxmlformats.org/drawingml/2006/main">
            <a:pPr algn="ctr">
              <a:defRPr sz="1050" b="0" i="0">
                <a:solidFill>
                  <a:srgbClr val="C8D5DD"/>
                </a:solidFill>
                <a:latin typeface="DejaVu Sans"/>
                <a:ea typeface="DejaVu Sans"/>
                <a:cs typeface="DejaVu Sans"/>
              </a:defRPr>
            </a:pPr>
            <a:r>
              <a:rPr sz="1050" b="0" i="0">
                <a:solidFill>
                  <a:srgbClr val="C8D5DD"/>
                </a:solidFill>
                <a:latin typeface="DejaVu Sans"/>
                <a:ea typeface="DejaVu Sans"/>
                <a:cs typeface="DejaVu Sans"/>
              </a:rPr>
              <a:t>Known optima and narrow peak stress cases</a:t>
            </a:r>
          </a:p>
        </p:txBody>
      </p:sp>
      <p:sp>
        <p:nvSpPr>
          <p:cNvPr id="12" name="">
            <a:extLst xmlns:a="http://schemas.openxmlformats.org/drawingml/2006/main">
              <a:ext uri="{FF2B5EF4-FFF2-40B4-BE49-F238E27FC236}">
                <a16:creationId xmlns:a16="http://schemas.microsoft.com/office/drawing/2014/main" id="{DB8D0E09-C0AE-4EE0-BEC3-BE68511905C6}"/>
              </a:ext>
            </a:extLst>
          </p:cNvPr>
          <p:cNvSpPr>
            <a:spLocks xmlns:a="http://schemas.openxmlformats.org/drawingml/2006/main" noGrp="1"/>
          </p:cNvSpPr>
          <p:nvPr/>
        </p:nvSpPr>
        <p:spPr>
          <a:xfrm xmlns:a="http://schemas.openxmlformats.org/drawingml/2006/main">
            <a:off x="5191125" y="1714500"/>
            <a:ext cx="2047875" cy="1952625"/>
          </a:xfrm>
          <a:prstGeom xmlns:a="http://schemas.openxmlformats.org/drawingml/2006/main" prst="roundRect">
            <a:avLst>
              <a:gd name="adj" fmla="val 3902"/>
            </a:avLst>
          </a:prstGeom>
          <a:solidFill xmlns:a="http://schemas.openxmlformats.org/drawingml/2006/main">
            <a:srgbClr val="132D40"/>
          </a:solidFill>
          <a:ln xmlns:a="http://schemas.openxmlformats.org/drawingml/2006/main" w="9525">
            <a:solidFill>
              <a:srgbClr val="355064"/>
            </a:solidFill>
            <a:prstDash val="solid"/>
          </a:ln>
        </p:spPr>
      </p:sp>
      <p:sp>
        <p:nvSpPr>
          <p:cNvPr id="13" name="">
            <a:extLst xmlns:a="http://schemas.openxmlformats.org/drawingml/2006/main">
              <a:ext uri="{FF2B5EF4-FFF2-40B4-BE49-F238E27FC236}">
                <a16:creationId xmlns:a16="http://schemas.microsoft.com/office/drawing/2014/main" id="{776B1F41-DE6B-4CE1-97D0-C320E76E3EC1}"/>
              </a:ext>
            </a:extLst>
          </p:cNvPr>
          <p:cNvSpPr>
            <a:spLocks xmlns:a="http://schemas.openxmlformats.org/drawingml/2006/main" noGrp="1"/>
          </p:cNvSpPr>
          <p:nvPr/>
        </p:nvSpPr>
        <p:spPr>
          <a:xfrm xmlns:a="http://schemas.openxmlformats.org/drawingml/2006/main">
            <a:off x="5362575" y="1905000"/>
            <a:ext cx="333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i="0">
                <a:solidFill>
                  <a:srgbClr val="A8BBC7"/>
                </a:solidFill>
                <a:latin typeface="DejaVu Sans"/>
                <a:ea typeface="DejaVu Sans"/>
                <a:cs typeface="DejaVu Sans"/>
              </a:defRPr>
            </a:defPPr>
          </a:lstStyle>
          <a:p xmlns:a="http://schemas.openxmlformats.org/drawingml/2006/main">
            <a:pPr algn="l">
              <a:defRPr sz="1500" b="1" i="0">
                <a:solidFill>
                  <a:srgbClr val="A8BBC7"/>
                </a:solidFill>
                <a:latin typeface="DejaVu Sans"/>
                <a:ea typeface="DejaVu Sans"/>
                <a:cs typeface="DejaVu Sans"/>
              </a:defRPr>
            </a:pPr>
            <a:r>
              <a:rPr sz="1500" b="1" i="0">
                <a:solidFill>
                  <a:srgbClr val="A8BBC7"/>
                </a:solidFill>
                <a:latin typeface="DejaVu Sans"/>
                <a:ea typeface="DejaVu Sans"/>
                <a:cs typeface="DejaVu Sans"/>
              </a:rPr>
              <a:t>3</a:t>
            </a:r>
          </a:p>
        </p:txBody>
      </p:sp>
      <p:sp>
        <p:nvSpPr>
          <p:cNvPr id="14" name="">
            <a:extLst xmlns:a="http://schemas.openxmlformats.org/drawingml/2006/main">
              <a:ext uri="{FF2B5EF4-FFF2-40B4-BE49-F238E27FC236}">
                <a16:creationId xmlns:a16="http://schemas.microsoft.com/office/drawing/2014/main" id="{C3074E02-C3BA-4114-B88C-855AC7753235}"/>
              </a:ext>
            </a:extLst>
          </p:cNvPr>
          <p:cNvSpPr>
            <a:spLocks xmlns:a="http://schemas.openxmlformats.org/drawingml/2006/main" noGrp="1"/>
          </p:cNvSpPr>
          <p:nvPr/>
        </p:nvSpPr>
        <p:spPr>
          <a:xfrm xmlns:a="http://schemas.openxmlformats.org/drawingml/2006/main">
            <a:off x="5362575" y="2381250"/>
            <a:ext cx="17049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500" b="1" i="0">
                <a:solidFill>
                  <a:srgbClr val="FFFFFF"/>
                </a:solidFill>
                <a:latin typeface="DejaVu Sans"/>
                <a:ea typeface="DejaVu Sans"/>
                <a:cs typeface="DejaVu Sans"/>
              </a:defRPr>
            </a:defPPr>
          </a:lstStyle>
          <a:p xmlns:a="http://schemas.openxmlformats.org/drawingml/2006/main">
            <a:pPr algn="ctr">
              <a:defRPr sz="1500" b="1" i="0">
                <a:solidFill>
                  <a:srgbClr val="FFFFFF"/>
                </a:solidFill>
                <a:latin typeface="DejaVu Sans"/>
                <a:ea typeface="DejaVu Sans"/>
                <a:cs typeface="DejaVu Sans"/>
              </a:defRPr>
            </a:pPr>
            <a:r>
              <a:rPr sz="1500" b="1" i="0">
                <a:solidFill>
                  <a:srgbClr val="FFFFFF"/>
                </a:solidFill>
                <a:latin typeface="DejaVu Sans"/>
                <a:ea typeface="DejaVu Sans"/>
                <a:cs typeface="DejaVu Sans"/>
              </a:rPr>
              <a:t>Add observers</a:t>
            </a:r>
          </a:p>
        </p:txBody>
      </p:sp>
      <p:sp>
        <p:nvSpPr>
          <p:cNvPr id="15" name="">
            <a:extLst xmlns:a="http://schemas.openxmlformats.org/drawingml/2006/main">
              <a:ext uri="{FF2B5EF4-FFF2-40B4-BE49-F238E27FC236}">
                <a16:creationId xmlns:a16="http://schemas.microsoft.com/office/drawing/2014/main" id="{F4617283-5F03-44D8-A110-30E40D0ADCB4}"/>
              </a:ext>
            </a:extLst>
          </p:cNvPr>
          <p:cNvSpPr>
            <a:spLocks xmlns:a="http://schemas.openxmlformats.org/drawingml/2006/main" noGrp="1"/>
          </p:cNvSpPr>
          <p:nvPr/>
        </p:nvSpPr>
        <p:spPr>
          <a:xfrm xmlns:a="http://schemas.openxmlformats.org/drawingml/2006/main">
            <a:off x="5362575" y="3076575"/>
            <a:ext cx="1704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i="0">
                <a:solidFill>
                  <a:srgbClr val="C8D5DD"/>
                </a:solidFill>
                <a:latin typeface="DejaVu Sans"/>
                <a:ea typeface="DejaVu Sans"/>
                <a:cs typeface="DejaVu Sans"/>
              </a:defRPr>
            </a:defPPr>
          </a:lstStyle>
          <a:p xmlns:a="http://schemas.openxmlformats.org/drawingml/2006/main">
            <a:pPr algn="ctr">
              <a:defRPr sz="1050" b="0" i="0">
                <a:solidFill>
                  <a:srgbClr val="C8D5DD"/>
                </a:solidFill>
                <a:latin typeface="DejaVu Sans"/>
                <a:ea typeface="DejaVu Sans"/>
                <a:cs typeface="DejaVu Sans"/>
              </a:defRPr>
            </a:pPr>
            <a:r>
              <a:rPr sz="1050" b="0" i="0">
                <a:solidFill>
                  <a:srgbClr val="C8D5DD"/>
                </a:solidFill>
                <a:latin typeface="DejaVu Sans"/>
                <a:ea typeface="DejaVu Sans"/>
                <a:cs typeface="DejaVu Sans"/>
              </a:rPr>
              <a:t>Keep acquisition, stopping, and recommendation separate</a:t>
            </a:r>
          </a:p>
        </p:txBody>
      </p:sp>
      <p:sp>
        <p:nvSpPr>
          <p:cNvPr id="17" name="">
            <a:extLst xmlns:a="http://schemas.openxmlformats.org/drawingml/2006/main">
              <a:ext uri="{FF2B5EF4-FFF2-40B4-BE49-F238E27FC236}">
                <a16:creationId xmlns:a16="http://schemas.microsoft.com/office/drawing/2014/main" id="{762D93D5-4B05-4878-A39D-4EFD0D966F5A}"/>
              </a:ext>
            </a:extLst>
          </p:cNvPr>
          <p:cNvSpPr>
            <a:spLocks xmlns:a="http://schemas.openxmlformats.org/drawingml/2006/main" noGrp="1"/>
          </p:cNvSpPr>
          <p:nvPr/>
        </p:nvSpPr>
        <p:spPr>
          <a:xfrm xmlns:a="http://schemas.openxmlformats.org/drawingml/2006/main">
            <a:off x="7524750" y="1714500"/>
            <a:ext cx="2047875" cy="1952625"/>
          </a:xfrm>
          <a:prstGeom xmlns:a="http://schemas.openxmlformats.org/drawingml/2006/main" prst="roundRect">
            <a:avLst>
              <a:gd name="adj" fmla="val 3902"/>
            </a:avLst>
          </a:prstGeom>
          <a:solidFill xmlns:a="http://schemas.openxmlformats.org/drawingml/2006/main">
            <a:srgbClr val="132D40"/>
          </a:solidFill>
          <a:ln xmlns:a="http://schemas.openxmlformats.org/drawingml/2006/main" w="9525">
            <a:solidFill>
              <a:srgbClr val="355064"/>
            </a:solidFill>
            <a:prstDash val="solid"/>
          </a:ln>
        </p:spPr>
      </p:sp>
      <p:sp>
        <p:nvSpPr>
          <p:cNvPr id="18" name="">
            <a:extLst xmlns:a="http://schemas.openxmlformats.org/drawingml/2006/main">
              <a:ext uri="{FF2B5EF4-FFF2-40B4-BE49-F238E27FC236}">
                <a16:creationId xmlns:a16="http://schemas.microsoft.com/office/drawing/2014/main" id="{8DA45921-2F88-415C-9317-0310B7DABE3B}"/>
              </a:ext>
            </a:extLst>
          </p:cNvPr>
          <p:cNvSpPr>
            <a:spLocks xmlns:a="http://schemas.openxmlformats.org/drawingml/2006/main" noGrp="1"/>
          </p:cNvSpPr>
          <p:nvPr/>
        </p:nvSpPr>
        <p:spPr>
          <a:xfrm xmlns:a="http://schemas.openxmlformats.org/drawingml/2006/main">
            <a:off x="7696200" y="1905000"/>
            <a:ext cx="333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i="0">
                <a:solidFill>
                  <a:srgbClr val="A8BBC7"/>
                </a:solidFill>
                <a:latin typeface="DejaVu Sans"/>
                <a:ea typeface="DejaVu Sans"/>
                <a:cs typeface="DejaVu Sans"/>
              </a:defRPr>
            </a:defPPr>
          </a:lstStyle>
          <a:p xmlns:a="http://schemas.openxmlformats.org/drawingml/2006/main">
            <a:pPr algn="l">
              <a:defRPr sz="1500" b="1" i="0">
                <a:solidFill>
                  <a:srgbClr val="A8BBC7"/>
                </a:solidFill>
                <a:latin typeface="DejaVu Sans"/>
                <a:ea typeface="DejaVu Sans"/>
                <a:cs typeface="DejaVu Sans"/>
              </a:defRPr>
            </a:pPr>
            <a:r>
              <a:rPr sz="1500" b="1" i="0">
                <a:solidFill>
                  <a:srgbClr val="A8BBC7"/>
                </a:solidFill>
                <a:latin typeface="DejaVu Sans"/>
                <a:ea typeface="DejaVu Sans"/>
                <a:cs typeface="DejaVu Sans"/>
              </a:rPr>
              <a:t>4</a:t>
            </a:r>
          </a:p>
        </p:txBody>
      </p:sp>
      <p:sp>
        <p:nvSpPr>
          <p:cNvPr id="19" name="">
            <a:extLst xmlns:a="http://schemas.openxmlformats.org/drawingml/2006/main">
              <a:ext uri="{FF2B5EF4-FFF2-40B4-BE49-F238E27FC236}">
                <a16:creationId xmlns:a16="http://schemas.microsoft.com/office/drawing/2014/main" id="{8FBC95B7-65B5-4CDB-B6C8-BC0579CC67A2}"/>
              </a:ext>
            </a:extLst>
          </p:cNvPr>
          <p:cNvSpPr>
            <a:spLocks xmlns:a="http://schemas.openxmlformats.org/drawingml/2006/main" noGrp="1"/>
          </p:cNvSpPr>
          <p:nvPr/>
        </p:nvSpPr>
        <p:spPr>
          <a:xfrm xmlns:a="http://schemas.openxmlformats.org/drawingml/2006/main">
            <a:off x="7696200" y="2381250"/>
            <a:ext cx="17049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500" b="1" i="0">
                <a:solidFill>
                  <a:srgbClr val="FFFFFF"/>
                </a:solidFill>
                <a:latin typeface="DejaVu Sans"/>
                <a:ea typeface="DejaVu Sans"/>
                <a:cs typeface="DejaVu Sans"/>
              </a:defRPr>
            </a:defPPr>
          </a:lstStyle>
          <a:p xmlns:a="http://schemas.openxmlformats.org/drawingml/2006/main">
            <a:pPr algn="ctr">
              <a:defRPr sz="1500" b="1" i="0">
                <a:solidFill>
                  <a:srgbClr val="FFFFFF"/>
                </a:solidFill>
                <a:latin typeface="DejaVu Sans"/>
                <a:ea typeface="DejaVu Sans"/>
                <a:cs typeface="DejaVu Sans"/>
              </a:defRPr>
            </a:pPr>
            <a:r>
              <a:rPr sz="1500" b="1" i="0">
                <a:solidFill>
                  <a:srgbClr val="FFFFFF"/>
                </a:solidFill>
                <a:latin typeface="DejaVu Sans"/>
                <a:ea typeface="DejaVu Sans"/>
                <a:cs typeface="DejaVu Sans"/>
              </a:rPr>
              <a:t>Run a pilot</a:t>
            </a:r>
          </a:p>
        </p:txBody>
      </p:sp>
      <p:sp>
        <p:nvSpPr>
          <p:cNvPr id="20" name="">
            <a:extLst xmlns:a="http://schemas.openxmlformats.org/drawingml/2006/main">
              <a:ext uri="{FF2B5EF4-FFF2-40B4-BE49-F238E27FC236}">
                <a16:creationId xmlns:a16="http://schemas.microsoft.com/office/drawing/2014/main" id="{25F7A10E-0D32-4C91-BE07-34D76AC27351}"/>
              </a:ext>
            </a:extLst>
          </p:cNvPr>
          <p:cNvSpPr>
            <a:spLocks xmlns:a="http://schemas.openxmlformats.org/drawingml/2006/main" noGrp="1"/>
          </p:cNvSpPr>
          <p:nvPr/>
        </p:nvSpPr>
        <p:spPr>
          <a:xfrm xmlns:a="http://schemas.openxmlformats.org/drawingml/2006/main">
            <a:off x="7696200" y="3076575"/>
            <a:ext cx="1704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i="0">
                <a:solidFill>
                  <a:srgbClr val="C8D5DD"/>
                </a:solidFill>
                <a:latin typeface="DejaVu Sans"/>
                <a:ea typeface="DejaVu Sans"/>
                <a:cs typeface="DejaVu Sans"/>
              </a:defRPr>
            </a:defPPr>
          </a:lstStyle>
          <a:p xmlns:a="http://schemas.openxmlformats.org/drawingml/2006/main">
            <a:pPr algn="ctr">
              <a:defRPr sz="1050" b="0" i="0">
                <a:solidFill>
                  <a:srgbClr val="C8D5DD"/>
                </a:solidFill>
                <a:latin typeface="DejaVu Sans"/>
                <a:ea typeface="DejaVu Sans"/>
                <a:cs typeface="DejaVu Sans"/>
              </a:defRPr>
            </a:pPr>
            <a:r>
              <a:rPr sz="1050" b="0" i="0">
                <a:solidFill>
                  <a:srgbClr val="C8D5DD"/>
                </a:solidFill>
                <a:latin typeface="DejaVu Sans"/>
                <a:ea typeface="DejaVu Sans"/>
                <a:cs typeface="DejaVu Sans"/>
              </a:rPr>
              <a:t>Small matrix to expose numerical and model failures</a:t>
            </a:r>
          </a:p>
        </p:txBody>
      </p:sp>
      <p:sp>
        <p:nvSpPr>
          <p:cNvPr id="22" name="">
            <a:extLst xmlns:a="http://schemas.openxmlformats.org/drawingml/2006/main">
              <a:ext uri="{FF2B5EF4-FFF2-40B4-BE49-F238E27FC236}">
                <a16:creationId xmlns:a16="http://schemas.microsoft.com/office/drawing/2014/main" id="{5D6922C6-9CFC-446F-BE0F-B4D85CAC5B83}"/>
              </a:ext>
            </a:extLst>
          </p:cNvPr>
          <p:cNvSpPr>
            <a:spLocks xmlns:a="http://schemas.openxmlformats.org/drawingml/2006/main" noGrp="1"/>
          </p:cNvSpPr>
          <p:nvPr/>
        </p:nvSpPr>
        <p:spPr>
          <a:xfrm xmlns:a="http://schemas.openxmlformats.org/drawingml/2006/main">
            <a:off x="9858375" y="1714500"/>
            <a:ext cx="2047875" cy="1952625"/>
          </a:xfrm>
          <a:prstGeom xmlns:a="http://schemas.openxmlformats.org/drawingml/2006/main" prst="roundRect">
            <a:avLst>
              <a:gd name="adj" fmla="val 3902"/>
            </a:avLst>
          </a:prstGeom>
          <a:solidFill xmlns:a="http://schemas.openxmlformats.org/drawingml/2006/main">
            <a:srgbClr val="132D40"/>
          </a:solidFill>
          <a:ln xmlns:a="http://schemas.openxmlformats.org/drawingml/2006/main" w="9525">
            <a:solidFill>
              <a:srgbClr val="355064"/>
            </a:solidFill>
            <a:prstDash val="solid"/>
          </a:ln>
        </p:spPr>
      </p:sp>
      <p:sp>
        <p:nvSpPr>
          <p:cNvPr id="23" name="">
            <a:extLst xmlns:a="http://schemas.openxmlformats.org/drawingml/2006/main">
              <a:ext uri="{FF2B5EF4-FFF2-40B4-BE49-F238E27FC236}">
                <a16:creationId xmlns:a16="http://schemas.microsoft.com/office/drawing/2014/main" id="{72EF9478-9476-4BD3-A939-6FE1C9B5071B}"/>
              </a:ext>
            </a:extLst>
          </p:cNvPr>
          <p:cNvSpPr>
            <a:spLocks xmlns:a="http://schemas.openxmlformats.org/drawingml/2006/main" noGrp="1"/>
          </p:cNvSpPr>
          <p:nvPr/>
        </p:nvSpPr>
        <p:spPr>
          <a:xfrm xmlns:a="http://schemas.openxmlformats.org/drawingml/2006/main">
            <a:off x="10029825" y="1905000"/>
            <a:ext cx="333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i="0">
                <a:solidFill>
                  <a:srgbClr val="A8BBC7"/>
                </a:solidFill>
                <a:latin typeface="DejaVu Sans"/>
                <a:ea typeface="DejaVu Sans"/>
                <a:cs typeface="DejaVu Sans"/>
              </a:defRPr>
            </a:defPPr>
          </a:lstStyle>
          <a:p xmlns:a="http://schemas.openxmlformats.org/drawingml/2006/main">
            <a:pPr algn="l">
              <a:defRPr sz="1500" b="1" i="0">
                <a:solidFill>
                  <a:srgbClr val="A8BBC7"/>
                </a:solidFill>
                <a:latin typeface="DejaVu Sans"/>
                <a:ea typeface="DejaVu Sans"/>
                <a:cs typeface="DejaVu Sans"/>
              </a:defRPr>
            </a:pPr>
            <a:r>
              <a:rPr sz="1500" b="1" i="0">
                <a:solidFill>
                  <a:srgbClr val="A8BBC7"/>
                </a:solidFill>
                <a:latin typeface="DejaVu Sans"/>
                <a:ea typeface="DejaVu Sans"/>
                <a:cs typeface="DejaVu Sans"/>
              </a:rPr>
              <a:t>5</a:t>
            </a:r>
          </a:p>
        </p:txBody>
      </p:sp>
      <p:sp>
        <p:nvSpPr>
          <p:cNvPr id="24" name="">
            <a:extLst xmlns:a="http://schemas.openxmlformats.org/drawingml/2006/main">
              <a:ext uri="{FF2B5EF4-FFF2-40B4-BE49-F238E27FC236}">
                <a16:creationId xmlns:a16="http://schemas.microsoft.com/office/drawing/2014/main" id="{DA08009D-636D-4E13-BBC4-89AF2C52E4D0}"/>
              </a:ext>
            </a:extLst>
          </p:cNvPr>
          <p:cNvSpPr>
            <a:spLocks xmlns:a="http://schemas.openxmlformats.org/drawingml/2006/main" noGrp="1"/>
          </p:cNvSpPr>
          <p:nvPr/>
        </p:nvSpPr>
        <p:spPr>
          <a:xfrm xmlns:a="http://schemas.openxmlformats.org/drawingml/2006/main">
            <a:off x="10029825" y="2381250"/>
            <a:ext cx="17049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500" b="1" i="0">
                <a:solidFill>
                  <a:srgbClr val="FFFFFF"/>
                </a:solidFill>
                <a:latin typeface="DejaVu Sans"/>
                <a:ea typeface="DejaVu Sans"/>
                <a:cs typeface="DejaVu Sans"/>
              </a:defRPr>
            </a:defPPr>
          </a:lstStyle>
          <a:p xmlns:a="http://schemas.openxmlformats.org/drawingml/2006/main">
            <a:pPr algn="ctr">
              <a:defRPr sz="1500" b="1" i="0">
                <a:solidFill>
                  <a:srgbClr val="FFFFFF"/>
                </a:solidFill>
                <a:latin typeface="DejaVu Sans"/>
                <a:ea typeface="DejaVu Sans"/>
                <a:cs typeface="DejaVu Sans"/>
              </a:defRPr>
            </a:pPr>
            <a:r>
              <a:rPr sz="1500" b="1" i="0">
                <a:solidFill>
                  <a:srgbClr val="FFFFFF"/>
                </a:solidFill>
                <a:latin typeface="DejaVu Sans"/>
                <a:ea typeface="DejaVu Sans"/>
                <a:cs typeface="DejaVu Sans"/>
              </a:rPr>
              <a:t>Freeze and scale</a:t>
            </a:r>
          </a:p>
        </p:txBody>
      </p:sp>
      <p:sp>
        <p:nvSpPr>
          <p:cNvPr id="25" name="">
            <a:extLst xmlns:a="http://schemas.openxmlformats.org/drawingml/2006/main">
              <a:ext uri="{FF2B5EF4-FFF2-40B4-BE49-F238E27FC236}">
                <a16:creationId xmlns:a16="http://schemas.microsoft.com/office/drawing/2014/main" id="{9511920B-77CB-4D39-9557-964531A09EB0}"/>
              </a:ext>
            </a:extLst>
          </p:cNvPr>
          <p:cNvSpPr>
            <a:spLocks xmlns:a="http://schemas.openxmlformats.org/drawingml/2006/main" noGrp="1"/>
          </p:cNvSpPr>
          <p:nvPr/>
        </p:nvSpPr>
        <p:spPr>
          <a:xfrm xmlns:a="http://schemas.openxmlformats.org/drawingml/2006/main">
            <a:off x="10029825" y="3076575"/>
            <a:ext cx="1704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i="0">
                <a:solidFill>
                  <a:srgbClr val="C8D5DD"/>
                </a:solidFill>
                <a:latin typeface="DejaVu Sans"/>
                <a:ea typeface="DejaVu Sans"/>
                <a:cs typeface="DejaVu Sans"/>
              </a:defRPr>
            </a:defPPr>
          </a:lstStyle>
          <a:p xmlns:a="http://schemas.openxmlformats.org/drawingml/2006/main">
            <a:pPr algn="ctr">
              <a:defRPr sz="1050" b="0" i="0">
                <a:solidFill>
                  <a:srgbClr val="C8D5DD"/>
                </a:solidFill>
                <a:latin typeface="DejaVu Sans"/>
                <a:ea typeface="DejaVu Sans"/>
                <a:cs typeface="DejaVu Sans"/>
              </a:defRPr>
            </a:pPr>
            <a:r>
              <a:rPr sz="1050" b="0" i="0">
                <a:solidFill>
                  <a:srgbClr val="C8D5DD"/>
                </a:solidFill>
                <a:latin typeface="DejaVu Sans"/>
                <a:ea typeface="DejaVu Sans"/>
                <a:cs typeface="DejaVu Sans"/>
              </a:rPr>
              <a:t>Record configs and seeds before full experiments</a:t>
            </a:r>
          </a:p>
        </p:txBody>
      </p:sp>
      <p:sp>
        <p:nvSpPr>
          <p:cNvPr id="27" name="">
            <a:extLst xmlns:a="http://schemas.openxmlformats.org/drawingml/2006/main">
              <a:ext uri="{FF2B5EF4-FFF2-40B4-BE49-F238E27FC236}">
                <a16:creationId xmlns:a16="http://schemas.microsoft.com/office/drawing/2014/main" id="{D8592017-9A10-48E0-87B0-048DA277328F}"/>
              </a:ext>
            </a:extLst>
          </p:cNvPr>
          <p:cNvSpPr>
            <a:spLocks xmlns:a="http://schemas.openxmlformats.org/drawingml/2006/main" noGrp="1"/>
          </p:cNvSpPr>
          <p:nvPr/>
        </p:nvSpPr>
        <p:spPr>
          <a:xfrm xmlns:a="http://schemas.openxmlformats.org/drawingml/2006/main">
            <a:off x="762000" y="4333875"/>
            <a:ext cx="428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i="0">
                <a:solidFill>
                  <a:srgbClr val="58C7C0"/>
                </a:solidFill>
                <a:latin typeface="DejaVu Sans"/>
                <a:ea typeface="DejaVu Sans"/>
                <a:cs typeface="DejaVu Sans"/>
              </a:defRPr>
            </a:defPPr>
          </a:lstStyle>
          <a:p xmlns:a="http://schemas.openxmlformats.org/drawingml/2006/main">
            <a:pPr algn="l">
              <a:defRPr sz="1425" b="1" i="0">
                <a:solidFill>
                  <a:srgbClr val="58C7C0"/>
                </a:solidFill>
                <a:latin typeface="DejaVu Sans"/>
                <a:ea typeface="DejaVu Sans"/>
                <a:cs typeface="DejaVu Sans"/>
              </a:defRPr>
            </a:pPr>
            <a:r>
              <a:rPr sz="1425" b="1" i="0">
                <a:solidFill>
                  <a:srgbClr val="58C7C0"/>
                </a:solidFill>
                <a:latin typeface="DejaVu Sans"/>
                <a:ea typeface="DejaVu Sans"/>
                <a:cs typeface="DejaVu Sans"/>
              </a:rPr>
              <a:t>Measurements to report</a:t>
            </a:r>
          </a:p>
        </p:txBody>
      </p:sp>
      <p:sp>
        <p:nvSpPr>
          <p:cNvPr id="28" name="">
            <a:extLst xmlns:a="http://schemas.openxmlformats.org/drawingml/2006/main">
              <a:ext uri="{FF2B5EF4-FFF2-40B4-BE49-F238E27FC236}">
                <a16:creationId xmlns:a16="http://schemas.microsoft.com/office/drawing/2014/main" id="{A3E94621-0643-4DE8-95E0-0E03311FF9E8}"/>
              </a:ext>
            </a:extLst>
          </p:cNvPr>
          <p:cNvSpPr>
            <a:spLocks xmlns:a="http://schemas.openxmlformats.org/drawingml/2006/main" noGrp="1"/>
          </p:cNvSpPr>
          <p:nvPr/>
        </p:nvSpPr>
        <p:spPr>
          <a:xfrm xmlns:a="http://schemas.openxmlformats.org/drawingml/2006/main">
            <a:off x="876300" y="4810125"/>
            <a:ext cx="4000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0" i="0">
                <a:solidFill>
                  <a:srgbClr val="FFFFFF"/>
                </a:solidFill>
                <a:latin typeface="DejaVu Sans"/>
                <a:ea typeface="DejaVu Sans"/>
                <a:cs typeface="DejaVu Sans"/>
              </a:defRPr>
            </a:defPPr>
          </a:lstStyle>
          <a:p xmlns:a="http://schemas.openxmlformats.org/drawingml/2006/main">
            <a:pPr algn="l">
              <a:defRPr sz="1500" b="0" i="0">
                <a:solidFill>
                  <a:srgbClr val="FFFFFF"/>
                </a:solidFill>
                <a:latin typeface="DejaVu Sans"/>
                <a:ea typeface="DejaVu Sans"/>
                <a:cs typeface="DejaVu Sans"/>
              </a:defRPr>
            </a:pPr>
            <a:r>
              <a:rPr sz="1500" b="0" i="0">
                <a:solidFill>
                  <a:srgbClr val="FFFFFF"/>
                </a:solidFill>
                <a:latin typeface="DejaVu Sans"/>
                <a:ea typeface="DejaVu Sans"/>
                <a:cs typeface="DejaVu Sans"/>
              </a:rPr>
              <a:t>Simple regret</a:t>
            </a:r>
          </a:p>
          <a:p xmlns:a="http://schemas.openxmlformats.org/drawingml/2006/main">
            <a:pPr algn="l">
              <a:defRPr sz="1500" b="0" i="0">
                <a:solidFill>
                  <a:srgbClr val="FFFFFF"/>
                </a:solidFill>
                <a:latin typeface="DejaVu Sans"/>
                <a:ea typeface="DejaVu Sans"/>
                <a:cs typeface="DejaVu Sans"/>
              </a:defRPr>
            </a:pPr>
            <a:r>
              <a:rPr sz="1500" b="0" i="0">
                <a:solidFill>
                  <a:srgbClr val="FFFFFF"/>
                </a:solidFill>
                <a:latin typeface="DejaVu Sans"/>
                <a:ea typeface="DejaVu Sans"/>
                <a:cs typeface="DejaVu Sans"/>
              </a:rPr>
              <a:t>False stop rate</a:t>
            </a:r>
          </a:p>
          <a:p xmlns:a="http://schemas.openxmlformats.org/drawingml/2006/main">
            <a:pPr algn="l">
              <a:defRPr sz="1500" b="0" i="0">
                <a:solidFill>
                  <a:srgbClr val="FFFFFF"/>
                </a:solidFill>
                <a:latin typeface="DejaVu Sans"/>
                <a:ea typeface="DejaVu Sans"/>
                <a:cs typeface="DejaVu Sans"/>
              </a:defRPr>
            </a:pPr>
            <a:r>
              <a:rPr sz="1500" b="0" i="0">
                <a:solidFill>
                  <a:srgbClr val="FFFFFF"/>
                </a:solidFill>
                <a:latin typeface="DejaVu Sans"/>
                <a:ea typeface="DejaVu Sans"/>
                <a:cs typeface="DejaVu Sans"/>
              </a:rPr>
              <a:t>Evaluations used</a:t>
            </a:r>
          </a:p>
          <a:p xmlns:a="http://schemas.openxmlformats.org/drawingml/2006/main">
            <a:pPr algn="l">
              <a:defRPr sz="1500" b="0" i="0">
                <a:solidFill>
                  <a:srgbClr val="FFFFFF"/>
                </a:solidFill>
                <a:latin typeface="DejaVu Sans"/>
                <a:ea typeface="DejaVu Sans"/>
                <a:cs typeface="DejaVu Sans"/>
              </a:defRPr>
            </a:pPr>
            <a:r>
              <a:rPr sz="1500" b="0" i="0">
                <a:solidFill>
                  <a:srgbClr val="FFFFFF"/>
                </a:solidFill>
                <a:latin typeface="DejaVu Sans"/>
                <a:ea typeface="DejaVu Sans"/>
                <a:cs typeface="DejaVu Sans"/>
              </a:rPr>
              <a:t>Non trigger frequency</a:t>
            </a:r>
          </a:p>
          <a:p xmlns:a="http://schemas.openxmlformats.org/drawingml/2006/main">
            <a:pPr algn="l">
              <a:defRPr sz="1500" b="0" i="0">
                <a:solidFill>
                  <a:srgbClr val="FFFFFF"/>
                </a:solidFill>
                <a:latin typeface="DejaVu Sans"/>
                <a:ea typeface="DejaVu Sans"/>
                <a:cs typeface="DejaVu Sans"/>
              </a:defRPr>
            </a:pPr>
            <a:r>
              <a:rPr sz="1500" b="0" i="0">
                <a:solidFill>
                  <a:srgbClr val="FFFFFF"/>
                </a:solidFill>
                <a:latin typeface="DejaVu Sans"/>
                <a:ea typeface="DejaVu Sans"/>
                <a:cs typeface="DejaVu Sans"/>
              </a:rPr>
              <a:t>Runtime and calibration</a:t>
            </a:r>
          </a:p>
        </p:txBody>
      </p:sp>
      <p:sp>
        <p:nvSpPr>
          <p:cNvPr id="29" name="">
            <a:extLst xmlns:a="http://schemas.openxmlformats.org/drawingml/2006/main">
              <a:ext uri="{FF2B5EF4-FFF2-40B4-BE49-F238E27FC236}">
                <a16:creationId xmlns:a16="http://schemas.microsoft.com/office/drawing/2014/main" id="{2438DD1B-D519-4869-9D62-E7D092DB4760}"/>
              </a:ext>
            </a:extLst>
          </p:cNvPr>
          <p:cNvSpPr>
            <a:spLocks xmlns:a="http://schemas.openxmlformats.org/drawingml/2006/main" noGrp="1"/>
          </p:cNvSpPr>
          <p:nvPr/>
        </p:nvSpPr>
        <p:spPr>
          <a:xfrm xmlns:a="http://schemas.openxmlformats.org/drawingml/2006/main">
            <a:off x="6191250" y="4333875"/>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i="0">
                <a:solidFill>
                  <a:srgbClr val="F4A261"/>
                </a:solidFill>
                <a:latin typeface="DejaVu Sans"/>
                <a:ea typeface="DejaVu Sans"/>
                <a:cs typeface="DejaVu Sans"/>
              </a:defRPr>
            </a:defPPr>
          </a:lstStyle>
          <a:p xmlns:a="http://schemas.openxmlformats.org/drawingml/2006/main">
            <a:pPr algn="l">
              <a:defRPr sz="1425" b="1" i="0">
                <a:solidFill>
                  <a:srgbClr val="F4A261"/>
                </a:solidFill>
                <a:latin typeface="DejaVu Sans"/>
                <a:ea typeface="DejaVu Sans"/>
                <a:cs typeface="DejaVu Sans"/>
              </a:defRPr>
            </a:pPr>
            <a:r>
              <a:rPr sz="1425" b="1" i="0">
                <a:solidFill>
                  <a:srgbClr val="F4A261"/>
                </a:solidFill>
                <a:latin typeface="DejaVu Sans"/>
                <a:ea typeface="DejaVu Sans"/>
                <a:cs typeface="DejaVu Sans"/>
              </a:rPr>
              <a:t>Decisions to confirm with Petrus</a:t>
            </a:r>
          </a:p>
        </p:txBody>
      </p:sp>
      <p:sp>
        <p:nvSpPr>
          <p:cNvPr id="30" name="">
            <a:extLst xmlns:a="http://schemas.openxmlformats.org/drawingml/2006/main">
              <a:ext uri="{FF2B5EF4-FFF2-40B4-BE49-F238E27FC236}">
                <a16:creationId xmlns:a16="http://schemas.microsoft.com/office/drawing/2014/main" id="{2A780ADC-AE60-484C-A5B6-51B16363DE3E}"/>
              </a:ext>
            </a:extLst>
          </p:cNvPr>
          <p:cNvSpPr>
            <a:spLocks xmlns:a="http://schemas.openxmlformats.org/drawingml/2006/main" noGrp="1"/>
          </p:cNvSpPr>
          <p:nvPr/>
        </p:nvSpPr>
        <p:spPr>
          <a:xfrm xmlns:a="http://schemas.openxmlformats.org/drawingml/2006/main">
            <a:off x="6381750" y="4810125"/>
            <a:ext cx="4762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i="0">
                <a:solidFill>
                  <a:srgbClr val="FFFFFF"/>
                </a:solidFill>
                <a:latin typeface="DejaVu Sans"/>
                <a:ea typeface="DejaVu Sans"/>
                <a:cs typeface="DejaVu Sans"/>
              </a:defRPr>
            </a:defPPr>
          </a:lstStyle>
          <a:p xmlns:a="http://schemas.openxmlformats.org/drawingml/2006/main">
            <a:pPr algn="l">
              <a:defRPr sz="1425" b="0" i="0">
                <a:solidFill>
                  <a:srgbClr val="FFFFFF"/>
                </a:solidFill>
                <a:latin typeface="DejaVu Sans"/>
                <a:ea typeface="DejaVu Sans"/>
                <a:cs typeface="DejaVu Sans"/>
              </a:defRPr>
            </a:pPr>
            <a:r>
              <a:rPr sz="1425" b="0" i="0">
                <a:solidFill>
                  <a:srgbClr val="FFFFFF"/>
                </a:solidFill>
                <a:latin typeface="DejaVu Sans"/>
                <a:ea typeface="DejaVu Sans"/>
                <a:cs typeface="DejaVu Sans"/>
              </a:rPr>
              <a:t>Which reliability claim should the first pilot support?</a:t>
            </a:r>
          </a:p>
          <a:p xmlns:a="http://schemas.openxmlformats.org/drawingml/2006/main">
            <a:pPr algn="l">
              <a:defRPr sz="1425" b="0" i="0">
                <a:solidFill>
                  <a:srgbClr val="FFFFFF"/>
                </a:solidFill>
                <a:latin typeface="DejaVu Sans"/>
                <a:ea typeface="DejaVu Sans"/>
                <a:cs typeface="DejaVu Sans"/>
              </a:defRPr>
            </a:pPr>
            <a:r>
              <a:rPr sz="1425" b="0" i="0">
                <a:solidFill>
                  <a:srgbClr val="FFFFFF"/>
                </a:solidFill>
                <a:latin typeface="DejaVu Sans"/>
                <a:ea typeface="DejaVu Sans"/>
                <a:cs typeface="DejaVu Sans"/>
              </a:rPr>
              <a:t>Which ε and δ values have scientific meaning?</a:t>
            </a:r>
          </a:p>
          <a:p xmlns:a="http://schemas.openxmlformats.org/drawingml/2006/main">
            <a:pPr algn="l">
              <a:defRPr sz="1425" b="0" i="0">
                <a:solidFill>
                  <a:srgbClr val="FFFFFF"/>
                </a:solidFill>
                <a:latin typeface="DejaVu Sans"/>
                <a:ea typeface="DejaVu Sans"/>
                <a:cs typeface="DejaVu Sans"/>
              </a:defRPr>
            </a:pPr>
            <a:r>
              <a:rPr sz="1425" b="0" i="0">
                <a:solidFill>
                  <a:srgbClr val="FFFFFF"/>
                </a:solidFill>
                <a:latin typeface="DejaVu Sans"/>
                <a:ea typeface="DejaVu Sans"/>
                <a:cs typeface="DejaVu Sans"/>
              </a:rPr>
              <a:t>How should matched and misspecified GP cases be separated?</a:t>
            </a:r>
          </a:p>
        </p:txBody>
      </p:sp>
      <p:sp>
        <p:nvSpPr>
          <p:cNvPr id="31" name="">
            <a:extLst xmlns:a="http://schemas.openxmlformats.org/drawingml/2006/main">
              <a:ext uri="{FF2B5EF4-FFF2-40B4-BE49-F238E27FC236}">
                <a16:creationId xmlns:a16="http://schemas.microsoft.com/office/drawing/2014/main" id="{1DABF874-C45C-4418-A4A1-C5FCAB01734F}"/>
              </a:ext>
            </a:extLst>
          </p:cNvPr>
          <p:cNvSpPr>
            <a:spLocks xmlns:a="http://schemas.openxmlformats.org/drawingml/2006/main" noGrp="1"/>
          </p:cNvSpPr>
          <p:nvPr/>
        </p:nvSpPr>
        <p:spPr>
          <a:xfrm xmlns:a="http://schemas.openxmlformats.org/drawingml/2006/main">
            <a:off x="685800" y="6457950"/>
            <a:ext cx="1009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75" b="0" i="0">
                <a:solidFill>
                  <a:srgbClr val="91A5B3"/>
                </a:solidFill>
                <a:latin typeface="DejaVu Sans"/>
                <a:ea typeface="DejaVu Sans"/>
                <a:cs typeface="DejaVu Sans"/>
              </a:defRPr>
            </a:defPPr>
          </a:lstStyle>
          <a:p xmlns:a="http://schemas.openxmlformats.org/drawingml/2006/main">
            <a:pPr algn="l">
              <a:defRPr sz="675" b="0" i="0">
                <a:solidFill>
                  <a:srgbClr val="91A5B3"/>
                </a:solidFill>
                <a:latin typeface="DejaVu Sans"/>
                <a:ea typeface="DejaVu Sans"/>
                <a:cs typeface="DejaVu Sans"/>
              </a:defRPr>
            </a:pPr>
            <a:r>
              <a:rPr sz="675" b="0" i="0">
                <a:solidFill>
                  <a:srgbClr val="91A5B3"/>
                </a:solidFill>
                <a:latin typeface="DejaVu Sans"/>
                <a:ea typeface="DejaVu Sans"/>
                <a:cs typeface="DejaVu Sans"/>
              </a:rPr>
              <a:t>Plan synthesizes the ten paper reading list and the Phase 1 work plan</a:t>
            </a:r>
          </a:p>
        </p:txBody>
      </p:sp>
      <p:sp>
        <p:nvSpPr>
          <p:cNvPr id="32" name="">
            <a:extLst xmlns:a="http://schemas.openxmlformats.org/drawingml/2006/main">
              <a:ext uri="{FF2B5EF4-FFF2-40B4-BE49-F238E27FC236}">
                <a16:creationId xmlns:a16="http://schemas.microsoft.com/office/drawing/2014/main" id="{64A9DF41-BC51-4841-A838-55A9B788C177}"/>
              </a:ext>
            </a:extLst>
          </p:cNvPr>
          <p:cNvSpPr>
            <a:spLocks xmlns:a="http://schemas.openxmlformats.org/drawingml/2006/main" noGrp="1"/>
          </p:cNvSpPr>
          <p:nvPr/>
        </p:nvSpPr>
        <p:spPr>
          <a:xfrm xmlns:a="http://schemas.openxmlformats.org/drawingml/2006/main">
            <a:off x="11049000" y="6419850"/>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i="0">
                <a:solidFill>
                  <a:srgbClr val="91A5B3"/>
                </a:solidFill>
                <a:latin typeface="DejaVu Sans"/>
                <a:ea typeface="DejaVu Sans"/>
                <a:cs typeface="DejaVu Sans"/>
              </a:defRPr>
            </a:defPPr>
          </a:lstStyle>
          <a:p xmlns:a="http://schemas.openxmlformats.org/drawingml/2006/main">
            <a:pPr algn="r">
              <a:defRPr sz="825" b="1" i="0">
                <a:solidFill>
                  <a:srgbClr val="91A5B3"/>
                </a:solidFill>
                <a:latin typeface="DejaVu Sans"/>
                <a:ea typeface="DejaVu Sans"/>
                <a:cs typeface="DejaVu Sans"/>
              </a:defRPr>
            </a:pPr>
            <a:r>
              <a:rPr sz="825" b="1" i="0">
                <a:solidFill>
                  <a:srgbClr val="91A5B3"/>
                </a:solidFill>
                <a:latin typeface="DejaVu Sans"/>
                <a:ea typeface="DejaVu Sans"/>
                <a:cs typeface="DejaVu Sans"/>
              </a:rPr>
              <a:t>10</a:t>
            </a:r>
          </a:p>
        </p:txBody>
      </p:sp>
    </p:spTree>
    <p:extLst>
      <p:ext uri="{BB962C8B-B14F-4D97-AF65-F5344CB8AC3E}">
        <p14:creationId xmlns:p14="http://schemas.microsoft.com/office/powerpoint/2010/main" val="4713535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DejaVu Sans"/>
        <a:ea typeface=""/>
        <a:cs typeface=""/>
      </a:majorFont>
      <a:minorFont>
        <a:latin typeface="DejaVu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2026-10-10T00:48:04.7830000Z</dcterms:created>
  <dcterms:modified xsi:type="dcterms:W3CDTF">2026-10-10T00:48:04.7830000Z</dcterms:modified>
</coreProperties>
</file>