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slides/charts/chart1.xml" ContentType="application/vnd.openxmlformats-officedocument.drawingml.chart+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6f28613ab8e24163" /><Relationship Type="http://schemas.openxmlformats.org/officeDocument/2006/relationships/extended-properties" Target="/docProps/app.xml" Id="Raa10a4a045f54d4f" /><Relationship Type="http://schemas.openxmlformats.org/officeDocument/2006/relationships/officeDocument" Target="/ppt/presentation.xml" Id="R123fdfb50a37447f" /></Relationships>
</file>

<file path=ppt/presentation.xml><?xml version="1.0" encoding="utf-8"?>
<p:presentation xmlns:p="http://schemas.openxmlformats.org/presentationml/2006/main">
  <p:sldMasterIdLst>
    <p:sldMasterId xmlns:r="http://schemas.openxmlformats.org/officeDocument/2006/relationships" id="2147483648" r:id="Rac91287f6b374575"/>
  </p:sldMasterIdLst>
  <p:notesMasterIdLst>
    <p:notesMasterId xmlns:r="http://schemas.openxmlformats.org/officeDocument/2006/relationships" r:id="Rc99a2b1e7b8b4c29"/>
  </p:notesMasterIdLst>
  <p:sldIdLst>
    <p:sldId xmlns:r="http://schemas.openxmlformats.org/officeDocument/2006/relationships" id="256" r:id="Ra4820ade954a4e98"/>
    <p:sldId xmlns:r="http://schemas.openxmlformats.org/officeDocument/2006/relationships" id="257" r:id="R4875105c58a7463b"/>
    <p:sldId xmlns:r="http://schemas.openxmlformats.org/officeDocument/2006/relationships" id="258" r:id="Rd20a3006a6854c3e"/>
    <p:sldId xmlns:r="http://schemas.openxmlformats.org/officeDocument/2006/relationships" id="259" r:id="Rfd535451dabb4ccf"/>
    <p:sldId xmlns:r="http://schemas.openxmlformats.org/officeDocument/2006/relationships" id="260" r:id="R16213009ab514fbc"/>
    <p:sldId xmlns:r="http://schemas.openxmlformats.org/officeDocument/2006/relationships" id="261" r:id="Rba5df76a7b364ba4"/>
    <p:sldId xmlns:r="http://schemas.openxmlformats.org/officeDocument/2006/relationships" id="262" r:id="Rb7350b9ea74342df"/>
    <p:sldId xmlns:r="http://schemas.openxmlformats.org/officeDocument/2006/relationships" id="263" r:id="R10a638d4fda04e4c"/>
    <p:sldId xmlns:r="http://schemas.openxmlformats.org/officeDocument/2006/relationships" id="264" r:id="R94174d9462574760"/>
    <p:sldId xmlns:r="http://schemas.openxmlformats.org/officeDocument/2006/relationships" id="265" r:id="R77c05f3cd513460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ae431c0fe9d4c0e" /><Relationship Type="http://schemas.openxmlformats.org/officeDocument/2006/relationships/slideMaster" Target="/ppt/slideMasters/slideMaster1.xml" Id="Rac91287f6b374575" /><Relationship Type="http://schemas.openxmlformats.org/officeDocument/2006/relationships/notesMaster" Target="/ppt/notesMasters/notesMaster1.xml" Id="Rc99a2b1e7b8b4c29" /><Relationship Type="http://schemas.openxmlformats.org/officeDocument/2006/relationships/presProps" Target="/ppt/presProps.xml" Id="Ra7f89bb413004f57" /><Relationship Type="http://schemas.openxmlformats.org/officeDocument/2006/relationships/tableStyles" Target="/ppt/tableStyles.xml" Id="R79c8e00bef4a47bd" /><Relationship Type="http://schemas.openxmlformats.org/officeDocument/2006/relationships/slide" Target="/ppt/slides/slide1.xml" Id="Ra4820ade954a4e98" /><Relationship Type="http://schemas.openxmlformats.org/officeDocument/2006/relationships/slide" Target="/ppt/slides/slide2.xml" Id="R4875105c58a7463b" /><Relationship Type="http://schemas.openxmlformats.org/officeDocument/2006/relationships/slide" Target="/ppt/slides/slide3.xml" Id="Rd20a3006a6854c3e" /><Relationship Type="http://schemas.openxmlformats.org/officeDocument/2006/relationships/slide" Target="/ppt/slides/slide4.xml" Id="Rfd535451dabb4ccf" /><Relationship Type="http://schemas.openxmlformats.org/officeDocument/2006/relationships/slide" Target="/ppt/slides/slide5.xml" Id="R16213009ab514fbc" /><Relationship Type="http://schemas.openxmlformats.org/officeDocument/2006/relationships/slide" Target="/ppt/slides/slide6.xml" Id="Rba5df76a7b364ba4" /><Relationship Type="http://schemas.openxmlformats.org/officeDocument/2006/relationships/slide" Target="/ppt/slides/slide7.xml" Id="Rb7350b9ea74342df" /><Relationship Type="http://schemas.openxmlformats.org/officeDocument/2006/relationships/slide" Target="/ppt/slides/slide8.xml" Id="R10a638d4fda04e4c" /><Relationship Type="http://schemas.openxmlformats.org/officeDocument/2006/relationships/slide" Target="/ppt/slides/slide9.xml" Id="R94174d9462574760" /><Relationship Type="http://schemas.openxmlformats.org/officeDocument/2006/relationships/slide" Target="/ppt/slides/slide10.xml" Id="R77c05f3cd513460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c02b929cfcd405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DejaVu Sans"/>
        <a:ea typeface=""/>
        <a:cs typeface=""/>
      </a:majorFont>
      <a:minorFont>
        <a:latin typeface="DejaVu San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a4188b51eee4b23" /><Relationship Type="http://schemas.openxmlformats.org/officeDocument/2006/relationships/notesMaster" Target="/ppt/notesMasters/notesMaster1.xml" Id="Reb8aa5f8cd8642ea" /></Relationships>
</file>

<file path=ppt/notesSlides/_rels/notesSlide2.xml.rels>&#65279;<?xml version="1.0" encoding="utf-8"?><Relationships xmlns="http://schemas.openxmlformats.org/package/2006/relationships"><Relationship Type="http://schemas.openxmlformats.org/officeDocument/2006/relationships/slide" Target="/ppt/slides/slide2.xml" Id="R37589d94a0d04401" /><Relationship Type="http://schemas.openxmlformats.org/officeDocument/2006/relationships/notesMaster" Target="/ppt/notesMasters/notesMaster1.xml" Id="R0afb461e085c4bef" /></Relationships>
</file>

<file path=ppt/notesSlides/_rels/notesSlide3.xml.rels>&#65279;<?xml version="1.0" encoding="utf-8"?><Relationships xmlns="http://schemas.openxmlformats.org/package/2006/relationships"><Relationship Type="http://schemas.openxmlformats.org/officeDocument/2006/relationships/slide" Target="/ppt/slides/slide3.xml" Id="Rdac6f57af86746f5" /><Relationship Type="http://schemas.openxmlformats.org/officeDocument/2006/relationships/notesMaster" Target="/ppt/notesMasters/notesMaster1.xml" Id="R22e61e97156b46ef" /></Relationships>
</file>

<file path=ppt/notesSlides/_rels/notesSlide4.xml.rels>&#65279;<?xml version="1.0" encoding="utf-8"?><Relationships xmlns="http://schemas.openxmlformats.org/package/2006/relationships"><Relationship Type="http://schemas.openxmlformats.org/officeDocument/2006/relationships/slide" Target="/ppt/slides/slide4.xml" Id="Racf2c54d944e4325" /><Relationship Type="http://schemas.openxmlformats.org/officeDocument/2006/relationships/notesMaster" Target="/ppt/notesMasters/notesMaster1.xml" Id="R2a4b72f97a9348e1" /></Relationships>
</file>

<file path=ppt/notesSlides/_rels/notesSlide5.xml.rels>&#65279;<?xml version="1.0" encoding="utf-8"?><Relationships xmlns="http://schemas.openxmlformats.org/package/2006/relationships"><Relationship Type="http://schemas.openxmlformats.org/officeDocument/2006/relationships/slide" Target="/ppt/slides/slide5.xml" Id="Rcbe07a03ec6f4ca9" /><Relationship Type="http://schemas.openxmlformats.org/officeDocument/2006/relationships/notesMaster" Target="/ppt/notesMasters/notesMaster1.xml" Id="Rcd07f8f703e84be6" /></Relationships>
</file>

<file path=ppt/notesSlides/_rels/notesSlide6.xml.rels>&#65279;<?xml version="1.0" encoding="utf-8"?><Relationships xmlns="http://schemas.openxmlformats.org/package/2006/relationships"><Relationship Type="http://schemas.openxmlformats.org/officeDocument/2006/relationships/slide" Target="/ppt/slides/slide6.xml" Id="R01804ee8d2884fd2" /><Relationship Type="http://schemas.openxmlformats.org/officeDocument/2006/relationships/notesMaster" Target="/ppt/notesMasters/notesMaster1.xml" Id="Rfb070c6a8f2146d6" /></Relationships>
</file>

<file path=ppt/notesSlides/_rels/notesSlide7.xml.rels>&#65279;<?xml version="1.0" encoding="utf-8"?><Relationships xmlns="http://schemas.openxmlformats.org/package/2006/relationships"><Relationship Type="http://schemas.openxmlformats.org/officeDocument/2006/relationships/slide" Target="/ppt/slides/slide7.xml" Id="Re57e309fddb942a1" /><Relationship Type="http://schemas.openxmlformats.org/officeDocument/2006/relationships/notesMaster" Target="/ppt/notesMasters/notesMaster1.xml" Id="R05b56f8d8d434255" /></Relationships>
</file>

<file path=ppt/notesSlides/_rels/notesSlide8.xml.rels>&#65279;<?xml version="1.0" encoding="utf-8"?><Relationships xmlns="http://schemas.openxmlformats.org/package/2006/relationships"><Relationship Type="http://schemas.openxmlformats.org/officeDocument/2006/relationships/slide" Target="/ppt/slides/slide8.xml" Id="R70192eb781b74589" /><Relationship Type="http://schemas.openxmlformats.org/officeDocument/2006/relationships/notesMaster" Target="/ppt/notesMasters/notesMaster1.xml" Id="Rd11a3b64add44239" /></Relationships>
</file>

<file path=ppt/notesSlides/_rels/notesSlide9.xml.rels>&#65279;<?xml version="1.0" encoding="utf-8"?><Relationships xmlns="http://schemas.openxmlformats.org/package/2006/relationships"><Relationship Type="http://schemas.openxmlformats.org/officeDocument/2006/relationships/slide" Target="/ppt/slides/slide9.xml" Id="R0b70e77604fd433f" /><Relationship Type="http://schemas.openxmlformats.org/officeDocument/2006/relationships/notesMaster" Target="/ppt/notesMasters/notesMaster1.xml" Id="R7a5dc8fca20241a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095964688ed4c79" /><Relationship Type="http://schemas.openxmlformats.org/officeDocument/2006/relationships/notesMaster" Target="/ppt/notesMasters/notesMaster1.xml" Id="Rbca687efa8c546a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English speaker script:</a:t>
            </a:r>
          </a:p>
          <a:p xmlns:a="http://schemas.openxmlformats.org/drawingml/2006/main">
            <a:r>
              <a:t>Let me start with the actual optimization problem. We control an input x, run an experiment, and observe y. The unknown relationship is f of x, and epsilon represents measurement noise. Our goal is to find an input that gives a very high value, but each evaluation may use instrument time, materials, or a long simulation. If evaluations were cheap, we could simply test a dense grid. Bayesian optimization becomes useful when we can afford only a small number of trials. It builds a probabilistic surrogate from the points already measured, then uses that model to decide where one more experiment would be most valuable. The important distinction is that BO searches for a good input x. It does not choose one fitted function and declare that function to be the truth. The model is a temporary map that guides the search.</a:t>
            </a:r>
          </a:p>
          <a:p xmlns:a="http://schemas.openxmlformats.org/drawingml/2006/main">
            <a:r>
              <a:t/>
            </a:r>
          </a:p>
          <a:p xmlns:a="http://schemas.openxmlformats.org/drawingml/2006/main">
            <a:r>
              <a:t>Chinese speaker script:</a:t>
            </a:r>
          </a:p>
          <a:p xmlns:a="http://schemas.openxmlformats.org/drawingml/2006/main">
            <a:r>
              <a:t>先从问题本身开始。我们控制输入 x，做一次实验，然后得到结果 y。真实但未知的关系是 f(x)，ε 表示测量噪声。我们的目标是找到让结果尽可能大的输入，但每次实验可能消耗仪器时间、材料，或者需要运行很久的模拟。如果实验很便宜，直接密集搜索就可以；BO 适合实验次数非常有限的情况。它利用已经观察到的少量数据建立概率模型，再判断下一次实验放在哪里最有价值。最重要的区别是：BO 最终寻找的是一个好的 x，而不是从很多函数中挑出一个函数并宣称它就是真实世界。GP 只是帮助我们导航的临时地图。</a:t>
            </a:r>
          </a:p>
          <a:p xmlns:a="http://schemas.openxmlformats.org/drawingml/2006/main">
            <a:r>
              <a:t/>
            </a:r>
          </a:p>
          <a:p xmlns:a="http://schemas.openxmlformats.org/drawingml/2006/main">
            <a:r>
              <a:t>Sources:</a:t>
            </a:r>
          </a:p>
          <a:p xmlns:a="http://schemas.openxmlformats.org/drawingml/2006/main">
            <a:r>
              <a:t>- Frazier (2018), https://arxiv.org/abs/1807.02811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English speaker script:</a:t>
            </a:r>
          </a:p>
          <a:p xmlns:a="http://schemas.openxmlformats.org/drawingml/2006/main">
            <a:r>
              <a:t>The project asks a narrower and more practical question than standard Bayesian optimization: when should the loop stop? There are two opposite failures. If we stop too late, we keep paying for experiments after the expected benefit has become small. If we stop too early, the algorithm can return a setting that looks good only because a narrow or distant region was never explored. This second failure is especially important because the GP can be confident under its own assumptions and still be wrong about the real objective. The project therefore compares stopping rules across different objective landscapes, acquisition strategies, and model conditions. I do not want to judge a rule only by how many evaluations it saves. I also need simple regret, false-stop rate, non-trigger rate, runtime, and calibration. The contribution is an evaluation framework and a map of failure conditions, rather than simply another acquisition function.</a:t>
            </a:r>
          </a:p>
          <a:p xmlns:a="http://schemas.openxmlformats.org/drawingml/2006/main">
            <a:r>
              <a:t/>
            </a:r>
          </a:p>
          <a:p xmlns:a="http://schemas.openxmlformats.org/drawingml/2006/main">
            <a:r>
              <a:t>Chinese speaker script:</a:t>
            </a:r>
          </a:p>
          <a:p xmlns:a="http://schemas.openxmlformats.org/drawingml/2006/main">
            <a:r>
              <a:t>这个项目关注的是一个比普通 BO 更具体的问题：什么时候应该结束循环。停止太晚会浪费实验；停止太早则可能错过一个很窄、很远、或者尚未探索的最优区域。更危险的是，GP 可能在自己的假设下非常有信心，但对真实函数仍然判断错误。因此，我们不能只看一个 stopping rule 节省了多少次实验，还要同时看最终 simple regret、错误停止率、始终不触发的比例、运行时间和不确定性是否校准。这个项目的重点不是再发明一个 acquisition function，而是建立一套可靠的评估方法，并说明哪些目标函数、采样策略或模型偏差会让 stopping rule 产生虚假的信心。</a:t>
            </a:r>
          </a:p>
          <a:p xmlns:a="http://schemas.openxmlformats.org/drawingml/2006/main">
            <a:r>
              <a:t/>
            </a:r>
          </a:p>
          <a:p xmlns:a="http://schemas.openxmlformats.org/drawingml/2006/main">
            <a:r>
              <a:t>Sources:</a:t>
            </a:r>
          </a:p>
          <a:p xmlns:a="http://schemas.openxmlformats.org/drawingml/2006/main">
            <a:r>
              <a:t>- Makarova et al. (2022), https://proceedings.mlr.press/v188/makarova22a.html</a:t>
            </a:r>
          </a:p>
          <a:p xmlns:a="http://schemas.openxmlformats.org/drawingml/2006/main">
            <a:r>
              <a:t>- Wilson (2024), https://proceedings.neurips.cc/paper_files/paper/2024/hash/b204de7078301292a8876a762eed3dcb-Abstract-Conference.html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English speaker script:</a:t>
            </a:r>
          </a:p>
          <a:p xmlns:a="http://schemas.openxmlformats.org/drawingml/2006/main">
            <a:r>
              <a:t>This slide is the conceptual backbone of the project. The objective is the real system. The dataset contains only the experiments we have actually run. The Gaussian process turns that dataset into a posterior mean and uncertainty. The acquisition function uses the posterior to select the next x. The stopping rule asks whether collecting another observation is worthwhile, and the recommendation rule decides what x to return after stopping. These objects interact, but they are not interchangeable. A small acquisition value does not automatically tell us which point to recommend. A high posterior mean does not prove that the algorithm should stop. Keeping the roles separate also makes debugging possible. If a run fails, I can ask whether the surrogate was wrong, the acquisition failed to explore, the stopping rule fired too early, or the recommendation rule returned the wrong point.</a:t>
            </a:r>
          </a:p>
          <a:p xmlns:a="http://schemas.openxmlformats.org/drawingml/2006/main">
            <a:r>
              <a:t/>
            </a:r>
          </a:p>
          <a:p xmlns:a="http://schemas.openxmlformats.org/drawingml/2006/main">
            <a:r>
              <a:t>Chinese speaker script:</a:t>
            </a:r>
          </a:p>
          <a:p xmlns:a="http://schemas.openxmlformats.org/drawingml/2006/main">
            <a:r>
              <a:t>这一页是整个项目最重要的概念骨架。Objective 是真实实验系统；dataset 只包含真正做过的实验；GP 把这些数据变成 posterior mean 和 uncertainty；acquisition function 决定下一次测哪个 x；stopping rule 决定还要不要继续；recommendation rule 决定停止以后最终返回哪个 x。它们会使用同一份 posterior，但解决的是不同问题。Acquisition value 很小并不自动等于应该停止，posterior mean 最大也不等于这个点一定安全。把这些角色分开以后，实验失败时才能判断问题来自 surrogate、采样策略、停止条件，还是最终 recommendation。</a:t>
            </a:r>
          </a:p>
          <a:p xmlns:a="http://schemas.openxmlformats.org/drawingml/2006/main">
            <a:r>
              <a:t/>
            </a:r>
          </a:p>
          <a:p xmlns:a="http://schemas.openxmlformats.org/drawingml/2006/main">
            <a:r>
              <a:t>Sources:</a:t>
            </a:r>
          </a:p>
          <a:p xmlns:a="http://schemas.openxmlformats.org/drawingml/2006/main">
            <a:r>
              <a:t>- Frazier (2018), https://arxiv.org/abs/1807.02811</a:t>
            </a:r>
          </a:p>
          <a:p xmlns:a="http://schemas.openxmlformats.org/drawingml/2006/main">
            <a:r>
              <a:t>- Shahriari et al. (2016), https://ieeexplore.ieee.org/document/7352306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English speaker script:</a:t>
            </a:r>
          </a:p>
          <a:p xmlns:a="http://schemas.openxmlformats.org/drawingml/2006/main">
            <a:r>
              <a:t>A Gaussian process represents uncertainty over functions. Before seeing data, the mean function describes the baseline and the kernel describes which shapes are plausible. After observing data, conditioning gives a posterior distribution. At any new point, the posterior mean is the current prediction and the posterior standard deviation measures uncertainty under the fitted model. In the small example, we observe 0.8 at x equals 0.25 and 0.2 at x equals 0.75. With an RBF kernel, length scale 0.25, and small observation noise, the posterior prediction at the midpoint is about 0.533, but the standard deviation is still about 0.594. The model interpolates between the two values but admits that many curves remain possible. The qualification matters: this uncertainty is conditional on the kernel, hyperparameters, and noise model. A narrow interval means the fitted GP is confident. It does not prove that the real function lies inside that interval.</a:t>
            </a:r>
          </a:p>
          <a:p xmlns:a="http://schemas.openxmlformats.org/drawingml/2006/main">
            <a:r>
              <a:t/>
            </a:r>
          </a:p>
          <a:p xmlns:a="http://schemas.openxmlformats.org/drawingml/2006/main">
            <a:r>
              <a:t>Chinese speaker script:</a:t>
            </a:r>
          </a:p>
          <a:p xmlns:a="http://schemas.openxmlformats.org/drawingml/2006/main">
            <a:r>
              <a:t>GP 表示的是一组可能函数的概率分布，而不是一条确定曲线。看到数据之前，mean function 给出基准，kernel 描述哪些函数形状比较合理；看到数据之后，通过条件概率得到 posterior。对于一个新的 x，posterior mean 是当前预测，posterior standard deviation 是模型内部的不确定性。例子中，我们在 0.25 和 0.75 观察到 0.8 和 0.2。使用 RBF kernel、length scale 0.25 和较小噪声以后，在中点 0.5 的预测均值约为 0.533，但标准差仍然约为 0.594，因为这个位置并没有真正测量过。必须强调，这个 uncertainty 依赖 kernel、hyperparameter 和 noise model。区间很窄只说明拟合后的 GP 很自信，并不能单独证明真实函数一定在区间里。</a:t>
            </a:r>
          </a:p>
          <a:p xmlns:a="http://schemas.openxmlformats.org/drawingml/2006/main">
            <a:r>
              <a:t/>
            </a:r>
          </a:p>
          <a:p xmlns:a="http://schemas.openxmlformats.org/drawingml/2006/main">
            <a:r>
              <a:t>Sources:</a:t>
            </a:r>
          </a:p>
          <a:p xmlns:a="http://schemas.openxmlformats.org/drawingml/2006/main">
            <a:r>
              <a:t>- Project study guide numerical example</a:t>
            </a:r>
          </a:p>
          <a:p xmlns:a="http://schemas.openxmlformats.org/drawingml/2006/main">
            <a:r>
              <a:t>- Rasmussen and Williams, Gaussian Processes for Machine Learning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English speaker script:</a:t>
            </a:r>
          </a:p>
          <a:p xmlns:a="http://schemas.openxmlformats.org/drawingml/2006/main">
            <a:r>
              <a:t>The posterior becomes useful only when we turn it into decisions. An acquisition function chooses the next experiment. UCB adds the posterior mean to an uncertainty bonus. Expected improvement asks how much improvement we expect above the current incumbent. A stopping rule answers a different question: is another evaluation worth doing? A probabilistic regret rule can stop when the posterior probability that the final recommendation is within epsilon of the unknown optimum reaches at least one minus delta. Then the recommendation rule chooses the final x, for example the best observed point or the maximizer of the posterior mean. In the UCB example, candidate A has the larger predicted mean, but candidate B has enough uncertainty to obtain the larger score when kappa equals two. So B becomes the next evaluation. The stopping rule could still conclude that the possible benefit is too small relative to the cost. Sampling, stopping, and returning a result must stay separate.</a:t>
            </a:r>
          </a:p>
          <a:p xmlns:a="http://schemas.openxmlformats.org/drawingml/2006/main">
            <a:r>
              <a:t/>
            </a:r>
          </a:p>
          <a:p xmlns:a="http://schemas.openxmlformats.org/drawingml/2006/main">
            <a:r>
              <a:t>Chinese speaker script:</a:t>
            </a:r>
          </a:p>
          <a:p xmlns:a="http://schemas.openxmlformats.org/drawingml/2006/main">
            <a:r>
              <a:t>Posterior 本身不会自动做决定，我们需要把它转化成不同的 decision。Acquisition function 选择下一次实验。UCB 把预测均值和 uncertainty bonus 相加；Expected Improvement 计算超过当前最好结果的期望增益。Stopping rule 解决的是另一个问题：再做一次实验值不值得。一个 probabilistic regret rule 可以在推荐点距离真实最优值不超过 ε 的 posterior probability 达到 1−δ 时停止。停止以后，recommendation rule 再决定最终返回 best observed point，还是 posterior mean 最大的点。例子里 A 的均值更高，但 B 的不确定性更大，所以当 κ=2 时 B 的 UCB 更高，会被选作下一次实验。即使如此，stopping rule 仍可能判断继续实验不值得。</a:t>
            </a:r>
          </a:p>
          <a:p xmlns:a="http://schemas.openxmlformats.org/drawingml/2006/main">
            <a:r>
              <a:t/>
            </a:r>
          </a:p>
          <a:p xmlns:a="http://schemas.openxmlformats.org/drawingml/2006/main">
            <a:r>
              <a:t>Sources:</a:t>
            </a:r>
          </a:p>
          <a:p xmlns:a="http://schemas.openxmlformats.org/drawingml/2006/main">
            <a:r>
              <a:t>- Jones, Schonlau and Welch (1998), https://doi.org/10.1023/A:1008306431147</a:t>
            </a:r>
          </a:p>
          <a:p xmlns:a="http://schemas.openxmlformats.org/drawingml/2006/main">
            <a:r>
              <a:t>- Srinivas et al. (2010), https://arxiv.org/abs/0912.3995</a:t>
            </a:r>
          </a:p>
          <a:p xmlns:a="http://schemas.openxmlformats.org/drawingml/2006/main">
            <a:r>
              <a:t>- Wilson (2024), https://proceedings.neurips.cc/paper_files/paper/2024/hash/b204de7078301292a8876a762eed3dcb-Abstract-Conference.html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English speaker script:</a:t>
            </a:r>
          </a:p>
          <a:p xmlns:a="http://schemas.openxmlformats.org/drawingml/2006/main">
            <a:r>
              <a:t>Here is one complete iteration with simple numbers. We have tested three temperatures, and the best observed yield is 0.72 at 60 degrees. The fitted GP summarizes two new candidates. At 65 degrees, the predicted mean is 0.74 and the standard deviation is 0.05. At 78 degrees, the mean is only 0.66, but the standard deviation is 0.18. With UCB and kappa equal to two, the first score is 0.84 and the second is 1.02, so the algorithm evaluates 78 degrees. Suppose the real experiment returns 0.83. We add that point to the dataset, refit the GP, and recompute the posterior. The fitted length scale, output scale, and noise can also change after this observation. Finally, the stopping rule examines the updated state. If it continues, we choose another point. If it stops, the recommendation rule returns the final temperature.</a:t>
            </a:r>
          </a:p>
          <a:p xmlns:a="http://schemas.openxmlformats.org/drawingml/2006/main">
            <a:r>
              <a:t/>
            </a:r>
          </a:p>
          <a:p xmlns:a="http://schemas.openxmlformats.org/drawingml/2006/main">
            <a:r>
              <a:t>Chinese speaker script:</a:t>
            </a:r>
          </a:p>
          <a:p xmlns:a="http://schemas.openxmlformats.org/drawingml/2006/main">
            <a:r>
              <a:t>这里用一组简单数字走完一轮 BO。我们已经测试了三个温度，目前最好结果是在 60°C 得到 0.72。GP 给出两个候选点：65°C 的 mean 是 0.74，standard deviation 是 0.05；78°C 的 mean 只有 0.66，但 standard deviation 是 0.18。当 UCB 的 κ=2 时，第一个分数是 0.84，第二个是 1.02，所以算法选择 78°C。假设真实实验得到 0.83，我们把新数据加入 dataset，重新拟合 GP，再计算新的 posterior。新数据不仅改变预测曲线，也可能改变 length scale、output scale 和 noise。最后再运行 stopping rule；继续就选择下一个点，停止就交给 recommendation rule 返回最终温度。</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English speaker script:</a:t>
            </a:r>
          </a:p>
          <a:p xmlns:a="http://schemas.openxmlformats.org/drawingml/2006/main">
            <a:r>
              <a:t>A useful everyday analogy is tuning an espresso recipe. The input x contains controllable settings such as water temperature and grind size. The outcome y is a taste score, and the noise represents variation in the beans, brewing process, or taster. After a few cups, the GP becomes a map of recipes that may taste good and regions that remain uncertain. The acquisition function chooses the next cup. It might try a recipe with a high predicted score, or a more uncertain recipe that could reveal a better region. The stopping rule asks whether making another cup is likely to improve the final decision enough to justify the cost. The recommendation rule saves one recipe for future use. This analogy also shows why uncertainty matters. If the model assumes taste changes very smoothly but there is actually a narrow sweet spot, an overly long length scale can hide that region and make us stop too early.</a:t>
            </a:r>
          </a:p>
          <a:p xmlns:a="http://schemas.openxmlformats.org/drawingml/2006/main">
            <a:r>
              <a:t/>
            </a:r>
          </a:p>
          <a:p xmlns:a="http://schemas.openxmlformats.org/drawingml/2006/main">
            <a:r>
              <a:t>Chinese speaker script:</a:t>
            </a:r>
          </a:p>
          <a:p xmlns:a="http://schemas.openxmlformats.org/drawingml/2006/main">
            <a:r>
              <a:t>一个直观的生活例子是调咖啡配方。输入 x 可以是水温和研磨粗细，结果 y 是这一杯的口味评分，noise 来自咖啡豆差异、冲泡误差或品尝者的波动。做了几杯以后，GP 会形成一张地图，表示哪些配方可能好喝，以及哪里还不确定。Acquisition function 决定下一杯怎么做；它可能选择预测分数高的配方，也可能选择不确定性更高、但有机会发现新区域的配方。Stopping rule 判断再做一杯是否值得，recommendation rule 则保存最终配方。这个例子也说明 length scale 的风险：如果模型假设口味变化非常平滑，但真实情况存在一个很窄的甜点区域，过大的 length scale 会把它抹平，让我们过早停止。</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English speaker script:</a:t>
            </a:r>
          </a:p>
          <a:p xmlns:a="http://schemas.openxmlformats.org/drawingml/2006/main">
            <a:r>
              <a:t>This is the minimal implementation pattern in BoTorch. SingleTaskGP creates the surrogate from train X and train Y. Standardizing the outcome makes the parameter scales easier to interpret. ExactMarginalLogLikelihood defines the fitting objective, and fit gpytorch mll optimizes the model parameters. LogExpectedImprovement creates a numerically stable acquisition function. Optimize acqf then searches for the candidate that maximizes that acquisition. Multiple restarts and raw samples help because the acquisition surface can have local optima. After x next is selected, we evaluate the real objective exactly once, append the new observation, and refit. BoTorch does not decide the scientific stopping tolerance for us. Our project must implement stopping observers, define the recommendation rule, log the fitted parameters, and score the result against benchmark truth. The dense true curve can appear in plots for evaluation, but the optimizer cannot use it when selecting points.</a:t>
            </a:r>
          </a:p>
          <a:p xmlns:a="http://schemas.openxmlformats.org/drawingml/2006/main">
            <a:r>
              <a:t/>
            </a:r>
          </a:p>
          <a:p xmlns:a="http://schemas.openxmlformats.org/drawingml/2006/main">
            <a:r>
              <a:t>Chinese speaker script:</a:t>
            </a:r>
          </a:p>
          <a:p xmlns:a="http://schemas.openxmlformats.org/drawingml/2006/main">
            <a:r>
              <a:t>这是一个最小的 BoTorch 实现。SingleTaskGP 根据 train_X 和 train_Y 创建 surrogate；Standardize 让输出尺度更稳定。ExactMarginalLogLikelihood 定义拟合目标，fit_gpytorch_mll 用它优化模型参数。LogExpectedImprovement 创建数值上更稳定的 acquisition function，optimize_acqf 再寻找 acquisition 最大的候选点。因为 acquisition surface 也可能有局部最优，所以需要多个 restart 和 raw samples。得到 x_next 以后，只运行一次真实 objective，把新数据加入，再重新拟合。BoTorch 不会替我们决定科学上可接受的 ε、δ 或 stopping rule。项目代码必须另外实现 stopping observer、recommendation、参数记录和评价指标。已知真值只能用于 benchmark 评分和画图，不能泄露给选择下一个 x 的算法。</a:t>
            </a:r>
          </a:p>
          <a:p xmlns:a="http://schemas.openxmlformats.org/drawingml/2006/main">
            <a:r>
              <a:t/>
            </a:r>
          </a:p>
          <a:p xmlns:a="http://schemas.openxmlformats.org/drawingml/2006/main">
            <a:r>
              <a:t>Sources:</a:t>
            </a:r>
          </a:p>
          <a:p xmlns:a="http://schemas.openxmlformats.org/drawingml/2006/main">
            <a:r>
              <a:t>- Balandat et al. (2020), https://arxiv.org/abs/1910.06403</a:t>
            </a:r>
          </a:p>
          <a:p xmlns:a="http://schemas.openxmlformats.org/drawingml/2006/main">
            <a:r>
              <a:t>- Ament et al. (2023), https://arxiv.org/abs/2310.20708</a:t>
            </a:r>
          </a:p>
          <a:p xmlns:a="http://schemas.openxmlformats.org/drawingml/2006/main">
            <a:r>
              <a:t>- Project file examples/bo_intro.py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English speaker script:</a:t>
            </a:r>
          </a:p>
          <a:p xmlns:a="http://schemas.openxmlformats.org/drawingml/2006/main">
            <a:r>
              <a:t>These hyperparameters change the posterior itself. In the RBF kernel, the output scale sigma f squared multiplies the covariance, while each length scale divides distance along one input dimension. A short length scale means correlation decays quickly, so observations only inform a local neighborhood. A long length scale spreads information farther and produces a smoother model. At distance 0.2, length scale 0.1 gives correlation about 0.135, while length scale 0.5 gives about 0.923. That is why an overestimated length scale can create false confidence in unsampled regions. Output scale controls expected vertical variation. Noise variance appears on the covariance diagonal and controls how strongly measurements are trusted. The mean function controls the fallback prediction far from data. ARD uses one length scale per normalized dimension. Kappa, epsilon, and delta are different: they change the decision made from the posterior, not the posterior itself. Jitter is only a numerical safeguard.</a:t>
            </a:r>
          </a:p>
          <a:p xmlns:a="http://schemas.openxmlformats.org/drawingml/2006/main">
            <a:r>
              <a:t/>
            </a:r>
          </a:p>
          <a:p xmlns:a="http://schemas.openxmlformats.org/drawingml/2006/main">
            <a:r>
              <a:t>Chinese speaker script:</a:t>
            </a:r>
          </a:p>
          <a:p xmlns:a="http://schemas.openxmlformats.org/drawingml/2006/main">
            <a:r>
              <a:t>这些 hyperparameter 会先改变 posterior，然后 acquisition 和 stopping rule 才会使用这个 posterior。在 RBF kernel 中，output scale σf² 乘在整个 covariance 上，决定函数纵向可能变化多大；length scale ℓj 放在距离的分母里，决定一个观测点的影响可以传播多远。ℓ 小时相关性下降得快，模型更容易出现局部变化，不确定性也会很快恢复；ℓ 太大时，少量点会让大片未采样区域看起来都很确定，这是 premature stop 最危险的来源。σn² 加在 covariance matrix 的对角线上，决定模型多相信单次测量。Mean function 决定离数据很远时预测回到哪里。ARD 为每个归一化后的输入维度拟合一个 ℓ。κ、ε、δ 不是 GP hyperparameter，它们不改变 posterior，只改变我们如何利用 posterior 做决策。Jitter 只是保证矩阵运算稳定，也不能当作科学噪声。</a:t>
            </a:r>
          </a:p>
          <a:p xmlns:a="http://schemas.openxmlformats.org/drawingml/2006/main">
            <a:r>
              <a:t/>
            </a:r>
          </a:p>
          <a:p xmlns:a="http://schemas.openxmlformats.org/drawingml/2006/main">
            <a:r>
              <a:t>Sources:</a:t>
            </a:r>
          </a:p>
          <a:p xmlns:a="http://schemas.openxmlformats.org/drawingml/2006/main">
            <a:r>
              <a:t>- Project BO primer and hyperparameter guide</a:t>
            </a:r>
          </a:p>
          <a:p xmlns:a="http://schemas.openxmlformats.org/drawingml/2006/main">
            <a:r>
              <a:t>- Rasmussen and Williams, Gaussian Processes for Machine Learning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English speaker script:</a:t>
            </a:r>
          </a:p>
          <a:p xmlns:a="http://schemas.openxmlformats.org/drawingml/2006/main">
            <a:r>
              <a:t>The GP hyperparameters are usually fitted by maximizing the log marginal likelihood. The quadratic term measures how well the covariance model explains the observed values. The log determinant supplies a complexity tradeoff, and the final term normalizes the probability density. In practice, I should normalize every input dimension, standardize the outputs, optimize positive parameters in log space, use Cholesky solves rather than a matrix inverse, and use multiple restarts or priors because small datasets can create several plausible explanations. I will refit after new observations but also record the parameter trajectory, since a sudden length scale increase may create premature confidence. The immediate project task is to build a varied suite of two-dimensional test functions. Each function needs a known optimum, a property label, a consistent domain, plots, and tests. Then I will add the acquisition strategies and stopping observers, run a small pilot, inspect calibration and false stops, and only then scale to the full experiment matrix.</a:t>
            </a:r>
          </a:p>
          <a:p xmlns:a="http://schemas.openxmlformats.org/drawingml/2006/main">
            <a:r>
              <a:t/>
            </a:r>
          </a:p>
          <a:p xmlns:a="http://schemas.openxmlformats.org/drawingml/2006/main">
            <a:r>
              <a:t>Chinese speaker script:</a:t>
            </a:r>
          </a:p>
          <a:p xmlns:a="http://schemas.openxmlformats.org/drawingml/2006/main">
            <a:r>
              <a:t>GP hyperparameter 通常通过最大化 log marginal likelihood 来拟合。第一个 quadratic term 衡量 covariance model 对观察数据的解释程度；log determinant 提供复杂度上的平衡；最后一项负责概率密度的归一化。实际实现时，我需要先归一化每个输入维度、标准化输出，在 log space 中优化正参数，用 Cholesky solve 而不是直接求矩阵逆，并且使用多个 restart 或合理 prior，因为少量数据可能对应多个同样合理的解释。每次加入新数据后会重新拟合，但也要记录 hyperparameter trajectory，特别关注 length scale 突然变大导致的虚假信心。当前最直接的任务是建立一套多样的二维 test functions，包括平滑、多峰、窄峰、ridge、各向异性和噪声情况。每个函数都要有已知 optimum、属性标签、统一 domain、图和测试。然后再加入不同 acquisition 和 stopping observer，先跑小规模 pilot，检查 calibration、false stop 和 runtime，最后才扩大完整实验。</a:t>
            </a:r>
          </a:p>
          <a:p xmlns:a="http://schemas.openxmlformats.org/drawingml/2006/main">
            <a:r>
              <a:t/>
            </a:r>
          </a:p>
          <a:p xmlns:a="http://schemas.openxmlformats.org/drawingml/2006/main">
            <a:r>
              <a:t>Sources:</a:t>
            </a:r>
          </a:p>
          <a:p xmlns:a="http://schemas.openxmlformats.org/drawingml/2006/main">
            <a:r>
              <a:t>- Project work plan and Phase 1 repository</a:t>
            </a:r>
          </a:p>
          <a:p xmlns:a="http://schemas.openxmlformats.org/drawingml/2006/main">
            <a:r>
              <a:t>- Balandat et al. (2020), https://arxiv.org/abs/1910.06403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c4fd94db4d944fe"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174ab5749c6e4bbe"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d406d67133014d16"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b98370006d384c35"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79955318a8f1489d"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841b996b0c3d413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1EA5190-D35E-488C-970F-9211661D9E1D}"/>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C17E6824-A8B8-4210-92A5-78C58F733793}"/>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F69C96A7-0CCC-453F-AB98-21A2B4F4BCEE}"/>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64DC970-9A9B-48C2-B073-DFF0E0A23B9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80A3300E-6D8A-483E-8CF6-4236D6E02405}"/>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B4F6F5F4-D824-4F00-8D2A-ECCE6AD2AF9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C39C4CC-035F-4EA5-88A0-2F4B6C07E28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371F38E1-B6CD-44CC-BCD9-E777E47B84F1}"/>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41209A8-F997-4F56-843A-7857EEC5FF5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D1B6B05-295D-4A55-9D9E-4B723223A91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e8302ac2f5f4f68" /><Relationship Type="http://schemas.openxmlformats.org/officeDocument/2006/relationships/slideLayout" Target="/ppt/slideLayouts/slideLayout1.xml" Id="Rb2df2aa7c8c94d83" /><Relationship Type="http://schemas.openxmlformats.org/officeDocument/2006/relationships/slideLayout" Target="/ppt/slideLayouts/slideLayout2.xml" Id="R3817c1a9bb774145" /><Relationship Type="http://schemas.openxmlformats.org/officeDocument/2006/relationships/slideLayout" Target="/ppt/slideLayouts/slideLayout3.xml" Id="Rcdaf153106434513" /><Relationship Type="http://schemas.openxmlformats.org/officeDocument/2006/relationships/slideLayout" Target="/ppt/slideLayouts/slideLayout4.xml" Id="R3100094beafc4695" /><Relationship Type="http://schemas.openxmlformats.org/officeDocument/2006/relationships/slideLayout" Target="/ppt/slideLayouts/slideLayout5.xml" Id="R4a9005599ceb45d3" /><Relationship Type="http://schemas.openxmlformats.org/officeDocument/2006/relationships/slideLayout" Target="/ppt/slideLayouts/slideLayout6.xml" Id="Rdc3d2f2ae6cc4ce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2df2aa7c8c94d83"/>
    <p:sldLayoutId xmlns:r="http://schemas.openxmlformats.org/officeDocument/2006/relationships" id="2147483650" r:id="R3817c1a9bb774145"/>
    <p:sldLayoutId xmlns:r="http://schemas.openxmlformats.org/officeDocument/2006/relationships" id="2147483651" r:id="Rcdaf153106434513"/>
    <p:sldLayoutId xmlns:r="http://schemas.openxmlformats.org/officeDocument/2006/relationships" id="2147483652" r:id="R3100094beafc4695"/>
    <p:sldLayoutId xmlns:r="http://schemas.openxmlformats.org/officeDocument/2006/relationships" id="2147483653" r:id="R4a9005599ceb45d3"/>
    <p:sldLayoutId xmlns:r="http://schemas.openxmlformats.org/officeDocument/2006/relationships" id="2147483654" r:id="Rdc3d2f2ae6cc4ce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DejaVu Sans"/>
        <a:ea typeface=""/>
        <a:cs typeface=""/>
      </a:majorFont>
      <a:minorFont>
        <a:latin typeface="DejaVu San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c4a622bad85f4f7b" /><Relationship Type="http://schemas.openxmlformats.org/officeDocument/2006/relationships/chart" Target="/ppt/slides/charts/chart1.xml" Id="R8c82009dfe644db9" /><Relationship Type="http://schemas.openxmlformats.org/officeDocument/2006/relationships/notesSlide" Target="/ppt/notesSlides/notesSlide1.xml" Id="Ra96e01c4f1314766"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655ae4d010cc4c0f" /><Relationship Type="http://schemas.openxmlformats.org/officeDocument/2006/relationships/notesSlide" Target="/ppt/notesSlides/notesSlide2.xml" Id="Ra926f2bb28d740d9"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31718806aff54da2" /><Relationship Type="http://schemas.openxmlformats.org/officeDocument/2006/relationships/notesSlide" Target="/ppt/notesSlides/notesSlide3.xml" Id="R394751c6dcdb433d"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07277c04dccc4708" /><Relationship Type="http://schemas.openxmlformats.org/officeDocument/2006/relationships/notesSlide" Target="/ppt/notesSlides/notesSlide4.xml" Id="R787b382502d846a8"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b9d6c000636340fb" /><Relationship Type="http://schemas.openxmlformats.org/officeDocument/2006/relationships/notesSlide" Target="/ppt/notesSlides/notesSlide5.xml" Id="R1dda48eeaf14497b"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b93f72e910704458" /><Relationship Type="http://schemas.openxmlformats.org/officeDocument/2006/relationships/notesSlide" Target="/ppt/notesSlides/notesSlide6.xml" Id="R5fcca92305cc4847"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8eee2ad9607e4903" /><Relationship Type="http://schemas.openxmlformats.org/officeDocument/2006/relationships/notesSlide" Target="/ppt/notesSlides/notesSlide7.xml" Id="Rea48ebbba603490d"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cb3ba1a35c6944f5" /><Relationship Type="http://schemas.openxmlformats.org/officeDocument/2006/relationships/notesSlide" Target="/ppt/notesSlides/notesSlide8.xml" Id="R38ea76a9f9db4f44"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ef9b6cbf69d8410f" /><Relationship Type="http://schemas.openxmlformats.org/officeDocument/2006/relationships/notesSlide" Target="/ppt/notesSlides/notesSlide9.xml" Id="R89b3c7d62ca7431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6ed89110f3a44aa8" /><Relationship Type="http://schemas.openxmlformats.org/officeDocument/2006/relationships/notesSlide" Target="/ppt/notesSlides/notesSlide10.xml" Id="R61f4c1a747cb4a74"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lineChart>
        <c:grouping val="standard"/>
        <c:varyColors val="0"/>
        <c:ser>
          <c:idx val="0"/>
          <c:order val="0"/>
          <c:tx>
            <c:v>Unknown objective</c:v>
          </c:tx>
          <c:spPr>
            <a:ln xmlns:a="http://schemas.openxmlformats.org/drawingml/2006/main" w="28575">
              <a:solidFill>
                <a:srgbClr val="3A6EA5"/>
              </a:solidFill>
              <a:prstDash val="solid"/>
            </a:ln>
          </c:spPr>
          <c:marker>
            <c:symbol val="none"/>
          </c:marker>
          <c:cat>
            <c:numRef>
              <c:f>'Chart Data'!$A$2:$A$42</c:f>
              <c:numCache>
                <c:formatCode>General</c:formatCode>
                <c:ptCount val="41"/>
                <c:pt idx="0">
                  <c:v>0.00</c:v>
                </c:pt>
                <c:pt idx="1">
                  <c:v>0.03</c:v>
                </c:pt>
                <c:pt idx="2">
                  <c:v>0.05</c:v>
                </c:pt>
                <c:pt idx="3">
                  <c:v>0.07</c:v>
                </c:pt>
                <c:pt idx="4">
                  <c:v>0.10</c:v>
                </c:pt>
                <c:pt idx="5">
                  <c:v>0.13</c:v>
                </c:pt>
                <c:pt idx="6">
                  <c:v>0.15</c:v>
                </c:pt>
                <c:pt idx="7">
                  <c:v>0.17</c:v>
                </c:pt>
                <c:pt idx="8">
                  <c:v>0.20</c:v>
                </c:pt>
                <c:pt idx="9">
                  <c:v>0.23</c:v>
                </c:pt>
                <c:pt idx="10">
                  <c:v>0.25</c:v>
                </c:pt>
                <c:pt idx="11">
                  <c:v>0.28</c:v>
                </c:pt>
                <c:pt idx="12">
                  <c:v>0.30</c:v>
                </c:pt>
                <c:pt idx="13">
                  <c:v>0.33</c:v>
                </c:pt>
                <c:pt idx="14">
                  <c:v>0.35</c:v>
                </c:pt>
                <c:pt idx="15">
                  <c:v>0.38</c:v>
                </c:pt>
                <c:pt idx="16">
                  <c:v>0.40</c:v>
                </c:pt>
                <c:pt idx="17">
                  <c:v>0.42</c:v>
                </c:pt>
                <c:pt idx="18">
                  <c:v>0.45</c:v>
                </c:pt>
                <c:pt idx="19">
                  <c:v>0.47</c:v>
                </c:pt>
                <c:pt idx="20">
                  <c:v>0.50</c:v>
                </c:pt>
                <c:pt idx="21">
                  <c:v>0.53</c:v>
                </c:pt>
                <c:pt idx="22">
                  <c:v>0.55</c:v>
                </c:pt>
                <c:pt idx="23">
                  <c:v>0.57</c:v>
                </c:pt>
                <c:pt idx="24">
                  <c:v>0.60</c:v>
                </c:pt>
                <c:pt idx="25">
                  <c:v>0.63</c:v>
                </c:pt>
                <c:pt idx="26">
                  <c:v>0.65</c:v>
                </c:pt>
                <c:pt idx="27">
                  <c:v>0.68</c:v>
                </c:pt>
                <c:pt idx="28">
                  <c:v>0.70</c:v>
                </c:pt>
                <c:pt idx="29">
                  <c:v>0.72</c:v>
                </c:pt>
                <c:pt idx="30">
                  <c:v>0.75</c:v>
                </c:pt>
                <c:pt idx="31">
                  <c:v>0.78</c:v>
                </c:pt>
                <c:pt idx="32">
                  <c:v>0.80</c:v>
                </c:pt>
                <c:pt idx="33">
                  <c:v>0.82</c:v>
                </c:pt>
                <c:pt idx="34">
                  <c:v>0.85</c:v>
                </c:pt>
                <c:pt idx="35">
                  <c:v>0.88</c:v>
                </c:pt>
                <c:pt idx="36">
                  <c:v>0.90</c:v>
                </c:pt>
                <c:pt idx="37">
                  <c:v>0.93</c:v>
                </c:pt>
                <c:pt idx="38">
                  <c:v>0.95</c:v>
                </c:pt>
                <c:pt idx="39">
                  <c:v>0.97</c:v>
                </c:pt>
                <c:pt idx="40">
                  <c:v>1.00</c:v>
                </c:pt>
              </c:numCache>
            </c:numRef>
          </c:cat>
          <c:val>
            <c:numRef>
              <c:f>'Chart Data'!$B$2:$B$42</c:f>
              <c:numCache>
                <c:formatCode>General</c:formatCode>
                <c:ptCount val="41"/>
                <c:pt idx="0">
                  <c:v>0</c:v>
                </c:pt>
                <c:pt idx="1">
                  <c:v>0.46399</c:v>
                </c:pt>
                <c:pt idx="2">
                  <c:v>0.829017</c:v>
                </c:pt>
                <c:pt idx="3">
                  <c:v>1.017688</c:v>
                </c:pt>
                <c:pt idx="4">
                  <c:v>0.991057</c:v>
                </c:pt>
                <c:pt idx="5">
                  <c:v>0.757107</c:v>
                </c:pt>
                <c:pt idx="6">
                  <c:v>0.369017</c:v>
                </c:pt>
                <c:pt idx="7">
                  <c:v>-0.086434</c:v>
                </c:pt>
                <c:pt idx="8">
                  <c:v>-0.507785</c:v>
                </c:pt>
                <c:pt idx="9">
                  <c:v>-0.801007</c:v>
                </c:pt>
                <c:pt idx="10">
                  <c:v>-0.9</c:v>
                </c:pt>
                <c:pt idx="11">
                  <c:v>-0.781007</c:v>
                </c:pt>
                <c:pt idx="12">
                  <c:v>-0.467785</c:v>
                </c:pt>
                <c:pt idx="13">
                  <c:v>-0.026434</c:v>
                </c:pt>
                <c:pt idx="14">
                  <c:v>0.449017</c:v>
                </c:pt>
                <c:pt idx="15">
                  <c:v>0.857107</c:v>
                </c:pt>
                <c:pt idx="16">
                  <c:v>1.111057</c:v>
                </c:pt>
                <c:pt idx="17">
                  <c:v>1.157688</c:v>
                </c:pt>
                <c:pt idx="18">
                  <c:v>0.989017</c:v>
                </c:pt>
                <c:pt idx="19">
                  <c:v>0.64399</c:v>
                </c:pt>
                <c:pt idx="20">
                  <c:v>0.2</c:v>
                </c:pt>
                <c:pt idx="21">
                  <c:v>-0.24399</c:v>
                </c:pt>
                <c:pt idx="22">
                  <c:v>-0.589017</c:v>
                </c:pt>
                <c:pt idx="23">
                  <c:v>-0.757688</c:v>
                </c:pt>
                <c:pt idx="24">
                  <c:v>-0.711057</c:v>
                </c:pt>
                <c:pt idx="25">
                  <c:v>-0.457107</c:v>
                </c:pt>
                <c:pt idx="26">
                  <c:v>-0.049017</c:v>
                </c:pt>
                <c:pt idx="27">
                  <c:v>0.426434</c:v>
                </c:pt>
                <c:pt idx="28">
                  <c:v>0.867785</c:v>
                </c:pt>
                <c:pt idx="29">
                  <c:v>1.181007</c:v>
                </c:pt>
                <c:pt idx="30">
                  <c:v>1.3</c:v>
                </c:pt>
                <c:pt idx="31">
                  <c:v>1.201007</c:v>
                </c:pt>
                <c:pt idx="32">
                  <c:v>0.907785</c:v>
                </c:pt>
                <c:pt idx="33">
                  <c:v>0.486434</c:v>
                </c:pt>
                <c:pt idx="34">
                  <c:v>0.030983</c:v>
                </c:pt>
                <c:pt idx="35">
                  <c:v>-0.357107</c:v>
                </c:pt>
                <c:pt idx="36">
                  <c:v>-0.591057</c:v>
                </c:pt>
                <c:pt idx="37">
                  <c:v>-0.617688</c:v>
                </c:pt>
                <c:pt idx="38">
                  <c:v>-0.429017</c:v>
                </c:pt>
                <c:pt idx="39">
                  <c:v>-0.06399</c:v>
                </c:pt>
                <c:pt idx="40">
                  <c:v>0.4</c:v>
                </c:pt>
              </c:numCache>
            </c:numRef>
          </c:val>
        </c:ser>
        <c:dLbls>
          <c:txPr>
            <a:bodyPr xmlns:a="http://schemas.openxmlformats.org/drawingml/2006/main" anchorCtr="1"/>
            <a:lstStyle xmlns:a="http://schemas.openxmlformats.org/drawingml/2006/main"/>
            <a:p xmlns:a="http://schemas.openxmlformats.org/drawingml/2006/main">
              <a:pPr>
                <a:defRPr>
                  <a:latin typeface="DejaVu Sans"/>
                  <a:ea typeface="DejaVu Sans"/>
                  <a:cs typeface="DejaVu Sans"/>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sz="1050">
                    <a:solidFill>
                      <a:srgbClr val="5E6A72"/>
                    </a:solidFill>
                    <a:latin typeface="DejaVu Sans"/>
                    <a:ea typeface="DejaVu Sans"/>
                    <a:cs typeface="DejaVu Sans"/>
                  </a:rPr>
                  <a:t>Controllable input x</a:t>
                </a:r>
              </a:p>
            </c:rich>
          </c:tx>
          <c:overlay val="0"/>
          <c:txPr>
            <a:bodyPr xmlns:a="http://schemas.openxmlformats.org/drawingml/2006/main" anchorCtr="1"/>
            <a:lstStyle xmlns:a="http://schemas.openxmlformats.org/drawingml/2006/main"/>
            <a:p xmlns:a="http://schemas.openxmlformats.org/drawingml/2006/main">
              <a:pPr>
                <a:defRPr sz="1050">
                  <a:solidFill>
                    <a:srgbClr val="5E6A72"/>
                  </a:solidFill>
                  <a:latin typeface="DejaVu Sans"/>
                  <a:ea typeface="DejaVu Sans"/>
                  <a:cs typeface="DejaVu Sans"/>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50">
                <a:solidFill>
                  <a:srgbClr val="5E6A72"/>
                </a:solidFill>
                <a:latin typeface="DejaVu Sans"/>
                <a:ea typeface="DejaVu Sans"/>
                <a:cs typeface="DejaVu Sans"/>
              </a:defRPr>
            </a:pPr>
          </a:p>
        </c:txPr>
        <c:crossAx val="48672768"/>
      </c:catAx>
      <c:valAx>
        <c:axId val="48672768"/>
        <c:scaling>
          <c:orientation val="minMax"/>
        </c:scaling>
        <c:delete val="0"/>
        <c:axPos val="l"/>
        <c:majorGridlines>
          <c:spPr>
            <a:ln xmlns:a="http://schemas.openxmlformats.org/drawingml/2006/main" w="9525">
              <a:solidFill>
                <a:srgbClr val="E4E8EB"/>
              </a:solidFill>
              <a:prstDash val="solid"/>
            </a:ln>
          </c:spPr>
        </c:majorGridlines>
        <c:title>
          <c:tx>
            <c:rich>
              <a:bodyPr xmlns:a="http://schemas.openxmlformats.org/drawingml/2006/main"/>
              <a:lstStyle xmlns:a="http://schemas.openxmlformats.org/drawingml/2006/main"/>
              <a:p xmlns:a="http://schemas.openxmlformats.org/drawingml/2006/main">
                <a:r>
                  <a:rPr sz="1050">
                    <a:solidFill>
                      <a:srgbClr val="5E6A72"/>
                    </a:solidFill>
                    <a:latin typeface="DejaVu Sans"/>
                    <a:ea typeface="DejaVu Sans"/>
                    <a:cs typeface="DejaVu Sans"/>
                  </a:rPr>
                  <a:t>Outcome y</a:t>
                </a:r>
              </a:p>
            </c:rich>
          </c:tx>
          <c:overlay val="0"/>
          <c:txPr>
            <a:bodyPr xmlns:a="http://schemas.openxmlformats.org/drawingml/2006/main" anchorCtr="1"/>
            <a:lstStyle xmlns:a="http://schemas.openxmlformats.org/drawingml/2006/main"/>
            <a:p xmlns:a="http://schemas.openxmlformats.org/drawingml/2006/main">
              <a:pPr>
                <a:defRPr sz="1050">
                  <a:solidFill>
                    <a:srgbClr val="5E6A72"/>
                  </a:solidFill>
                  <a:latin typeface="DejaVu Sans"/>
                  <a:ea typeface="DejaVu Sans"/>
                  <a:cs typeface="DejaVu Sans"/>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50">
                <a:solidFill>
                  <a:srgbClr val="5E6A72"/>
                </a:solidFill>
                <a:latin typeface="DejaVu Sans"/>
                <a:ea typeface="DejaVu Sans"/>
                <a:cs typeface="DejaVu Sans"/>
              </a:defRPr>
            </a:pPr>
          </a:p>
        </c:txPr>
        <c:crossAx val="48650112"/>
        <c:crossBetween val="between"/>
      </c:valAx>
      <c:spPr>
        <a:solidFill xmlns:a="http://schemas.openxmlformats.org/drawingml/2006/main">
          <a:srgbClr val="FFFFFF"/>
        </a:solidFill>
        <a:ln xmlns:a="http://schemas.openxmlformats.org/drawingml/2006/main" w="9525">
          <a:solidFill>
            <a:srgbClr val="CAD4DA"/>
          </a:solidFill>
          <a:prstDash val="solid"/>
        </a:ln>
      </c:spPr>
    </c:plotArea>
    <c:legend>
      <c:legendPos val="b"/>
      <c:overlay val="0"/>
      <c:txPr>
        <a:bodyPr xmlns:a="http://schemas.openxmlformats.org/drawingml/2006/main" anchorCtr="1"/>
        <a:lstStyle xmlns:a="http://schemas.openxmlformats.org/drawingml/2006/main"/>
        <a:p xmlns:a="http://schemas.openxmlformats.org/drawingml/2006/main">
          <a:pPr>
            <a:defRPr sz="975">
              <a:solidFill>
                <a:srgbClr val="5E6A72"/>
              </a:solidFill>
              <a:latin typeface="DejaVu Sans"/>
              <a:ea typeface="DejaVu Sans"/>
              <a:cs typeface="DejaVu Sans"/>
            </a:defRPr>
          </a:pPr>
        </a:p>
      </c:txPr>
    </c:legend>
    <c:plotVisOnly val="1"/>
  </c:chart>
  <c:spPr>
    <a:noFill xmlns:a="http://schemas.openxmlformats.org/drawingml/2006/main"/>
    <a:ln xmlns:a="http://schemas.openxmlformats.org/drawingml/2006/main" w="0">
      <a:noFill/>
      <a:prstDash val="solid"/>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12" name="slide-title">
            <a:extLst xmlns:a="http://schemas.openxmlformats.org/drawingml/2006/main">
              <a:ext uri="{FF2B5EF4-FFF2-40B4-BE49-F238E27FC236}">
                <a16:creationId xmlns:a16="http://schemas.microsoft.com/office/drawing/2014/main" id="{C47B9CA1-7091-4419-97D2-7F3EBC8A9BDF}"/>
              </a:ext>
            </a:extLst>
          </p:cNvPr>
          <p:cNvSpPr>
            <a:spLocks xmlns:a="http://schemas.openxmlformats.org/drawingml/2006/main" noGrp="1"/>
          </p:cNvSpPr>
          <p:nvPr/>
        </p:nvSpPr>
        <p:spPr>
          <a:xfrm xmlns:a="http://schemas.openxmlformats.org/drawingml/2006/main">
            <a:off x="685800" y="419100"/>
            <a:ext cx="10382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550" b="1" i="0">
                <a:solidFill>
                  <a:srgbClr val="0B1F33"/>
                </a:solidFill>
                <a:latin typeface="DejaVu Sans"/>
                <a:ea typeface="DejaVu Sans"/>
                <a:cs typeface="DejaVu Sans"/>
              </a:defRPr>
            </a:defPPr>
          </a:lstStyle>
          <a:p xmlns:a="http://schemas.openxmlformats.org/drawingml/2006/main">
            <a:pPr algn="l">
              <a:defRPr sz="2550" b="1" i="0">
                <a:solidFill>
                  <a:srgbClr val="0B1F33"/>
                </a:solidFill>
                <a:latin typeface="DejaVu Sans"/>
                <a:ea typeface="DejaVu Sans"/>
                <a:cs typeface="DejaVu Sans"/>
              </a:defRPr>
            </a:pPr>
            <a:r>
              <a:rPr sz="2550" b="1" i="0">
                <a:solidFill>
                  <a:srgbClr val="0B1F33"/>
                </a:solidFill>
                <a:latin typeface="DejaVu Sans"/>
                <a:ea typeface="DejaVu Sans"/>
                <a:cs typeface="DejaVu Sans"/>
              </a:rPr>
              <a:t>What Bayesian optimization does</a:t>
            </a:r>
          </a:p>
        </p:txBody>
      </p:sp>
      <p:sp>
        <p:nvSpPr>
          <p:cNvPr id="2" name="slide-subtitle">
            <a:extLst xmlns:a="http://schemas.openxmlformats.org/drawingml/2006/main">
              <a:ext uri="{FF2B5EF4-FFF2-40B4-BE49-F238E27FC236}">
                <a16:creationId xmlns:a16="http://schemas.microsoft.com/office/drawing/2014/main" id="{9A394B73-D19E-41A6-8440-C008C7A1221B}"/>
              </a:ext>
            </a:extLst>
          </p:cNvPr>
          <p:cNvSpPr>
            <a:spLocks xmlns:a="http://schemas.openxmlformats.org/drawingml/2006/main" noGrp="1"/>
          </p:cNvSpPr>
          <p:nvPr/>
        </p:nvSpPr>
        <p:spPr>
          <a:xfrm xmlns:a="http://schemas.openxmlformats.org/drawingml/2006/main">
            <a:off x="704850" y="990600"/>
            <a:ext cx="1028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275" b="0" i="0">
                <a:solidFill>
                  <a:srgbClr val="5E6A72"/>
                </a:solidFill>
                <a:latin typeface="DejaVu Sans"/>
                <a:ea typeface="DejaVu Sans"/>
                <a:cs typeface="DejaVu Sans"/>
              </a:defRPr>
            </a:defPPr>
          </a:lstStyle>
          <a:p xmlns:a="http://schemas.openxmlformats.org/drawingml/2006/main">
            <a:pPr algn="l">
              <a:defRPr sz="1275" b="0" i="0">
                <a:solidFill>
                  <a:srgbClr val="5E6A72"/>
                </a:solidFill>
                <a:latin typeface="DejaVu Sans"/>
                <a:ea typeface="DejaVu Sans"/>
                <a:cs typeface="DejaVu Sans"/>
              </a:defRPr>
            </a:pPr>
            <a:r>
              <a:rPr sz="1275" b="0" i="0">
                <a:solidFill>
                  <a:srgbClr val="5E6A72"/>
                </a:solidFill>
                <a:latin typeface="DejaVu Sans"/>
                <a:ea typeface="DejaVu Sans"/>
                <a:cs typeface="DejaVu Sans"/>
              </a:rPr>
              <a:t>It searches for a good input when each evaluation is expensive</a:t>
            </a:r>
          </a:p>
        </p:txBody>
      </p:sp>
      <p:sp>
        <p:nvSpPr>
          <p:cNvPr id="3" name="">
            <a:extLst xmlns:a="http://schemas.openxmlformats.org/drawingml/2006/main">
              <a:ext uri="{FF2B5EF4-FFF2-40B4-BE49-F238E27FC236}">
                <a16:creationId xmlns:a16="http://schemas.microsoft.com/office/drawing/2014/main" id="{B35B0C78-0C42-4EEE-B271-B36C018DCE91}"/>
              </a:ext>
            </a:extLst>
          </p:cNvPr>
          <p:cNvSpPr>
            <a:spLocks xmlns:a="http://schemas.openxmlformats.org/drawingml/2006/main" noGrp="1"/>
          </p:cNvSpPr>
          <p:nvPr/>
        </p:nvSpPr>
        <p:spPr>
          <a:xfrm xmlns:a="http://schemas.openxmlformats.org/drawingml/2006/main">
            <a:off x="800100" y="1524000"/>
            <a:ext cx="3333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425" b="1" i="0">
                <a:solidFill>
                  <a:srgbClr val="238A7A"/>
                </a:solidFill>
                <a:latin typeface="DejaVu Sans"/>
                <a:ea typeface="DejaVu Sans"/>
                <a:cs typeface="DejaVu Sans"/>
              </a:defRPr>
            </a:defPPr>
          </a:lstStyle>
          <a:p xmlns:a="http://schemas.openxmlformats.org/drawingml/2006/main">
            <a:pPr algn="l">
              <a:defRPr sz="1425" b="1" i="0">
                <a:solidFill>
                  <a:srgbClr val="238A7A"/>
                </a:solidFill>
                <a:latin typeface="DejaVu Sans"/>
                <a:ea typeface="DejaVu Sans"/>
                <a:cs typeface="DejaVu Sans"/>
              </a:defRPr>
            </a:pPr>
            <a:r>
              <a:rPr sz="1425" b="1" i="0">
                <a:solidFill>
                  <a:srgbClr val="238A7A"/>
                </a:solidFill>
                <a:latin typeface="DejaVu Sans"/>
                <a:ea typeface="DejaVu Sans"/>
                <a:cs typeface="DejaVu Sans"/>
              </a:rPr>
              <a:t>Unknown experiment</a:t>
            </a:r>
          </a:p>
        </p:txBody>
      </p:sp>
      <p:sp>
        <p:nvSpPr>
          <p:cNvPr id="4" name="">
            <a:extLst xmlns:a="http://schemas.openxmlformats.org/drawingml/2006/main">
              <a:ext uri="{FF2B5EF4-FFF2-40B4-BE49-F238E27FC236}">
                <a16:creationId xmlns:a16="http://schemas.microsoft.com/office/drawing/2014/main" id="{A340ADF2-FB59-4292-B61D-BF476BFFCDE6}"/>
              </a:ext>
            </a:extLst>
          </p:cNvPr>
          <p:cNvSpPr>
            <a:spLocks xmlns:a="http://schemas.openxmlformats.org/drawingml/2006/main" noGrp="1"/>
          </p:cNvSpPr>
          <p:nvPr/>
        </p:nvSpPr>
        <p:spPr>
          <a:xfrm xmlns:a="http://schemas.openxmlformats.org/drawingml/2006/main">
            <a:off x="876300" y="2038350"/>
            <a:ext cx="3143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2700" b="1" i="0">
                <a:solidFill>
                  <a:srgbClr val="0B1F33"/>
                </a:solidFill>
                <a:latin typeface="DejaVu Sans"/>
                <a:ea typeface="DejaVu Sans"/>
                <a:cs typeface="DejaVu Sans"/>
              </a:defRPr>
            </a:defPPr>
          </a:lstStyle>
          <a:p xmlns:a="http://schemas.openxmlformats.org/drawingml/2006/main">
            <a:pPr algn="ctr">
              <a:defRPr sz="2700" b="1" i="0">
                <a:solidFill>
                  <a:srgbClr val="0B1F33"/>
                </a:solidFill>
                <a:latin typeface="DejaVu Sans"/>
                <a:ea typeface="DejaVu Sans"/>
                <a:cs typeface="DejaVu Sans"/>
              </a:defRPr>
            </a:pPr>
            <a:r>
              <a:rPr sz="2700" b="1" i="0">
                <a:solidFill>
                  <a:srgbClr val="0B1F33"/>
                </a:solidFill>
                <a:latin typeface="DejaVu Sans"/>
                <a:ea typeface="DejaVu Sans"/>
                <a:cs typeface="DejaVu Sans"/>
              </a:rPr>
              <a:t>y = f(x) + ε</a:t>
            </a:r>
          </a:p>
        </p:txBody>
      </p:sp>
      <p:sp>
        <p:nvSpPr>
          <p:cNvPr id="5" name="">
            <a:extLst xmlns:a="http://schemas.openxmlformats.org/drawingml/2006/main">
              <a:ext uri="{FF2B5EF4-FFF2-40B4-BE49-F238E27FC236}">
                <a16:creationId xmlns:a16="http://schemas.microsoft.com/office/drawing/2014/main" id="{17EB9E62-F9E4-4642-9B17-B8A3C534A55F}"/>
              </a:ext>
            </a:extLst>
          </p:cNvPr>
          <p:cNvSpPr>
            <a:spLocks xmlns:a="http://schemas.openxmlformats.org/drawingml/2006/main" noGrp="1"/>
          </p:cNvSpPr>
          <p:nvPr/>
        </p:nvSpPr>
        <p:spPr>
          <a:xfrm xmlns:a="http://schemas.openxmlformats.org/drawingml/2006/main">
            <a:off x="876300" y="2781300"/>
            <a:ext cx="3143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2250" b="1" i="0">
                <a:solidFill>
                  <a:srgbClr val="3A6EA5"/>
                </a:solidFill>
                <a:latin typeface="DejaVu Sans"/>
                <a:ea typeface="DejaVu Sans"/>
                <a:cs typeface="DejaVu Sans"/>
              </a:defRPr>
            </a:defPPr>
          </a:lstStyle>
          <a:p xmlns:a="http://schemas.openxmlformats.org/drawingml/2006/main">
            <a:pPr algn="ctr">
              <a:defRPr sz="2250" b="1" i="0">
                <a:solidFill>
                  <a:srgbClr val="3A6EA5"/>
                </a:solidFill>
                <a:latin typeface="DejaVu Sans"/>
                <a:ea typeface="DejaVu Sans"/>
                <a:cs typeface="DejaVu Sans"/>
              </a:defRPr>
            </a:pPr>
            <a:r>
              <a:rPr sz="2250" b="1" i="0">
                <a:solidFill>
                  <a:srgbClr val="3A6EA5"/>
                </a:solidFill>
                <a:latin typeface="DejaVu Sans"/>
                <a:ea typeface="DejaVu Sans"/>
                <a:cs typeface="DejaVu Sans"/>
              </a:rPr>
              <a:t>x* = arg max  f(x)</a:t>
            </a:r>
          </a:p>
        </p:txBody>
      </p:sp>
      <p:sp>
        <p:nvSpPr>
          <p:cNvPr id="6" name="">
            <a:extLst xmlns:a="http://schemas.openxmlformats.org/drawingml/2006/main">
              <a:ext uri="{FF2B5EF4-FFF2-40B4-BE49-F238E27FC236}">
                <a16:creationId xmlns:a16="http://schemas.microsoft.com/office/drawing/2014/main" id="{9A657175-9B2C-4470-BD0F-BD2C84A8E092}"/>
              </a:ext>
            </a:extLst>
          </p:cNvPr>
          <p:cNvSpPr>
            <a:spLocks xmlns:a="http://schemas.openxmlformats.org/drawingml/2006/main" noGrp="1"/>
          </p:cNvSpPr>
          <p:nvPr/>
        </p:nvSpPr>
        <p:spPr>
          <a:xfrm xmlns:a="http://schemas.openxmlformats.org/drawingml/2006/main">
            <a:off x="838200" y="3695700"/>
            <a:ext cx="323850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425" b="0" i="0">
                <a:solidFill>
                  <a:srgbClr val="5E6A72"/>
                </a:solidFill>
                <a:latin typeface="DejaVu Sans"/>
                <a:ea typeface="DejaVu Sans"/>
                <a:cs typeface="DejaVu Sans"/>
              </a:defRPr>
            </a:defPPr>
          </a:lstStyle>
          <a:p xmlns:a="http://schemas.openxmlformats.org/drawingml/2006/main">
            <a:pPr algn="ctr">
              <a:defRPr sz="1425" b="0" i="0">
                <a:solidFill>
                  <a:srgbClr val="5E6A72"/>
                </a:solidFill>
                <a:latin typeface="DejaVu Sans"/>
                <a:ea typeface="DejaVu Sans"/>
                <a:cs typeface="DejaVu Sans"/>
              </a:defRPr>
            </a:pPr>
            <a:r>
              <a:rPr sz="1425" b="0" i="0">
                <a:solidFill>
                  <a:srgbClr val="5E6A72"/>
                </a:solidFill>
                <a:latin typeface="DejaVu Sans"/>
                <a:ea typeface="DejaVu Sans"/>
                <a:cs typeface="DejaVu Sans"/>
              </a:rPr>
              <a:t>x may be temperature, composition,</a:t>
            </a:r>
          </a:p>
          <a:p xmlns:a="http://schemas.openxmlformats.org/drawingml/2006/main">
            <a:pPr algn="ctr">
              <a:defRPr sz="1425" b="0" i="0">
                <a:solidFill>
                  <a:srgbClr val="5E6A72"/>
                </a:solidFill>
                <a:latin typeface="DejaVu Sans"/>
                <a:ea typeface="DejaVu Sans"/>
                <a:cs typeface="DejaVu Sans"/>
              </a:defRPr>
            </a:pPr>
            <a:r>
              <a:rPr sz="1425" b="0" i="0">
                <a:solidFill>
                  <a:srgbClr val="5E6A72"/>
                </a:solidFill>
                <a:latin typeface="DejaVu Sans"/>
                <a:ea typeface="DejaVu Sans"/>
                <a:cs typeface="DejaVu Sans"/>
              </a:rPr>
              <a:t>or a model setting. One y may require</a:t>
            </a:r>
          </a:p>
          <a:p xmlns:a="http://schemas.openxmlformats.org/drawingml/2006/main">
            <a:pPr algn="ctr">
              <a:defRPr sz="1425" b="0" i="0">
                <a:solidFill>
                  <a:srgbClr val="5E6A72"/>
                </a:solidFill>
                <a:latin typeface="DejaVu Sans"/>
                <a:ea typeface="DejaVu Sans"/>
                <a:cs typeface="DejaVu Sans"/>
              </a:defRPr>
            </a:pPr>
            <a:r>
              <a:rPr sz="1425" b="0" i="0">
                <a:solidFill>
                  <a:srgbClr val="5E6A72"/>
                </a:solidFill>
                <a:latin typeface="DejaVu Sans"/>
                <a:ea typeface="DejaVu Sans"/>
                <a:cs typeface="DejaVu Sans"/>
              </a:rPr>
              <a:t>a real experiment or long simulation.</a:t>
            </a:r>
          </a:p>
        </p:txBody>
      </p:sp>
      <p:sp>
        <p:nvSpPr>
          <p:cNvPr id="7" name="">
            <a:extLst xmlns:a="http://schemas.openxmlformats.org/drawingml/2006/main">
              <a:ext uri="{FF2B5EF4-FFF2-40B4-BE49-F238E27FC236}">
                <a16:creationId xmlns:a16="http://schemas.microsoft.com/office/drawing/2014/main" id="{622892D0-902C-439B-9128-C2BCD0881809}"/>
              </a:ext>
            </a:extLst>
          </p:cNvPr>
          <p:cNvSpPr>
            <a:spLocks xmlns:a="http://schemas.openxmlformats.org/drawingml/2006/main" noGrp="1"/>
          </p:cNvSpPr>
          <p:nvPr/>
        </p:nvSpPr>
        <p:spPr>
          <a:xfrm xmlns:a="http://schemas.openxmlformats.org/drawingml/2006/main">
            <a:off x="781050" y="5162550"/>
            <a:ext cx="33337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575" b="1" i="0">
                <a:solidFill>
                  <a:srgbClr val="132735"/>
                </a:solidFill>
                <a:latin typeface="DejaVu Sans"/>
                <a:ea typeface="DejaVu Sans"/>
                <a:cs typeface="DejaVu Sans"/>
              </a:defRPr>
            </a:defPPr>
          </a:lstStyle>
          <a:p xmlns:a="http://schemas.openxmlformats.org/drawingml/2006/main">
            <a:pPr algn="ctr">
              <a:defRPr sz="1575" b="1" i="0">
                <a:solidFill>
                  <a:srgbClr val="132735"/>
                </a:solidFill>
                <a:latin typeface="DejaVu Sans"/>
                <a:ea typeface="DejaVu Sans"/>
                <a:cs typeface="DejaVu Sans"/>
              </a:defRPr>
            </a:pPr>
            <a:r>
              <a:rPr sz="1575" b="1" i="0">
                <a:solidFill>
                  <a:srgbClr val="132735"/>
                </a:solidFill>
                <a:latin typeface="DejaVu Sans"/>
                <a:ea typeface="DejaVu Sans"/>
                <a:cs typeface="DejaVu Sans"/>
              </a:rPr>
              <a:t>BO uses a probability model to decide where the next evaluation is most valuable.</a:t>
            </a:r>
          </a:p>
        </p:txBody>
      </p:sp>
      <p:graphicFrame>
        <p:nvGraphicFramePr>
          <p:cNvPr id="8" name="Chart">
            <a:extLst xmlns:a="http://schemas.openxmlformats.org/drawingml/2006/main">
              <a:ext uri="{FF2B5EF4-FFF2-40B4-BE49-F238E27FC236}">
                <a16:creationId xmlns:a16="http://schemas.microsoft.com/office/drawing/2014/main" id="{0F0AA035-D5B3-4823-905F-79332FFEABDB}"/>
              </a:ext>
            </a:extLst>
          </p:cNvPr>
          <p:cNvGraphicFramePr/>
          <p:nvPr/>
        </p:nvGraphicFramePr>
        <p:xfrm>
          <a:off xmlns:a="http://schemas.openxmlformats.org/drawingml/2006/main" x="4667250" y="1504950"/>
          <a:ext xmlns:a="http://schemas.openxmlformats.org/drawingml/2006/main" cx="6762750" cy="4095750"/>
        </p:xfrm>
        <a:graphic xmlns:a="http://schemas.openxmlformats.org/drawingml/2006/main">
          <a:graphicData uri="http://schemas.openxmlformats.org/drawingml/2006/chart">
            <c:chart xmlns:r="http://schemas.openxmlformats.org/officeDocument/2006/relationships" xmlns:c="http://schemas.openxmlformats.org/drawingml/2006/chart" r:id="R8c82009dfe644db9"/>
          </a:graphicData>
        </a:graphic>
      </p:graphicFrame>
      <p:sp>
        <p:nvSpPr>
          <p:cNvPr id="9" name="">
            <a:extLst xmlns:a="http://schemas.openxmlformats.org/drawingml/2006/main">
              <a:ext uri="{FF2B5EF4-FFF2-40B4-BE49-F238E27FC236}">
                <a16:creationId xmlns:a16="http://schemas.microsoft.com/office/drawing/2014/main" id="{CDC52676-E739-468C-B8FB-644221D6D95C}"/>
              </a:ext>
            </a:extLst>
          </p:cNvPr>
          <p:cNvSpPr>
            <a:spLocks xmlns:a="http://schemas.openxmlformats.org/drawingml/2006/main" noGrp="1"/>
          </p:cNvSpPr>
          <p:nvPr/>
        </p:nvSpPr>
        <p:spPr>
          <a:xfrm xmlns:a="http://schemas.openxmlformats.org/drawingml/2006/main">
            <a:off x="5286375" y="5715000"/>
            <a:ext cx="547687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200" b="1" i="0">
                <a:solidFill>
                  <a:srgbClr val="238A7A"/>
                </a:solidFill>
                <a:latin typeface="DejaVu Sans"/>
                <a:ea typeface="DejaVu Sans"/>
                <a:cs typeface="DejaVu Sans"/>
              </a:defRPr>
            </a:defPPr>
          </a:lstStyle>
          <a:p xmlns:a="http://schemas.openxmlformats.org/drawingml/2006/main">
            <a:pPr algn="ctr">
              <a:defRPr sz="1200" b="1" i="0">
                <a:solidFill>
                  <a:srgbClr val="238A7A"/>
                </a:solidFill>
                <a:latin typeface="DejaVu Sans"/>
                <a:ea typeface="DejaVu Sans"/>
                <a:cs typeface="DejaVu Sans"/>
              </a:defRPr>
            </a:pPr>
            <a:r>
              <a:rPr sz="1200" b="1" i="0">
                <a:solidFill>
                  <a:srgbClr val="238A7A"/>
                </a:solidFill>
                <a:latin typeface="DejaVu Sans"/>
                <a:ea typeface="DejaVu Sans"/>
                <a:cs typeface="DejaVu Sans"/>
              </a:rPr>
              <a:t>The true curve is shown only for explanation. BO observes only the values it evaluates.</a:t>
            </a:r>
          </a:p>
        </p:txBody>
      </p:sp>
      <p:sp>
        <p:nvSpPr>
          <p:cNvPr id="10" name="">
            <a:extLst xmlns:a="http://schemas.openxmlformats.org/drawingml/2006/main">
              <a:ext uri="{FF2B5EF4-FFF2-40B4-BE49-F238E27FC236}">
                <a16:creationId xmlns:a16="http://schemas.microsoft.com/office/drawing/2014/main" id="{6421B94D-57E4-49BE-9A35-1AB206014631}"/>
              </a:ext>
            </a:extLst>
          </p:cNvPr>
          <p:cNvSpPr>
            <a:spLocks xmlns:a="http://schemas.openxmlformats.org/drawingml/2006/main" noGrp="1"/>
          </p:cNvSpPr>
          <p:nvPr/>
        </p:nvSpPr>
        <p:spPr>
          <a:xfrm xmlns:a="http://schemas.openxmlformats.org/drawingml/2006/main">
            <a:off x="685800" y="6477000"/>
            <a:ext cx="9810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675" b="0" i="0">
                <a:solidFill>
                  <a:srgbClr val="71808A"/>
                </a:solidFill>
                <a:latin typeface="DejaVu Sans"/>
                <a:ea typeface="DejaVu Sans"/>
                <a:cs typeface="DejaVu Sans"/>
              </a:defRPr>
            </a:defPPr>
          </a:lstStyle>
          <a:p xmlns:a="http://schemas.openxmlformats.org/drawingml/2006/main">
            <a:pPr algn="l">
              <a:defRPr sz="675" b="0" i="0">
                <a:solidFill>
                  <a:srgbClr val="71808A"/>
                </a:solidFill>
                <a:latin typeface="DejaVu Sans"/>
                <a:ea typeface="DejaVu Sans"/>
                <a:cs typeface="DejaVu Sans"/>
              </a:defRPr>
            </a:pPr>
            <a:r>
              <a:rPr sz="675" b="0" i="0">
                <a:solidFill>
                  <a:srgbClr val="71808A"/>
                </a:solidFill>
                <a:latin typeface="DejaVu Sans"/>
                <a:ea typeface="DejaVu Sans"/>
                <a:cs typeface="DejaVu Sans"/>
              </a:rPr>
              <a:t>Frazier 2018; project BO primer</a:t>
            </a:r>
          </a:p>
        </p:txBody>
      </p:sp>
      <p:sp>
        <p:nvSpPr>
          <p:cNvPr id="11" name="">
            <a:extLst xmlns:a="http://schemas.openxmlformats.org/drawingml/2006/main">
              <a:ext uri="{FF2B5EF4-FFF2-40B4-BE49-F238E27FC236}">
                <a16:creationId xmlns:a16="http://schemas.microsoft.com/office/drawing/2014/main" id="{6FCF1EB6-AC62-4DDF-9C54-C191151378C9}"/>
              </a:ext>
            </a:extLst>
          </p:cNvPr>
          <p:cNvSpPr>
            <a:spLocks xmlns:a="http://schemas.openxmlformats.org/drawingml/2006/main" noGrp="1"/>
          </p:cNvSpPr>
          <p:nvPr/>
        </p:nvSpPr>
        <p:spPr>
          <a:xfrm xmlns:a="http://schemas.openxmlformats.org/drawingml/2006/main">
            <a:off x="11001375" y="6429375"/>
            <a:ext cx="495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825" b="1" i="0">
                <a:solidFill>
                  <a:srgbClr val="71808A"/>
                </a:solidFill>
                <a:latin typeface="DejaVu Sans"/>
                <a:ea typeface="DejaVu Sans"/>
                <a:cs typeface="DejaVu Sans"/>
              </a:defRPr>
            </a:defPPr>
          </a:lstStyle>
          <a:p xmlns:a="http://schemas.openxmlformats.org/drawingml/2006/main">
            <a:pPr algn="r">
              <a:defRPr sz="825" b="1" i="0">
                <a:solidFill>
                  <a:srgbClr val="71808A"/>
                </a:solidFill>
                <a:latin typeface="DejaVu Sans"/>
                <a:ea typeface="DejaVu Sans"/>
                <a:cs typeface="DejaVu Sans"/>
              </a:defRPr>
            </a:pPr>
            <a:r>
              <a:rPr sz="825" b="1" i="0">
                <a:solidFill>
                  <a:srgbClr val="71808A"/>
                </a:solidFill>
                <a:latin typeface="DejaVu Sans"/>
                <a:ea typeface="DejaVu Sans"/>
                <a:cs typeface="DejaVu Sans"/>
              </a:rPr>
              <a:t>01</a:t>
            </a:r>
          </a:p>
        </p:txBody>
      </p:sp>
    </p:spTree>
    <p:extLst>
      <p:ext uri="{BB962C8B-B14F-4D97-AF65-F5344CB8AC3E}">
        <p14:creationId xmlns:p14="http://schemas.microsoft.com/office/powerpoint/2010/main" val="116812949"/>
      </p:ext>
    </p:extLst>
  </p:cSld>
</p:sld>
</file>

<file path=ppt/slides/slide2.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17" name="slide-title">
            <a:extLst xmlns:a="http://schemas.openxmlformats.org/drawingml/2006/main">
              <a:ext uri="{FF2B5EF4-FFF2-40B4-BE49-F238E27FC236}">
                <a16:creationId xmlns:a16="http://schemas.microsoft.com/office/drawing/2014/main" id="{9A656538-9BF0-44A0-85EF-2EC388F6378C}"/>
              </a:ext>
            </a:extLst>
          </p:cNvPr>
          <p:cNvSpPr>
            <a:spLocks xmlns:a="http://schemas.openxmlformats.org/drawingml/2006/main" noGrp="1"/>
          </p:cNvSpPr>
          <p:nvPr/>
        </p:nvSpPr>
        <p:spPr>
          <a:xfrm xmlns:a="http://schemas.openxmlformats.org/drawingml/2006/main">
            <a:off x="685800" y="419100"/>
            <a:ext cx="10382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550" b="1" i="0">
                <a:solidFill>
                  <a:srgbClr val="0B1F33"/>
                </a:solidFill>
                <a:latin typeface="DejaVu Sans"/>
                <a:ea typeface="DejaVu Sans"/>
                <a:cs typeface="DejaVu Sans"/>
              </a:defRPr>
            </a:defPPr>
          </a:lstStyle>
          <a:p xmlns:a="http://schemas.openxmlformats.org/drawingml/2006/main">
            <a:pPr algn="l">
              <a:defRPr sz="2550" b="1" i="0">
                <a:solidFill>
                  <a:srgbClr val="0B1F33"/>
                </a:solidFill>
                <a:latin typeface="DejaVu Sans"/>
                <a:ea typeface="DejaVu Sans"/>
                <a:cs typeface="DejaVu Sans"/>
              </a:defRPr>
            </a:pPr>
            <a:r>
              <a:rPr sz="2550" b="1" i="0">
                <a:solidFill>
                  <a:srgbClr val="0B1F33"/>
                </a:solidFill>
                <a:latin typeface="DejaVu Sans"/>
                <a:ea typeface="DejaVu Sans"/>
                <a:cs typeface="DejaVu Sans"/>
              </a:rPr>
              <a:t>Project goal and research pain point</a:t>
            </a:r>
          </a:p>
        </p:txBody>
      </p:sp>
      <p:sp>
        <p:nvSpPr>
          <p:cNvPr id="2" name="slide-subtitle">
            <a:extLst xmlns:a="http://schemas.openxmlformats.org/drawingml/2006/main">
              <a:ext uri="{FF2B5EF4-FFF2-40B4-BE49-F238E27FC236}">
                <a16:creationId xmlns:a16="http://schemas.microsoft.com/office/drawing/2014/main" id="{9D494781-748B-477B-8197-F2B10E720C5F}"/>
              </a:ext>
            </a:extLst>
          </p:cNvPr>
          <p:cNvSpPr>
            <a:spLocks xmlns:a="http://schemas.openxmlformats.org/drawingml/2006/main" noGrp="1"/>
          </p:cNvSpPr>
          <p:nvPr/>
        </p:nvSpPr>
        <p:spPr>
          <a:xfrm xmlns:a="http://schemas.openxmlformats.org/drawingml/2006/main">
            <a:off x="704850" y="990600"/>
            <a:ext cx="1028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275" b="0" i="0">
                <a:solidFill>
                  <a:srgbClr val="5E6A72"/>
                </a:solidFill>
                <a:latin typeface="DejaVu Sans"/>
                <a:ea typeface="DejaVu Sans"/>
                <a:cs typeface="DejaVu Sans"/>
              </a:defRPr>
            </a:defPPr>
          </a:lstStyle>
          <a:p xmlns:a="http://schemas.openxmlformats.org/drawingml/2006/main">
            <a:pPr algn="l">
              <a:defRPr sz="1275" b="0" i="0">
                <a:solidFill>
                  <a:srgbClr val="5E6A72"/>
                </a:solidFill>
                <a:latin typeface="DejaVu Sans"/>
                <a:ea typeface="DejaVu Sans"/>
                <a:cs typeface="DejaVu Sans"/>
              </a:defRPr>
            </a:pPr>
            <a:r>
              <a:rPr sz="1275" b="0" i="0">
                <a:solidFill>
                  <a:srgbClr val="5E6A72"/>
                </a:solidFill>
                <a:latin typeface="DejaVu Sans"/>
                <a:ea typeface="DejaVu Sans"/>
                <a:cs typeface="DejaVu Sans"/>
              </a:rPr>
              <a:t>When should BO stop without becoming confidently wrong?</a:t>
            </a:r>
          </a:p>
        </p:txBody>
      </p:sp>
      <p:sp>
        <p:nvSpPr>
          <p:cNvPr id="3" name="">
            <a:extLst xmlns:a="http://schemas.openxmlformats.org/drawingml/2006/main">
              <a:ext uri="{FF2B5EF4-FFF2-40B4-BE49-F238E27FC236}">
                <a16:creationId xmlns:a16="http://schemas.microsoft.com/office/drawing/2014/main" id="{11B07D73-45D6-4E82-8226-879A47FB9236}"/>
              </a:ext>
            </a:extLst>
          </p:cNvPr>
          <p:cNvSpPr>
            <a:spLocks xmlns:a="http://schemas.openxmlformats.org/drawingml/2006/main" noGrp="1"/>
          </p:cNvSpPr>
          <p:nvPr/>
        </p:nvSpPr>
        <p:spPr>
          <a:xfrm xmlns:a="http://schemas.openxmlformats.org/drawingml/2006/main">
            <a:off x="723900" y="1466850"/>
            <a:ext cx="209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125" b="1" i="0">
                <a:solidFill>
                  <a:srgbClr val="238A7A"/>
                </a:solidFill>
                <a:latin typeface="DejaVu Sans"/>
                <a:ea typeface="DejaVu Sans"/>
                <a:cs typeface="DejaVu Sans"/>
              </a:defRPr>
            </a:defPPr>
          </a:lstStyle>
          <a:p xmlns:a="http://schemas.openxmlformats.org/drawingml/2006/main">
            <a:pPr algn="l">
              <a:defRPr sz="1125" b="1" i="0">
                <a:solidFill>
                  <a:srgbClr val="238A7A"/>
                </a:solidFill>
                <a:latin typeface="DejaVu Sans"/>
                <a:ea typeface="DejaVu Sans"/>
                <a:cs typeface="DejaVu Sans"/>
              </a:defRPr>
            </a:pPr>
            <a:r>
              <a:rPr sz="1125" b="1" i="0">
                <a:solidFill>
                  <a:srgbClr val="238A7A"/>
                </a:solidFill>
                <a:latin typeface="DejaVu Sans"/>
                <a:ea typeface="DejaVu Sans"/>
                <a:cs typeface="DejaVu Sans"/>
              </a:rPr>
              <a:t>Central question</a:t>
            </a:r>
          </a:p>
        </p:txBody>
      </p:sp>
      <p:sp>
        <p:nvSpPr>
          <p:cNvPr id="4" name="">
            <a:extLst xmlns:a="http://schemas.openxmlformats.org/drawingml/2006/main">
              <a:ext uri="{FF2B5EF4-FFF2-40B4-BE49-F238E27FC236}">
                <a16:creationId xmlns:a16="http://schemas.microsoft.com/office/drawing/2014/main" id="{B760AFFC-53C1-4DBC-B626-F6DF46E8E0C9}"/>
              </a:ext>
            </a:extLst>
          </p:cNvPr>
          <p:cNvSpPr>
            <a:spLocks xmlns:a="http://schemas.openxmlformats.org/drawingml/2006/main" noGrp="1"/>
          </p:cNvSpPr>
          <p:nvPr/>
        </p:nvSpPr>
        <p:spPr>
          <a:xfrm xmlns:a="http://schemas.openxmlformats.org/drawingml/2006/main">
            <a:off x="742950" y="182880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2175" b="1" i="0">
                <a:solidFill>
                  <a:srgbClr val="0B1F33"/>
                </a:solidFill>
                <a:latin typeface="DejaVu Sans"/>
                <a:ea typeface="DejaVu Sans"/>
                <a:cs typeface="DejaVu Sans"/>
              </a:defRPr>
            </a:defPPr>
          </a:lstStyle>
          <a:p xmlns:a="http://schemas.openxmlformats.org/drawingml/2006/main">
            <a:pPr algn="ctr">
              <a:defRPr sz="2175" b="1" i="0">
                <a:solidFill>
                  <a:srgbClr val="0B1F33"/>
                </a:solidFill>
                <a:latin typeface="DejaVu Sans"/>
                <a:ea typeface="DejaVu Sans"/>
                <a:cs typeface="DejaVu Sans"/>
              </a:defRPr>
            </a:pPr>
            <a:r>
              <a:rPr sz="2175" b="1" i="0">
                <a:solidFill>
                  <a:srgbClr val="0B1F33"/>
                </a:solidFill>
                <a:latin typeface="DejaVu Sans"/>
                <a:ea typeface="DejaVu Sans"/>
                <a:cs typeface="DejaVu Sans"/>
              </a:rPr>
              <a:t>Which stopping rule saves experiments while keeping the risk of an unacceptable recommendation below a stated level?</a:t>
            </a:r>
          </a:p>
        </p:txBody>
      </p:sp>
      <p:sp>
        <p:nvSpPr>
          <p:cNvPr id="5" name="">
            <a:extLst xmlns:a="http://schemas.openxmlformats.org/drawingml/2006/main">
              <a:ext uri="{FF2B5EF4-FFF2-40B4-BE49-F238E27FC236}">
                <a16:creationId xmlns:a16="http://schemas.microsoft.com/office/drawing/2014/main" id="{7B063B70-6774-476C-8CAE-E3F5DCDBCEA8}"/>
              </a:ext>
            </a:extLst>
          </p:cNvPr>
          <p:cNvSpPr>
            <a:spLocks xmlns:a="http://schemas.openxmlformats.org/drawingml/2006/main" noGrp="1"/>
          </p:cNvSpPr>
          <p:nvPr/>
        </p:nvSpPr>
        <p:spPr>
          <a:xfrm xmlns:a="http://schemas.openxmlformats.org/drawingml/2006/main">
            <a:off x="1000125" y="3114675"/>
            <a:ext cx="2476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875" b="1" i="0">
                <a:solidFill>
                  <a:srgbClr val="9B4F18"/>
                </a:solidFill>
                <a:latin typeface="DejaVu Sans"/>
                <a:ea typeface="DejaVu Sans"/>
                <a:cs typeface="DejaVu Sans"/>
              </a:defRPr>
            </a:defPPr>
          </a:lstStyle>
          <a:p xmlns:a="http://schemas.openxmlformats.org/drawingml/2006/main">
            <a:pPr algn="ctr">
              <a:defRPr sz="1875" b="1" i="0">
                <a:solidFill>
                  <a:srgbClr val="9B4F18"/>
                </a:solidFill>
                <a:latin typeface="DejaVu Sans"/>
                <a:ea typeface="DejaVu Sans"/>
                <a:cs typeface="DejaVu Sans"/>
              </a:defRPr>
            </a:pPr>
            <a:r>
              <a:rPr sz="1875" b="1" i="0">
                <a:solidFill>
                  <a:srgbClr val="9B4F18"/>
                </a:solidFill>
                <a:latin typeface="DejaVu Sans"/>
                <a:ea typeface="DejaVu Sans"/>
                <a:cs typeface="DejaVu Sans"/>
              </a:rPr>
              <a:t>Stop too late</a:t>
            </a:r>
          </a:p>
        </p:txBody>
      </p:sp>
      <p:sp>
        <p:nvSpPr>
          <p:cNvPr id="6" name="">
            <a:extLst xmlns:a="http://schemas.openxmlformats.org/drawingml/2006/main">
              <a:ext uri="{FF2B5EF4-FFF2-40B4-BE49-F238E27FC236}">
                <a16:creationId xmlns:a16="http://schemas.microsoft.com/office/drawing/2014/main" id="{7EB66C2A-864E-4B22-9388-1C775C6748DB}"/>
              </a:ext>
            </a:extLst>
          </p:cNvPr>
          <p:cNvSpPr>
            <a:spLocks xmlns:a="http://schemas.openxmlformats.org/drawingml/2006/main" noGrp="1"/>
          </p:cNvSpPr>
          <p:nvPr/>
        </p:nvSpPr>
        <p:spPr>
          <a:xfrm xmlns:a="http://schemas.openxmlformats.org/drawingml/2006/main">
            <a:off x="914400" y="3638550"/>
            <a:ext cx="2667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350" b="0" i="0">
                <a:solidFill>
                  <a:srgbClr val="132735"/>
                </a:solidFill>
                <a:latin typeface="DejaVu Sans"/>
                <a:ea typeface="DejaVu Sans"/>
                <a:cs typeface="DejaVu Sans"/>
              </a:defRPr>
            </a:defPPr>
          </a:lstStyle>
          <a:p xmlns:a="http://schemas.openxmlformats.org/drawingml/2006/main">
            <a:pPr algn="ctr">
              <a:defRPr sz="1350" b="0" i="0">
                <a:solidFill>
                  <a:srgbClr val="132735"/>
                </a:solidFill>
                <a:latin typeface="DejaVu Sans"/>
                <a:ea typeface="DejaVu Sans"/>
                <a:cs typeface="DejaVu Sans"/>
              </a:defRPr>
            </a:pPr>
            <a:r>
              <a:rPr sz="1350" b="0" i="0">
                <a:solidFill>
                  <a:srgbClr val="132735"/>
                </a:solidFill>
                <a:latin typeface="DejaVu Sans"/>
                <a:ea typeface="DejaVu Sans"/>
                <a:cs typeface="DejaVu Sans"/>
              </a:rPr>
              <a:t>We waste trials after the remaining value of information has become small.</a:t>
            </a:r>
          </a:p>
        </p:txBody>
      </p:sp>
      <p:sp>
        <p:nvSpPr>
          <p:cNvPr id="7" name="">
            <a:extLst xmlns:a="http://schemas.openxmlformats.org/drawingml/2006/main">
              <a:ext uri="{FF2B5EF4-FFF2-40B4-BE49-F238E27FC236}">
                <a16:creationId xmlns:a16="http://schemas.microsoft.com/office/drawing/2014/main" id="{53AC71E4-6E97-4706-9BF9-94E6A05D8A3B}"/>
              </a:ext>
            </a:extLst>
          </p:cNvPr>
          <p:cNvSpPr>
            <a:spLocks xmlns:a="http://schemas.openxmlformats.org/drawingml/2006/main" noGrp="1"/>
          </p:cNvSpPr>
          <p:nvPr/>
        </p:nvSpPr>
        <p:spPr>
          <a:xfrm xmlns:a="http://schemas.openxmlformats.org/drawingml/2006/main">
            <a:off x="3905250" y="3067050"/>
            <a:ext cx="0" cy="1676400"/>
          </a:xfrm>
          <a:prstGeom xmlns:a="http://schemas.openxmlformats.org/drawingml/2006/main" prst="line">
            <a:avLst/>
          </a:prstGeom>
          <a:noFill xmlns:a="http://schemas.openxmlformats.org/drawingml/2006/main"/>
          <a:ln xmlns:a="http://schemas.openxmlformats.org/drawingml/2006/main" w="19050">
            <a:solidFill>
              <a:srgbClr val="CAD4DA"/>
            </a:solidFill>
            <a:prstDash val="solid"/>
          </a:ln>
        </p:spPr>
      </p:sp>
      <p:sp>
        <p:nvSpPr>
          <p:cNvPr id="8" name="">
            <a:extLst xmlns:a="http://schemas.openxmlformats.org/drawingml/2006/main">
              <a:ext uri="{FF2B5EF4-FFF2-40B4-BE49-F238E27FC236}">
                <a16:creationId xmlns:a16="http://schemas.microsoft.com/office/drawing/2014/main" id="{CC83C979-D1B9-4BEC-BB13-F73093ED29CB}"/>
              </a:ext>
            </a:extLst>
          </p:cNvPr>
          <p:cNvSpPr>
            <a:spLocks xmlns:a="http://schemas.openxmlformats.org/drawingml/2006/main" noGrp="1"/>
          </p:cNvSpPr>
          <p:nvPr/>
        </p:nvSpPr>
        <p:spPr>
          <a:xfrm xmlns:a="http://schemas.openxmlformats.org/drawingml/2006/main">
            <a:off x="4810125" y="3114675"/>
            <a:ext cx="2476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875" b="1" i="0">
                <a:solidFill>
                  <a:srgbClr val="9D3424"/>
                </a:solidFill>
                <a:latin typeface="DejaVu Sans"/>
                <a:ea typeface="DejaVu Sans"/>
                <a:cs typeface="DejaVu Sans"/>
              </a:defRPr>
            </a:defPPr>
          </a:lstStyle>
          <a:p xmlns:a="http://schemas.openxmlformats.org/drawingml/2006/main">
            <a:pPr algn="ctr">
              <a:defRPr sz="1875" b="1" i="0">
                <a:solidFill>
                  <a:srgbClr val="9D3424"/>
                </a:solidFill>
                <a:latin typeface="DejaVu Sans"/>
                <a:ea typeface="DejaVu Sans"/>
                <a:cs typeface="DejaVu Sans"/>
              </a:defRPr>
            </a:pPr>
            <a:r>
              <a:rPr sz="1875" b="1" i="0">
                <a:solidFill>
                  <a:srgbClr val="9D3424"/>
                </a:solidFill>
                <a:latin typeface="DejaVu Sans"/>
                <a:ea typeface="DejaVu Sans"/>
                <a:cs typeface="DejaVu Sans"/>
              </a:rPr>
              <a:t>Stop too early</a:t>
            </a:r>
          </a:p>
        </p:txBody>
      </p:sp>
      <p:sp>
        <p:nvSpPr>
          <p:cNvPr id="9" name="">
            <a:extLst xmlns:a="http://schemas.openxmlformats.org/drawingml/2006/main">
              <a:ext uri="{FF2B5EF4-FFF2-40B4-BE49-F238E27FC236}">
                <a16:creationId xmlns:a16="http://schemas.microsoft.com/office/drawing/2014/main" id="{C74E2E71-01DE-464B-AF25-5309088EC889}"/>
              </a:ext>
            </a:extLst>
          </p:cNvPr>
          <p:cNvSpPr>
            <a:spLocks xmlns:a="http://schemas.openxmlformats.org/drawingml/2006/main" noGrp="1"/>
          </p:cNvSpPr>
          <p:nvPr/>
        </p:nvSpPr>
        <p:spPr>
          <a:xfrm xmlns:a="http://schemas.openxmlformats.org/drawingml/2006/main">
            <a:off x="4705350" y="3638550"/>
            <a:ext cx="26860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350" b="0" i="0">
                <a:solidFill>
                  <a:srgbClr val="132735"/>
                </a:solidFill>
                <a:latin typeface="DejaVu Sans"/>
                <a:ea typeface="DejaVu Sans"/>
                <a:cs typeface="DejaVu Sans"/>
              </a:defRPr>
            </a:defPPr>
          </a:lstStyle>
          <a:p xmlns:a="http://schemas.openxmlformats.org/drawingml/2006/main">
            <a:pPr algn="ctr">
              <a:defRPr sz="1350" b="0" i="0">
                <a:solidFill>
                  <a:srgbClr val="132735"/>
                </a:solidFill>
                <a:latin typeface="DejaVu Sans"/>
                <a:ea typeface="DejaVu Sans"/>
                <a:cs typeface="DejaVu Sans"/>
              </a:defRPr>
            </a:pPr>
            <a:r>
              <a:rPr sz="1350" b="0" i="0">
                <a:solidFill>
                  <a:srgbClr val="132735"/>
                </a:solidFill>
                <a:latin typeface="DejaVu Sans"/>
                <a:ea typeface="DejaVu Sans"/>
                <a:cs typeface="DejaVu Sans"/>
              </a:rPr>
              <a:t>A narrow or distant optimum may remain unseen even when the fitted GP reports low uncertainty.</a:t>
            </a:r>
          </a:p>
        </p:txBody>
      </p:sp>
      <p:sp>
        <p:nvSpPr>
          <p:cNvPr id="10" name="">
            <a:extLst xmlns:a="http://schemas.openxmlformats.org/drawingml/2006/main">
              <a:ext uri="{FF2B5EF4-FFF2-40B4-BE49-F238E27FC236}">
                <a16:creationId xmlns:a16="http://schemas.microsoft.com/office/drawing/2014/main" id="{469BD328-256C-4686-B2B9-FE7EF4037B25}"/>
              </a:ext>
            </a:extLst>
          </p:cNvPr>
          <p:cNvSpPr>
            <a:spLocks xmlns:a="http://schemas.openxmlformats.org/drawingml/2006/main" noGrp="1"/>
          </p:cNvSpPr>
          <p:nvPr/>
        </p:nvSpPr>
        <p:spPr>
          <a:xfrm xmlns:a="http://schemas.openxmlformats.org/drawingml/2006/main">
            <a:off x="7762875" y="3067050"/>
            <a:ext cx="0" cy="1676400"/>
          </a:xfrm>
          <a:prstGeom xmlns:a="http://schemas.openxmlformats.org/drawingml/2006/main" prst="line">
            <a:avLst/>
          </a:prstGeom>
          <a:noFill xmlns:a="http://schemas.openxmlformats.org/drawingml/2006/main"/>
          <a:ln xmlns:a="http://schemas.openxmlformats.org/drawingml/2006/main" w="19050">
            <a:solidFill>
              <a:srgbClr val="CAD4DA"/>
            </a:solidFill>
            <a:prstDash val="solid"/>
          </a:ln>
        </p:spPr>
      </p:sp>
      <p:sp>
        <p:nvSpPr>
          <p:cNvPr id="11" name="">
            <a:extLst xmlns:a="http://schemas.openxmlformats.org/drawingml/2006/main">
              <a:ext uri="{FF2B5EF4-FFF2-40B4-BE49-F238E27FC236}">
                <a16:creationId xmlns:a16="http://schemas.microsoft.com/office/drawing/2014/main" id="{646BBE76-AF14-43ED-951D-E3D504D3B15A}"/>
              </a:ext>
            </a:extLst>
          </p:cNvPr>
          <p:cNvSpPr>
            <a:spLocks xmlns:a="http://schemas.openxmlformats.org/drawingml/2006/main" noGrp="1"/>
          </p:cNvSpPr>
          <p:nvPr/>
        </p:nvSpPr>
        <p:spPr>
          <a:xfrm xmlns:a="http://schemas.openxmlformats.org/drawingml/2006/main">
            <a:off x="8686800" y="3114675"/>
            <a:ext cx="2476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875" b="1" i="0">
                <a:solidFill>
                  <a:srgbClr val="238A7A"/>
                </a:solidFill>
                <a:latin typeface="DejaVu Sans"/>
                <a:ea typeface="DejaVu Sans"/>
                <a:cs typeface="DejaVu Sans"/>
              </a:defRPr>
            </a:defPPr>
          </a:lstStyle>
          <a:p xmlns:a="http://schemas.openxmlformats.org/drawingml/2006/main">
            <a:pPr algn="ctr">
              <a:defRPr sz="1875" b="1" i="0">
                <a:solidFill>
                  <a:srgbClr val="238A7A"/>
                </a:solidFill>
                <a:latin typeface="DejaVu Sans"/>
                <a:ea typeface="DejaVu Sans"/>
                <a:cs typeface="DejaVu Sans"/>
              </a:defRPr>
            </a:pPr>
            <a:r>
              <a:rPr sz="1875" b="1" i="0">
                <a:solidFill>
                  <a:srgbClr val="238A7A"/>
                </a:solidFill>
                <a:latin typeface="DejaVu Sans"/>
                <a:ea typeface="DejaVu Sans"/>
                <a:cs typeface="DejaVu Sans"/>
              </a:rPr>
              <a:t>Project focus</a:t>
            </a:r>
          </a:p>
        </p:txBody>
      </p:sp>
      <p:sp>
        <p:nvSpPr>
          <p:cNvPr id="12" name="">
            <a:extLst xmlns:a="http://schemas.openxmlformats.org/drawingml/2006/main">
              <a:ext uri="{FF2B5EF4-FFF2-40B4-BE49-F238E27FC236}">
                <a16:creationId xmlns:a16="http://schemas.microsoft.com/office/drawing/2014/main" id="{15E7E946-8B4F-40BA-AB4A-81CB86C9DA53}"/>
              </a:ext>
            </a:extLst>
          </p:cNvPr>
          <p:cNvSpPr>
            <a:spLocks xmlns:a="http://schemas.openxmlformats.org/drawingml/2006/main" noGrp="1"/>
          </p:cNvSpPr>
          <p:nvPr/>
        </p:nvSpPr>
        <p:spPr>
          <a:xfrm xmlns:a="http://schemas.openxmlformats.org/drawingml/2006/main">
            <a:off x="8572500" y="3638550"/>
            <a:ext cx="26860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350" b="0" i="0">
                <a:solidFill>
                  <a:srgbClr val="132735"/>
                </a:solidFill>
                <a:latin typeface="DejaVu Sans"/>
                <a:ea typeface="DejaVu Sans"/>
                <a:cs typeface="DejaVu Sans"/>
              </a:defRPr>
            </a:defPPr>
          </a:lstStyle>
          <a:p xmlns:a="http://schemas.openxmlformats.org/drawingml/2006/main">
            <a:pPr algn="ctr">
              <a:defRPr sz="1350" b="0" i="0">
                <a:solidFill>
                  <a:srgbClr val="132735"/>
                </a:solidFill>
                <a:latin typeface="DejaVu Sans"/>
                <a:ea typeface="DejaVu Sans"/>
                <a:cs typeface="DejaVu Sans"/>
              </a:defRPr>
            </a:pPr>
            <a:r>
              <a:rPr sz="1350" b="0" i="0">
                <a:solidFill>
                  <a:srgbClr val="132735"/>
                </a:solidFill>
                <a:latin typeface="DejaVu Sans"/>
                <a:ea typeface="DejaVu Sans"/>
                <a:cs typeface="DejaVu Sans"/>
              </a:rPr>
              <a:t>Compare rules across objective shapes, acquisition policies, and both well-specified and misspecified GP models.</a:t>
            </a:r>
          </a:p>
        </p:txBody>
      </p:sp>
      <p:sp>
        <p:nvSpPr>
          <p:cNvPr id="13" name="">
            <a:extLst xmlns:a="http://schemas.openxmlformats.org/drawingml/2006/main">
              <a:ext uri="{FF2B5EF4-FFF2-40B4-BE49-F238E27FC236}">
                <a16:creationId xmlns:a16="http://schemas.microsoft.com/office/drawing/2014/main" id="{D1A2DB92-4962-4D8B-9089-1C1D9A1FDF07}"/>
              </a:ext>
            </a:extLst>
          </p:cNvPr>
          <p:cNvSpPr>
            <a:spLocks xmlns:a="http://schemas.openxmlformats.org/drawingml/2006/main" noGrp="1"/>
          </p:cNvSpPr>
          <p:nvPr/>
        </p:nvSpPr>
        <p:spPr>
          <a:xfrm xmlns:a="http://schemas.openxmlformats.org/drawingml/2006/main">
            <a:off x="876300" y="5124450"/>
            <a:ext cx="257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200" b="1" i="0">
                <a:solidFill>
                  <a:srgbClr val="3A6EA5"/>
                </a:solidFill>
                <a:latin typeface="DejaVu Sans"/>
                <a:ea typeface="DejaVu Sans"/>
                <a:cs typeface="DejaVu Sans"/>
              </a:defRPr>
            </a:defPPr>
          </a:lstStyle>
          <a:p xmlns:a="http://schemas.openxmlformats.org/drawingml/2006/main">
            <a:pPr algn="l">
              <a:defRPr sz="1200" b="1" i="0">
                <a:solidFill>
                  <a:srgbClr val="3A6EA5"/>
                </a:solidFill>
                <a:latin typeface="DejaVu Sans"/>
                <a:ea typeface="DejaVu Sans"/>
                <a:cs typeface="DejaVu Sans"/>
              </a:defRPr>
            </a:pPr>
            <a:r>
              <a:rPr sz="1200" b="1" i="0">
                <a:solidFill>
                  <a:srgbClr val="3A6EA5"/>
                </a:solidFill>
                <a:latin typeface="DejaVu Sans"/>
                <a:ea typeface="DejaVu Sans"/>
                <a:cs typeface="DejaVu Sans"/>
              </a:rPr>
              <a:t>What makes this project useful</a:t>
            </a:r>
          </a:p>
        </p:txBody>
      </p:sp>
      <p:sp>
        <p:nvSpPr>
          <p:cNvPr id="14" name="">
            <a:extLst xmlns:a="http://schemas.openxmlformats.org/drawingml/2006/main">
              <a:ext uri="{FF2B5EF4-FFF2-40B4-BE49-F238E27FC236}">
                <a16:creationId xmlns:a16="http://schemas.microsoft.com/office/drawing/2014/main" id="{18D51664-C96E-4E52-AF3C-63AD32DAE340}"/>
              </a:ext>
            </a:extLst>
          </p:cNvPr>
          <p:cNvSpPr>
            <a:spLocks xmlns:a="http://schemas.openxmlformats.org/drawingml/2006/main" noGrp="1"/>
          </p:cNvSpPr>
          <p:nvPr/>
        </p:nvSpPr>
        <p:spPr>
          <a:xfrm xmlns:a="http://schemas.openxmlformats.org/drawingml/2006/main">
            <a:off x="876300" y="550545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500" b="1" i="0">
                <a:solidFill>
                  <a:srgbClr val="132735"/>
                </a:solidFill>
                <a:latin typeface="DejaVu Sans"/>
                <a:ea typeface="DejaVu Sans"/>
                <a:cs typeface="DejaVu Sans"/>
              </a:defRPr>
            </a:defPPr>
          </a:lstStyle>
          <a:p xmlns:a="http://schemas.openxmlformats.org/drawingml/2006/main">
            <a:pPr algn="ctr">
              <a:defRPr sz="1500" b="1" i="0">
                <a:solidFill>
                  <a:srgbClr val="132735"/>
                </a:solidFill>
                <a:latin typeface="DejaVu Sans"/>
                <a:ea typeface="DejaVu Sans"/>
                <a:cs typeface="DejaVu Sans"/>
              </a:defRPr>
            </a:pPr>
            <a:r>
              <a:rPr sz="1500" b="1" i="0">
                <a:solidFill>
                  <a:srgbClr val="132735"/>
                </a:solidFill>
                <a:latin typeface="DejaVu Sans"/>
                <a:ea typeface="DejaVu Sans"/>
                <a:cs typeface="DejaVu Sans"/>
              </a:rPr>
              <a:t>Measure evaluation savings together with simple regret, false-stop rate, non-trigger rate, runtime, and posterior calibration. The main result should explain when a rule works and when its confidence fails.</a:t>
            </a:r>
          </a:p>
        </p:txBody>
      </p:sp>
      <p:sp>
        <p:nvSpPr>
          <p:cNvPr id="15" name="">
            <a:extLst xmlns:a="http://schemas.openxmlformats.org/drawingml/2006/main">
              <a:ext uri="{FF2B5EF4-FFF2-40B4-BE49-F238E27FC236}">
                <a16:creationId xmlns:a16="http://schemas.microsoft.com/office/drawing/2014/main" id="{5DE944B0-0C83-43EF-8F86-60357EEF11BB}"/>
              </a:ext>
            </a:extLst>
          </p:cNvPr>
          <p:cNvSpPr>
            <a:spLocks xmlns:a="http://schemas.openxmlformats.org/drawingml/2006/main" noGrp="1"/>
          </p:cNvSpPr>
          <p:nvPr/>
        </p:nvSpPr>
        <p:spPr>
          <a:xfrm xmlns:a="http://schemas.openxmlformats.org/drawingml/2006/main">
            <a:off x="685800" y="6477000"/>
            <a:ext cx="9810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675" b="0" i="0">
                <a:solidFill>
                  <a:srgbClr val="71808A"/>
                </a:solidFill>
                <a:latin typeface="DejaVu Sans"/>
                <a:ea typeface="DejaVu Sans"/>
                <a:cs typeface="DejaVu Sans"/>
              </a:defRPr>
            </a:defPPr>
          </a:lstStyle>
          <a:p xmlns:a="http://schemas.openxmlformats.org/drawingml/2006/main">
            <a:pPr algn="l">
              <a:defRPr sz="675" b="0" i="0">
                <a:solidFill>
                  <a:srgbClr val="71808A"/>
                </a:solidFill>
                <a:latin typeface="DejaVu Sans"/>
                <a:ea typeface="DejaVu Sans"/>
                <a:cs typeface="DejaVu Sans"/>
              </a:defRPr>
            </a:pPr>
            <a:r>
              <a:rPr sz="675" b="0" i="0">
                <a:solidFill>
                  <a:srgbClr val="71808A"/>
                </a:solidFill>
                <a:latin typeface="DejaVu Sans"/>
                <a:ea typeface="DejaVu Sans"/>
                <a:cs typeface="DejaVu Sans"/>
              </a:rPr>
              <a:t>Project work plan; Makarova et al. 2022; Wilson 2024</a:t>
            </a:r>
          </a:p>
        </p:txBody>
      </p:sp>
      <p:sp>
        <p:nvSpPr>
          <p:cNvPr id="16" name="">
            <a:extLst xmlns:a="http://schemas.openxmlformats.org/drawingml/2006/main">
              <a:ext uri="{FF2B5EF4-FFF2-40B4-BE49-F238E27FC236}">
                <a16:creationId xmlns:a16="http://schemas.microsoft.com/office/drawing/2014/main" id="{2817CC45-D03A-4B0D-9A96-150F2A25EF09}"/>
              </a:ext>
            </a:extLst>
          </p:cNvPr>
          <p:cNvSpPr>
            <a:spLocks xmlns:a="http://schemas.openxmlformats.org/drawingml/2006/main" noGrp="1"/>
          </p:cNvSpPr>
          <p:nvPr/>
        </p:nvSpPr>
        <p:spPr>
          <a:xfrm xmlns:a="http://schemas.openxmlformats.org/drawingml/2006/main">
            <a:off x="11001375" y="6429375"/>
            <a:ext cx="495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825" b="1" i="0">
                <a:solidFill>
                  <a:srgbClr val="71808A"/>
                </a:solidFill>
                <a:latin typeface="DejaVu Sans"/>
                <a:ea typeface="DejaVu Sans"/>
                <a:cs typeface="DejaVu Sans"/>
              </a:defRPr>
            </a:defPPr>
          </a:lstStyle>
          <a:p xmlns:a="http://schemas.openxmlformats.org/drawingml/2006/main">
            <a:pPr algn="r">
              <a:defRPr sz="825" b="1" i="0">
                <a:solidFill>
                  <a:srgbClr val="71808A"/>
                </a:solidFill>
                <a:latin typeface="DejaVu Sans"/>
                <a:ea typeface="DejaVu Sans"/>
                <a:cs typeface="DejaVu Sans"/>
              </a:defRPr>
            </a:pPr>
            <a:r>
              <a:rPr sz="825" b="1" i="0">
                <a:solidFill>
                  <a:srgbClr val="71808A"/>
                </a:solidFill>
                <a:latin typeface="DejaVu Sans"/>
                <a:ea typeface="DejaVu Sans"/>
                <a:cs typeface="DejaVu Sans"/>
              </a:rPr>
              <a:t>02</a:t>
            </a:r>
          </a:p>
        </p:txBody>
      </p:sp>
    </p:spTree>
    <p:extLst>
      <p:ext uri="{BB962C8B-B14F-4D97-AF65-F5344CB8AC3E}">
        <p14:creationId xmlns:p14="http://schemas.microsoft.com/office/powerpoint/2010/main" val="1151519920"/>
      </p:ext>
    </p:extLst>
  </p:cSld>
</p:sld>
</file>

<file path=ppt/slides/slide3.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cxnSp>
        <p:nvCxnSpPr>
          <p:cNvPr id="20" name="">
            <a:extLst xmlns:a="http://schemas.openxmlformats.org/drawingml/2006/main">
              <a:ext uri="{FF2B5EF4-FFF2-40B4-BE49-F238E27FC236}">
                <a16:creationId xmlns:a16="http://schemas.microsoft.com/office/drawing/2014/main" id="{2CD6978E-B70D-4CB3-AC4C-1A1E31899B6A}"/>
              </a:ext>
            </a:extLst>
          </p:cNvPr>
          <p:cNvCxnSpPr>
            <a:stCxn xmlns:a="http://schemas.openxmlformats.org/drawingml/2006/main" id="15" idx="3"/>
            <a:endCxn xmlns:a="http://schemas.openxmlformats.org/drawingml/2006/main" id="18" idx="1"/>
          </p:cNvCxnSpPr>
          <p:nvPr/>
        </p:nvCxnSpPr>
        <p:spPr>
          <a:xfrm xmlns:a="http://schemas.openxmlformats.org/drawingml/2006/main">
            <a:off x="9582150" y="5648325"/>
            <a:ext cx="342900" cy="0"/>
          </a:xfrm>
          <a:prstGeom xmlns:a="http://schemas.openxmlformats.org/drawingml/2006/main" prst="straightConnector1">
            <a:avLst/>
          </a:prstGeom>
          <a:ln xmlns:a="http://schemas.openxmlformats.org/drawingml/2006/main" w="14288">
            <a:solidFill>
              <a:srgbClr val="3A6EA5"/>
            </a:solidFill>
            <a:prstDash val="solid"/>
            <a:tailEnd type="arrow" w="sm" len="sm"/>
          </a:ln>
        </p:spPr>
      </p:cxnSp>
      <p:cxnSp>
        <p:nvCxnSpPr>
          <p:cNvPr id="17" name="">
            <a:extLst xmlns:a="http://schemas.openxmlformats.org/drawingml/2006/main">
              <a:ext uri="{FF2B5EF4-FFF2-40B4-BE49-F238E27FC236}">
                <a16:creationId xmlns:a16="http://schemas.microsoft.com/office/drawing/2014/main" id="{4207DC5B-98C0-40C3-A896-411C648E12E7}"/>
              </a:ext>
            </a:extLst>
          </p:cNvPr>
          <p:cNvCxnSpPr>
            <a:stCxn xmlns:a="http://schemas.openxmlformats.org/drawingml/2006/main" id="12" idx="3"/>
            <a:endCxn xmlns:a="http://schemas.openxmlformats.org/drawingml/2006/main" id="15" idx="1"/>
          </p:cNvCxnSpPr>
          <p:nvPr/>
        </p:nvCxnSpPr>
        <p:spPr>
          <a:xfrm xmlns:a="http://schemas.openxmlformats.org/drawingml/2006/main">
            <a:off x="7734300" y="5648325"/>
            <a:ext cx="342900" cy="0"/>
          </a:xfrm>
          <a:prstGeom xmlns:a="http://schemas.openxmlformats.org/drawingml/2006/main" prst="straightConnector1">
            <a:avLst/>
          </a:prstGeom>
          <a:ln xmlns:a="http://schemas.openxmlformats.org/drawingml/2006/main" w="14288">
            <a:solidFill>
              <a:srgbClr val="3A6EA5"/>
            </a:solidFill>
            <a:prstDash val="solid"/>
            <a:tailEnd type="arrow" w="sm" len="sm"/>
          </a:ln>
        </p:spPr>
      </p:cxnSp>
      <p:cxnSp>
        <p:nvCxnSpPr>
          <p:cNvPr id="14" name="">
            <a:extLst xmlns:a="http://schemas.openxmlformats.org/drawingml/2006/main">
              <a:ext uri="{FF2B5EF4-FFF2-40B4-BE49-F238E27FC236}">
                <a16:creationId xmlns:a16="http://schemas.microsoft.com/office/drawing/2014/main" id="{4EA88284-30B1-42DD-9EE5-6A5121B36CF6}"/>
              </a:ext>
            </a:extLst>
          </p:cNvPr>
          <p:cNvCxnSpPr>
            <a:stCxn xmlns:a="http://schemas.openxmlformats.org/drawingml/2006/main" id="9" idx="3"/>
            <a:endCxn xmlns:a="http://schemas.openxmlformats.org/drawingml/2006/main" id="12" idx="1"/>
          </p:cNvCxnSpPr>
          <p:nvPr/>
        </p:nvCxnSpPr>
        <p:spPr>
          <a:xfrm xmlns:a="http://schemas.openxmlformats.org/drawingml/2006/main">
            <a:off x="5886450" y="5648325"/>
            <a:ext cx="342900" cy="0"/>
          </a:xfrm>
          <a:prstGeom xmlns:a="http://schemas.openxmlformats.org/drawingml/2006/main" prst="straightConnector1">
            <a:avLst/>
          </a:prstGeom>
          <a:ln xmlns:a="http://schemas.openxmlformats.org/drawingml/2006/main" w="14288">
            <a:solidFill>
              <a:srgbClr val="3A6EA5"/>
            </a:solidFill>
            <a:prstDash val="solid"/>
            <a:tailEnd type="arrow" w="sm" len="sm"/>
          </a:ln>
        </p:spPr>
      </p:cxnSp>
      <p:cxnSp>
        <p:nvCxnSpPr>
          <p:cNvPr id="11" name="">
            <a:extLst xmlns:a="http://schemas.openxmlformats.org/drawingml/2006/main">
              <a:ext uri="{FF2B5EF4-FFF2-40B4-BE49-F238E27FC236}">
                <a16:creationId xmlns:a16="http://schemas.microsoft.com/office/drawing/2014/main" id="{31F36576-2826-4090-AD32-57394A5A800F}"/>
              </a:ext>
            </a:extLst>
          </p:cNvPr>
          <p:cNvCxnSpPr>
            <a:stCxn xmlns:a="http://schemas.openxmlformats.org/drawingml/2006/main" id="6" idx="3"/>
            <a:endCxn xmlns:a="http://schemas.openxmlformats.org/drawingml/2006/main" id="9" idx="1"/>
          </p:cNvCxnSpPr>
          <p:nvPr/>
        </p:nvCxnSpPr>
        <p:spPr>
          <a:xfrm xmlns:a="http://schemas.openxmlformats.org/drawingml/2006/main">
            <a:off x="4038600" y="5648325"/>
            <a:ext cx="342900" cy="0"/>
          </a:xfrm>
          <a:prstGeom xmlns:a="http://schemas.openxmlformats.org/drawingml/2006/main" prst="straightConnector1">
            <a:avLst/>
          </a:prstGeom>
          <a:ln xmlns:a="http://schemas.openxmlformats.org/drawingml/2006/main" w="14288">
            <a:solidFill>
              <a:srgbClr val="3A6EA5"/>
            </a:solidFill>
            <a:prstDash val="solid"/>
            <a:tailEnd type="arrow" w="sm" len="sm"/>
          </a:ln>
        </p:spPr>
      </p:cxnSp>
      <p:cxnSp>
        <p:nvCxnSpPr>
          <p:cNvPr id="8" name="">
            <a:extLst xmlns:a="http://schemas.openxmlformats.org/drawingml/2006/main">
              <a:ext uri="{FF2B5EF4-FFF2-40B4-BE49-F238E27FC236}">
                <a16:creationId xmlns:a16="http://schemas.microsoft.com/office/drawing/2014/main" id="{01E0DC70-606B-4B0B-A1BC-7D7A37DC2E29}"/>
              </a:ext>
            </a:extLst>
          </p:cNvPr>
          <p:cNvCxnSpPr>
            <a:stCxn xmlns:a="http://schemas.openxmlformats.org/drawingml/2006/main" id="4" idx="3"/>
            <a:endCxn xmlns:a="http://schemas.openxmlformats.org/drawingml/2006/main" id="6" idx="1"/>
          </p:cNvCxnSpPr>
          <p:nvPr/>
        </p:nvCxnSpPr>
        <p:spPr>
          <a:xfrm xmlns:a="http://schemas.openxmlformats.org/drawingml/2006/main">
            <a:off x="2190750" y="5648325"/>
            <a:ext cx="342900" cy="0"/>
          </a:xfrm>
          <a:prstGeom xmlns:a="http://schemas.openxmlformats.org/drawingml/2006/main" prst="straightConnector1">
            <a:avLst/>
          </a:prstGeom>
          <a:ln xmlns:a="http://schemas.openxmlformats.org/drawingml/2006/main" w="14288">
            <a:solidFill>
              <a:srgbClr val="3A6EA5"/>
            </a:solidFill>
            <a:prstDash val="solid"/>
            <a:tailEnd type="arrow" w="sm" len="sm"/>
          </a:ln>
        </p:spPr>
      </p:cxnSp>
      <p:sp>
        <p:nvSpPr>
          <p:cNvPr id="24" name="slide-title">
            <a:extLst xmlns:a="http://schemas.openxmlformats.org/drawingml/2006/main">
              <a:ext uri="{FF2B5EF4-FFF2-40B4-BE49-F238E27FC236}">
                <a16:creationId xmlns:a16="http://schemas.microsoft.com/office/drawing/2014/main" id="{31B01753-9442-4CBB-86CB-16B522B64640}"/>
              </a:ext>
            </a:extLst>
          </p:cNvPr>
          <p:cNvSpPr>
            <a:spLocks xmlns:a="http://schemas.openxmlformats.org/drawingml/2006/main" noGrp="1"/>
          </p:cNvSpPr>
          <p:nvPr/>
        </p:nvSpPr>
        <p:spPr>
          <a:xfrm xmlns:a="http://schemas.openxmlformats.org/drawingml/2006/main">
            <a:off x="685800" y="419100"/>
            <a:ext cx="10382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550" b="1" i="0">
                <a:solidFill>
                  <a:srgbClr val="0B1F33"/>
                </a:solidFill>
                <a:latin typeface="DejaVu Sans"/>
                <a:ea typeface="DejaVu Sans"/>
                <a:cs typeface="DejaVu Sans"/>
              </a:defRPr>
            </a:defPPr>
          </a:lstStyle>
          <a:p xmlns:a="http://schemas.openxmlformats.org/drawingml/2006/main">
            <a:pPr algn="l">
              <a:defRPr sz="2550" b="1" i="0">
                <a:solidFill>
                  <a:srgbClr val="0B1F33"/>
                </a:solidFill>
                <a:latin typeface="DejaVu Sans"/>
                <a:ea typeface="DejaVu Sans"/>
                <a:cs typeface="DejaVu Sans"/>
              </a:defRPr>
            </a:pPr>
            <a:r>
              <a:rPr sz="2550" b="1" i="0">
                <a:solidFill>
                  <a:srgbClr val="0B1F33"/>
                </a:solidFill>
                <a:latin typeface="DejaVu Sans"/>
                <a:ea typeface="DejaVu Sans"/>
                <a:cs typeface="DejaVu Sans"/>
              </a:rPr>
              <a:t>The BO loop and the role of each term</a:t>
            </a:r>
          </a:p>
        </p:txBody>
      </p:sp>
      <p:sp>
        <p:nvSpPr>
          <p:cNvPr id="2" name="slide-subtitle">
            <a:extLst xmlns:a="http://schemas.openxmlformats.org/drawingml/2006/main">
              <a:ext uri="{FF2B5EF4-FFF2-40B4-BE49-F238E27FC236}">
                <a16:creationId xmlns:a16="http://schemas.microsoft.com/office/drawing/2014/main" id="{84E8D351-6F8D-408C-9E2F-EA065B1C127E}"/>
              </a:ext>
            </a:extLst>
          </p:cNvPr>
          <p:cNvSpPr>
            <a:spLocks xmlns:a="http://schemas.openxmlformats.org/drawingml/2006/main" noGrp="1"/>
          </p:cNvSpPr>
          <p:nvPr/>
        </p:nvSpPr>
        <p:spPr>
          <a:xfrm xmlns:a="http://schemas.openxmlformats.org/drawingml/2006/main">
            <a:off x="704850" y="990600"/>
            <a:ext cx="1028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275" b="0" i="0">
                <a:solidFill>
                  <a:srgbClr val="5E6A72"/>
                </a:solidFill>
                <a:latin typeface="DejaVu Sans"/>
                <a:ea typeface="DejaVu Sans"/>
                <a:cs typeface="DejaVu Sans"/>
              </a:defRPr>
            </a:defPPr>
          </a:lstStyle>
          <a:p xmlns:a="http://schemas.openxmlformats.org/drawingml/2006/main">
            <a:pPr algn="l">
              <a:defRPr sz="1275" b="0" i="0">
                <a:solidFill>
                  <a:srgbClr val="5E6A72"/>
                </a:solidFill>
                <a:latin typeface="DejaVu Sans"/>
                <a:ea typeface="DejaVu Sans"/>
                <a:cs typeface="DejaVu Sans"/>
              </a:defRPr>
            </a:pPr>
            <a:r>
              <a:rPr sz="1275" b="0" i="0">
                <a:solidFill>
                  <a:srgbClr val="5E6A72"/>
                </a:solidFill>
                <a:latin typeface="DejaVu Sans"/>
                <a:ea typeface="DejaVu Sans"/>
                <a:cs typeface="DejaVu Sans"/>
              </a:rPr>
              <a:t>One dataset supports several different decisions</a:t>
            </a:r>
          </a:p>
        </p:txBody>
      </p:sp>
      <p:graphicFrame>
        <p:nvGraphicFramePr>
          <p:cNvPr id="3" name="">
            <a:extLst xmlns:a="http://schemas.openxmlformats.org/drawingml/2006/main">
              <a:ext uri="{FF2B5EF4-FFF2-40B4-BE49-F238E27FC236}">
                <a16:creationId xmlns:a16="http://schemas.microsoft.com/office/drawing/2014/main" id="{3FAF7541-22CB-4CFE-A08E-C5E918E850A7}"/>
              </a:ext>
            </a:extLst>
          </p:cNvPr>
          <p:cNvGraphicFramePr/>
          <p:nvPr/>
        </p:nvGraphicFramePr>
        <p:xfrm>
          <a:off xmlns:a="http://schemas.openxmlformats.org/drawingml/2006/main" x="609600" y="1476375"/>
          <a:ext xmlns:a="http://schemas.openxmlformats.org/drawingml/2006/main" cx="10972800" cy="3476625"/>
        </p:xfrm>
        <a:graphic xmlns:a="http://schemas.openxmlformats.org/drawingml/2006/main">
          <a:graphicData uri="http://schemas.openxmlformats.org/drawingml/2006/table">
            <a:tbl>
              <a:tblPr/>
              <a:tblGrid>
                <a:gridCol w="2190750"/>
                <a:gridCol w="3190875"/>
                <a:gridCol w="2571750"/>
                <a:gridCol w="3019425"/>
              </a:tblGrid>
              <a:tr h="476250">
                <a:tc>
                  <a:txBody>
                    <a:bodyPr/>
                    <a:lstStyle/>
                    <a:p>
                      <a:r>
                        <a:t>Object</a:t>
                      </a:r>
                    </a:p>
                  </a:txBody>
                  <a:tcPr marL="91440" marR="91440" marT="45720" marB="45720">
                    <a:lnL w="9525">
                      <a:solidFill>
                        <a:srgbClr val="CAD4DA"/>
                      </a:solidFill>
                      <a:prstDash val="solid"/>
                    </a:lnL>
                    <a:lnR w="9525">
                      <a:solidFill>
                        <a:srgbClr val="CAD4DA"/>
                      </a:solidFill>
                      <a:prstDash val="solid"/>
                    </a:lnR>
                    <a:lnT w="9525">
                      <a:solidFill>
                        <a:srgbClr val="CAD4DA"/>
                      </a:solidFill>
                      <a:prstDash val="solid"/>
                    </a:lnT>
                    <a:lnB w="9525">
                      <a:solidFill>
                        <a:srgbClr val="CAD4DA"/>
                      </a:solidFill>
                      <a:prstDash val="solid"/>
                    </a:lnB>
                  </a:tcPr>
                </a:tc>
                <a:tc>
                  <a:txBody>
                    <a:bodyPr/>
                    <a:lstStyle/>
                    <a:p>
                      <a:r>
                        <a:t>Question it answers</a:t>
                      </a:r>
                    </a:p>
                  </a:txBody>
                  <a:tcPr marL="91440" marR="91440" marT="45720" marB="45720">
                    <a:lnR w="9525">
                      <a:solidFill>
                        <a:srgbClr val="CAD4DA"/>
                      </a:solidFill>
                      <a:prstDash val="solid"/>
                    </a:lnR>
                    <a:lnT w="9525">
                      <a:solidFill>
                        <a:srgbClr val="CAD4DA"/>
                      </a:solidFill>
                      <a:prstDash val="solid"/>
                    </a:lnT>
                    <a:lnB w="9525">
                      <a:solidFill>
                        <a:srgbClr val="CAD4DA"/>
                      </a:solidFill>
                      <a:prstDash val="solid"/>
                    </a:lnB>
                  </a:tcPr>
                </a:tc>
                <a:tc>
                  <a:txBody>
                    <a:bodyPr/>
                    <a:lstStyle/>
                    <a:p>
                      <a:r>
                        <a:t>Typical output</a:t>
                      </a:r>
                    </a:p>
                  </a:txBody>
                  <a:tcPr marL="91440" marR="91440" marT="45720" marB="45720">
                    <a:lnR w="9525">
                      <a:solidFill>
                        <a:srgbClr val="CAD4DA"/>
                      </a:solidFill>
                      <a:prstDash val="solid"/>
                    </a:lnR>
                    <a:lnT w="9525">
                      <a:solidFill>
                        <a:srgbClr val="CAD4DA"/>
                      </a:solidFill>
                      <a:prstDash val="solid"/>
                    </a:lnT>
                    <a:lnB w="9525">
                      <a:solidFill>
                        <a:srgbClr val="CAD4DA"/>
                      </a:solidFill>
                      <a:prstDash val="solid"/>
                    </a:lnB>
                  </a:tcPr>
                </a:tc>
                <a:tc>
                  <a:txBody>
                    <a:bodyPr/>
                    <a:lstStyle/>
                    <a:p>
                      <a:r>
                        <a:t>Examples in this project</a:t>
                      </a:r>
                    </a:p>
                  </a:txBody>
                  <a:tcPr marL="91440" marR="91440" marT="45720" marB="45720">
                    <a:lnR w="9525">
                      <a:solidFill>
                        <a:srgbClr val="CAD4DA"/>
                      </a:solidFill>
                      <a:prstDash val="solid"/>
                    </a:lnR>
                    <a:lnT w="9525">
                      <a:solidFill>
                        <a:srgbClr val="CAD4DA"/>
                      </a:solidFill>
                      <a:prstDash val="solid"/>
                    </a:lnT>
                    <a:lnB w="9525">
                      <a:solidFill>
                        <a:srgbClr val="CAD4DA"/>
                      </a:solidFill>
                      <a:prstDash val="solid"/>
                    </a:lnB>
                  </a:tcPr>
                </a:tc>
              </a:tr>
              <a:tr h="600075">
                <a:tc>
                  <a:txBody>
                    <a:bodyPr/>
                    <a:lstStyle/>
                    <a:p>
                      <a:r>
                        <a:t>Objective f(x)</a:t>
                      </a:r>
                    </a:p>
                  </a:txBody>
                  <a:tcPr marL="91440" marR="91440" marT="45720" marB="45720">
                    <a:lnL w="9525">
                      <a:solidFill>
                        <a:srgbClr val="CAD4DA"/>
                      </a:solidFill>
                      <a:prstDash val="solid"/>
                    </a:lnL>
                    <a:lnR w="9525">
                      <a:solidFill>
                        <a:srgbClr val="CAD4DA"/>
                      </a:solidFill>
                      <a:prstDash val="solid"/>
                    </a:lnR>
                    <a:lnB w="9525">
                      <a:solidFill>
                        <a:srgbClr val="CAD4DA"/>
                      </a:solidFill>
                      <a:prstDash val="solid"/>
                    </a:lnB>
                  </a:tcPr>
                </a:tc>
                <a:tc>
                  <a:txBody>
                    <a:bodyPr/>
                    <a:lstStyle/>
                    <a:p>
                      <a:r>
                        <a:t>What does the real experiment return?</a:t>
                      </a:r>
                    </a:p>
                  </a:txBody>
                  <a:tcPr marL="91440" marR="91440" marT="45720" marB="45720">
                    <a:lnR w="9525">
                      <a:solidFill>
                        <a:srgbClr val="CAD4DA"/>
                      </a:solidFill>
                      <a:prstDash val="solid"/>
                    </a:lnR>
                    <a:lnB w="9525">
                      <a:solidFill>
                        <a:srgbClr val="CAD4DA"/>
                      </a:solidFill>
                      <a:prstDash val="solid"/>
                    </a:lnB>
                  </a:tcPr>
                </a:tc>
                <a:tc>
                  <a:txBody>
                    <a:bodyPr/>
                    <a:lstStyle/>
                    <a:p>
                      <a:r>
                        <a:t>Observation y</a:t>
                      </a:r>
                    </a:p>
                  </a:txBody>
                  <a:tcPr marL="91440" marR="91440" marT="45720" marB="45720">
                    <a:lnR w="9525">
                      <a:solidFill>
                        <a:srgbClr val="CAD4DA"/>
                      </a:solidFill>
                      <a:prstDash val="solid"/>
                    </a:lnR>
                    <a:lnB w="9525">
                      <a:solidFill>
                        <a:srgbClr val="CAD4DA"/>
                      </a:solidFill>
                      <a:prstDash val="solid"/>
                    </a:lnB>
                  </a:tcPr>
                </a:tc>
                <a:tc>
                  <a:txBody>
                    <a:bodyPr/>
                    <a:lstStyle/>
                    <a:p>
                      <a:r>
                        <a:t>Yield, quality, performance</a:t>
                      </a:r>
                    </a:p>
                  </a:txBody>
                  <a:tcPr marL="91440" marR="91440" marT="45720" marB="45720">
                    <a:lnR w="9525">
                      <a:solidFill>
                        <a:srgbClr val="CAD4DA"/>
                      </a:solidFill>
                      <a:prstDash val="solid"/>
                    </a:lnR>
                    <a:lnB w="9525">
                      <a:solidFill>
                        <a:srgbClr val="CAD4DA"/>
                      </a:solidFill>
                      <a:prstDash val="solid"/>
                    </a:lnB>
                  </a:tcPr>
                </a:tc>
              </a:tr>
              <a:tr h="600075">
                <a:tc>
                  <a:txBody>
                    <a:bodyPr/>
                    <a:lstStyle/>
                    <a:p>
                      <a:r>
                        <a:t>GP surrogate</a:t>
                      </a:r>
                    </a:p>
                  </a:txBody>
                  <a:tcPr marL="91440" marR="91440" marT="45720" marB="45720">
                    <a:lnL w="9525">
                      <a:solidFill>
                        <a:srgbClr val="CAD4DA"/>
                      </a:solidFill>
                      <a:prstDash val="solid"/>
                    </a:lnL>
                    <a:lnR w="9525">
                      <a:solidFill>
                        <a:srgbClr val="CAD4DA"/>
                      </a:solidFill>
                      <a:prstDash val="solid"/>
                    </a:lnR>
                    <a:lnB w="9525">
                      <a:solidFill>
                        <a:srgbClr val="CAD4DA"/>
                      </a:solidFill>
                      <a:prstDash val="solid"/>
                    </a:lnB>
                  </a:tcPr>
                </a:tc>
                <a:tc>
                  <a:txBody>
                    <a:bodyPr/>
                    <a:lstStyle/>
                    <a:p>
                      <a:r>
                        <a:t>What functions remain plausible after the data?</a:t>
                      </a:r>
                    </a:p>
                  </a:txBody>
                  <a:tcPr marL="91440" marR="91440" marT="45720" marB="45720">
                    <a:lnR w="9525">
                      <a:solidFill>
                        <a:srgbClr val="CAD4DA"/>
                      </a:solidFill>
                      <a:prstDash val="solid"/>
                    </a:lnR>
                    <a:lnB w="9525">
                      <a:solidFill>
                        <a:srgbClr val="CAD4DA"/>
                      </a:solidFill>
                      <a:prstDash val="solid"/>
                    </a:lnB>
                  </a:tcPr>
                </a:tc>
                <a:tc>
                  <a:txBody>
                    <a:bodyPr/>
                    <a:lstStyle/>
                    <a:p>
                      <a:r>
                        <a:t>Mean μ(x), uncertainty σ(x)</a:t>
                      </a:r>
                    </a:p>
                  </a:txBody>
                  <a:tcPr marL="91440" marR="91440" marT="45720" marB="45720">
                    <a:lnR w="9525">
                      <a:solidFill>
                        <a:srgbClr val="CAD4DA"/>
                      </a:solidFill>
                      <a:prstDash val="solid"/>
                    </a:lnR>
                    <a:lnB w="9525">
                      <a:solidFill>
                        <a:srgbClr val="CAD4DA"/>
                      </a:solidFill>
                      <a:prstDash val="solid"/>
                    </a:lnB>
                  </a:tcPr>
                </a:tc>
                <a:tc>
                  <a:txBody>
                    <a:bodyPr/>
                    <a:lstStyle/>
                    <a:p>
                      <a:r>
                        <a:t>Matérn or RBF kernel</a:t>
                      </a:r>
                    </a:p>
                  </a:txBody>
                  <a:tcPr marL="91440" marR="91440" marT="45720" marB="45720">
                    <a:lnR w="9525">
                      <a:solidFill>
                        <a:srgbClr val="CAD4DA"/>
                      </a:solidFill>
                      <a:prstDash val="solid"/>
                    </a:lnR>
                    <a:lnB w="9525">
                      <a:solidFill>
                        <a:srgbClr val="CAD4DA"/>
                      </a:solidFill>
                      <a:prstDash val="solid"/>
                    </a:lnB>
                  </a:tcPr>
                </a:tc>
              </a:tr>
              <a:tr h="600075">
                <a:tc>
                  <a:txBody>
                    <a:bodyPr/>
                    <a:lstStyle/>
                    <a:p>
                      <a:r>
                        <a:t>Acquisition a(x)</a:t>
                      </a:r>
                    </a:p>
                  </a:txBody>
                  <a:tcPr marL="91440" marR="91440" marT="45720" marB="45720">
                    <a:lnL w="9525">
                      <a:solidFill>
                        <a:srgbClr val="CAD4DA"/>
                      </a:solidFill>
                      <a:prstDash val="solid"/>
                    </a:lnL>
                    <a:lnR w="9525">
                      <a:solidFill>
                        <a:srgbClr val="CAD4DA"/>
                      </a:solidFill>
                      <a:prstDash val="solid"/>
                    </a:lnR>
                    <a:lnB w="9525">
                      <a:solidFill>
                        <a:srgbClr val="CAD4DA"/>
                      </a:solidFill>
                      <a:prstDash val="solid"/>
                    </a:lnB>
                  </a:tcPr>
                </a:tc>
                <a:tc>
                  <a:txBody>
                    <a:bodyPr/>
                    <a:lstStyle/>
                    <a:p>
                      <a:r>
                        <a:t>Which x should be evaluated next?</a:t>
                      </a:r>
                    </a:p>
                  </a:txBody>
                  <a:tcPr marL="91440" marR="91440" marT="45720" marB="45720">
                    <a:lnR w="9525">
                      <a:solidFill>
                        <a:srgbClr val="CAD4DA"/>
                      </a:solidFill>
                      <a:prstDash val="solid"/>
                    </a:lnR>
                    <a:lnB w="9525">
                      <a:solidFill>
                        <a:srgbClr val="CAD4DA"/>
                      </a:solidFill>
                      <a:prstDash val="solid"/>
                    </a:lnB>
                  </a:tcPr>
                </a:tc>
                <a:tc>
                  <a:txBody>
                    <a:bodyPr/>
                    <a:lstStyle/>
                    <a:p>
                      <a:r>
                        <a:t>x next</a:t>
                      </a:r>
                    </a:p>
                  </a:txBody>
                  <a:tcPr marL="91440" marR="91440" marT="45720" marB="45720">
                    <a:lnR w="9525">
                      <a:solidFill>
                        <a:srgbClr val="CAD4DA"/>
                      </a:solidFill>
                      <a:prstDash val="solid"/>
                    </a:lnR>
                    <a:lnB w="9525">
                      <a:solidFill>
                        <a:srgbClr val="CAD4DA"/>
                      </a:solidFill>
                      <a:prstDash val="solid"/>
                    </a:lnB>
                  </a:tcPr>
                </a:tc>
                <a:tc>
                  <a:txBody>
                    <a:bodyPr/>
                    <a:lstStyle/>
                    <a:p>
                      <a:r>
                        <a:t>EI, PI, UCB, TS, MVES</a:t>
                      </a:r>
                    </a:p>
                  </a:txBody>
                  <a:tcPr marL="91440" marR="91440" marT="45720" marB="45720">
                    <a:lnR w="9525">
                      <a:solidFill>
                        <a:srgbClr val="CAD4DA"/>
                      </a:solidFill>
                      <a:prstDash val="solid"/>
                    </a:lnR>
                    <a:lnB w="9525">
                      <a:solidFill>
                        <a:srgbClr val="CAD4DA"/>
                      </a:solidFill>
                      <a:prstDash val="solid"/>
                    </a:lnB>
                  </a:tcPr>
                </a:tc>
              </a:tr>
              <a:tr h="600075">
                <a:tc>
                  <a:txBody>
                    <a:bodyPr/>
                    <a:lstStyle/>
                    <a:p>
                      <a:r>
                        <a:t>Stopping rule</a:t>
                      </a:r>
                    </a:p>
                  </a:txBody>
                  <a:tcPr marL="91440" marR="91440" marT="45720" marB="45720">
                    <a:lnL w="9525">
                      <a:solidFill>
                        <a:srgbClr val="CAD4DA"/>
                      </a:solidFill>
                      <a:prstDash val="solid"/>
                    </a:lnL>
                    <a:lnR w="9525">
                      <a:solidFill>
                        <a:srgbClr val="CAD4DA"/>
                      </a:solidFill>
                      <a:prstDash val="solid"/>
                    </a:lnR>
                    <a:lnB w="9525">
                      <a:solidFill>
                        <a:srgbClr val="CAD4DA"/>
                      </a:solidFill>
                      <a:prstDash val="solid"/>
                    </a:lnB>
                  </a:tcPr>
                </a:tc>
                <a:tc>
                  <a:txBody>
                    <a:bodyPr/>
                    <a:lstStyle/>
                    <a:p>
                      <a:r>
                        <a:t>Is another evaluation worth its cost?</a:t>
                      </a:r>
                    </a:p>
                  </a:txBody>
                  <a:tcPr marL="91440" marR="91440" marT="45720" marB="45720">
                    <a:lnR w="9525">
                      <a:solidFill>
                        <a:srgbClr val="CAD4DA"/>
                      </a:solidFill>
                      <a:prstDash val="solid"/>
                    </a:lnR>
                    <a:lnB w="9525">
                      <a:solidFill>
                        <a:srgbClr val="CAD4DA"/>
                      </a:solidFill>
                      <a:prstDash val="solid"/>
                    </a:lnB>
                  </a:tcPr>
                </a:tc>
                <a:tc>
                  <a:txBody>
                    <a:bodyPr/>
                    <a:lstStyle/>
                    <a:p>
                      <a:r>
                        <a:t>Continue or stop</a:t>
                      </a:r>
                    </a:p>
                  </a:txBody>
                  <a:tcPr marL="91440" marR="91440" marT="45720" marB="45720">
                    <a:lnR w="9525">
                      <a:solidFill>
                        <a:srgbClr val="CAD4DA"/>
                      </a:solidFill>
                      <a:prstDash val="solid"/>
                    </a:lnR>
                    <a:lnB w="9525">
                      <a:solidFill>
                        <a:srgbClr val="CAD4DA"/>
                      </a:solidFill>
                      <a:prstDash val="solid"/>
                    </a:lnB>
                  </a:tcPr>
                </a:tc>
                <a:tc>
                  <a:txBody>
                    <a:bodyPr/>
                    <a:lstStyle/>
                    <a:p>
                      <a:r>
                        <a:t>Budget, EI threshold, regret probability</a:t>
                      </a:r>
                    </a:p>
                  </a:txBody>
                  <a:tcPr marL="91440" marR="91440" marT="45720" marB="45720">
                    <a:lnR w="9525">
                      <a:solidFill>
                        <a:srgbClr val="CAD4DA"/>
                      </a:solidFill>
                      <a:prstDash val="solid"/>
                    </a:lnR>
                    <a:lnB w="9525">
                      <a:solidFill>
                        <a:srgbClr val="CAD4DA"/>
                      </a:solidFill>
                      <a:prstDash val="solid"/>
                    </a:lnB>
                  </a:tcPr>
                </a:tc>
              </a:tr>
              <a:tr h="600075">
                <a:tc>
                  <a:txBody>
                    <a:bodyPr/>
                    <a:lstStyle/>
                    <a:p>
                      <a:r>
                        <a:t>Final choice</a:t>
                      </a:r>
                    </a:p>
                  </a:txBody>
                  <a:tcPr marL="91440" marR="91440" marT="45720" marB="45720">
                    <a:lnL w="9525">
                      <a:solidFill>
                        <a:srgbClr val="CAD4DA"/>
                      </a:solidFill>
                      <a:prstDash val="solid"/>
                    </a:lnL>
                    <a:lnR w="9525">
                      <a:solidFill>
                        <a:srgbClr val="CAD4DA"/>
                      </a:solidFill>
                      <a:prstDash val="solid"/>
                    </a:lnR>
                    <a:lnB w="9525">
                      <a:solidFill>
                        <a:srgbClr val="CAD4DA"/>
                      </a:solidFill>
                      <a:prstDash val="solid"/>
                    </a:lnB>
                  </a:tcPr>
                </a:tc>
                <a:tc>
                  <a:txBody>
                    <a:bodyPr/>
                    <a:lstStyle/>
                    <a:p>
                      <a:r>
                        <a:t>Which x should be returned at the end?</a:t>
                      </a:r>
                    </a:p>
                  </a:txBody>
                  <a:tcPr marL="91440" marR="91440" marT="45720" marB="45720">
                    <a:lnR w="9525">
                      <a:solidFill>
                        <a:srgbClr val="CAD4DA"/>
                      </a:solidFill>
                      <a:prstDash val="solid"/>
                    </a:lnR>
                    <a:lnB w="9525">
                      <a:solidFill>
                        <a:srgbClr val="CAD4DA"/>
                      </a:solidFill>
                      <a:prstDash val="solid"/>
                    </a:lnB>
                  </a:tcPr>
                </a:tc>
                <a:tc>
                  <a:txBody>
                    <a:bodyPr/>
                    <a:lstStyle/>
                    <a:p>
                      <a:r>
                        <a:t>x hat</a:t>
                      </a:r>
                    </a:p>
                  </a:txBody>
                  <a:tcPr marL="91440" marR="91440" marT="45720" marB="45720">
                    <a:lnR w="9525">
                      <a:solidFill>
                        <a:srgbClr val="CAD4DA"/>
                      </a:solidFill>
                      <a:prstDash val="solid"/>
                    </a:lnR>
                    <a:lnB w="9525">
                      <a:solidFill>
                        <a:srgbClr val="CAD4DA"/>
                      </a:solidFill>
                      <a:prstDash val="solid"/>
                    </a:lnB>
                  </a:tcPr>
                </a:tc>
                <a:tc>
                  <a:txBody>
                    <a:bodyPr/>
                    <a:lstStyle/>
                    <a:p>
                      <a:r>
                        <a:t>Best observed point or posterior mean maximizer</a:t>
                      </a:r>
                    </a:p>
                  </a:txBody>
                  <a:tcPr marL="91440" marR="91440" marT="45720" marB="45720">
                    <a:lnR w="9525">
                      <a:solidFill>
                        <a:srgbClr val="CAD4DA"/>
                      </a:solidFill>
                      <a:prstDash val="solid"/>
                    </a:lnR>
                    <a:lnB w="9525">
                      <a:solidFill>
                        <a:srgbClr val="CAD4DA"/>
                      </a:solidFill>
                      <a:prstDash val="solid"/>
                    </a:lnB>
                  </a:tcPr>
                </a:tc>
              </a:tr>
            </a:tbl>
          </a:graphicData>
        </a:graphic>
      </p:graphicFrame>
      <p:sp>
        <p:nvSpPr>
          <p:cNvPr id="4" name="">
            <a:extLst xmlns:a="http://schemas.openxmlformats.org/drawingml/2006/main">
              <a:ext uri="{FF2B5EF4-FFF2-40B4-BE49-F238E27FC236}">
                <a16:creationId xmlns:a16="http://schemas.microsoft.com/office/drawing/2014/main" id="{E88162D3-F969-48BB-BB8E-5823843314AA}"/>
              </a:ext>
            </a:extLst>
          </p:cNvPr>
          <p:cNvSpPr>
            <a:spLocks xmlns:a="http://schemas.openxmlformats.org/drawingml/2006/main" noGrp="1"/>
          </p:cNvSpPr>
          <p:nvPr/>
        </p:nvSpPr>
        <p:spPr>
          <a:xfrm xmlns:a="http://schemas.openxmlformats.org/drawingml/2006/main">
            <a:off x="685800" y="5381625"/>
            <a:ext cx="1504950" cy="533400"/>
          </a:xfrm>
          <a:prstGeom xmlns:a="http://schemas.openxmlformats.org/drawingml/2006/main" prst="roundRect">
            <a:avLst>
              <a:gd name="adj" fmla="val 14286"/>
            </a:avLst>
          </a:prstGeom>
          <a:solidFill xmlns:a="http://schemas.openxmlformats.org/drawingml/2006/main">
            <a:srgbClr val="FFFFFF"/>
          </a:solidFill>
          <a:ln xmlns:a="http://schemas.openxmlformats.org/drawingml/2006/main" w="9525">
            <a:solidFill>
              <a:srgbClr val="CAD4DA"/>
            </a:solidFill>
            <a:prstDash val="solid"/>
          </a:ln>
        </p:spPr>
      </p:sp>
      <p:sp>
        <p:nvSpPr>
          <p:cNvPr id="5" name="">
            <a:extLst xmlns:a="http://schemas.openxmlformats.org/drawingml/2006/main">
              <a:ext uri="{FF2B5EF4-FFF2-40B4-BE49-F238E27FC236}">
                <a16:creationId xmlns:a16="http://schemas.microsoft.com/office/drawing/2014/main" id="{9170C405-EA0E-4AAA-905E-D29D6B0EF7CB}"/>
              </a:ext>
            </a:extLst>
          </p:cNvPr>
          <p:cNvSpPr>
            <a:spLocks xmlns:a="http://schemas.openxmlformats.org/drawingml/2006/main" noGrp="1"/>
          </p:cNvSpPr>
          <p:nvPr/>
        </p:nvSpPr>
        <p:spPr>
          <a:xfrm xmlns:a="http://schemas.openxmlformats.org/drawingml/2006/main">
            <a:off x="762000" y="5514975"/>
            <a:ext cx="1352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050" b="1" i="0">
                <a:solidFill>
                  <a:srgbClr val="132735"/>
                </a:solidFill>
                <a:latin typeface="DejaVu Sans"/>
                <a:ea typeface="DejaVu Sans"/>
                <a:cs typeface="DejaVu Sans"/>
              </a:defRPr>
            </a:defPPr>
          </a:lstStyle>
          <a:p xmlns:a="http://schemas.openxmlformats.org/drawingml/2006/main">
            <a:pPr algn="ctr">
              <a:defRPr sz="1050" b="1" i="0">
                <a:solidFill>
                  <a:srgbClr val="132735"/>
                </a:solidFill>
                <a:latin typeface="DejaVu Sans"/>
                <a:ea typeface="DejaVu Sans"/>
                <a:cs typeface="DejaVu Sans"/>
              </a:defRPr>
            </a:pPr>
            <a:r>
              <a:rPr sz="1050" b="1" i="0">
                <a:solidFill>
                  <a:srgbClr val="132735"/>
                </a:solidFill>
                <a:latin typeface="DejaVu Sans"/>
                <a:ea typeface="DejaVu Sans"/>
                <a:cs typeface="DejaVu Sans"/>
              </a:rPr>
              <a:t>Fit GP</a:t>
            </a:r>
          </a:p>
        </p:txBody>
      </p:sp>
      <p:sp>
        <p:nvSpPr>
          <p:cNvPr id="6" name="">
            <a:extLst xmlns:a="http://schemas.openxmlformats.org/drawingml/2006/main">
              <a:ext uri="{FF2B5EF4-FFF2-40B4-BE49-F238E27FC236}">
                <a16:creationId xmlns:a16="http://schemas.microsoft.com/office/drawing/2014/main" id="{9F5167E4-D778-4A97-A238-6A51A41FE588}"/>
              </a:ext>
            </a:extLst>
          </p:cNvPr>
          <p:cNvSpPr>
            <a:spLocks xmlns:a="http://schemas.openxmlformats.org/drawingml/2006/main" noGrp="1"/>
          </p:cNvSpPr>
          <p:nvPr/>
        </p:nvSpPr>
        <p:spPr>
          <a:xfrm xmlns:a="http://schemas.openxmlformats.org/drawingml/2006/main">
            <a:off x="2533650" y="5381625"/>
            <a:ext cx="1504950" cy="533400"/>
          </a:xfrm>
          <a:prstGeom xmlns:a="http://schemas.openxmlformats.org/drawingml/2006/main" prst="roundRect">
            <a:avLst>
              <a:gd name="adj" fmla="val 14286"/>
            </a:avLst>
          </a:prstGeom>
          <a:solidFill xmlns:a="http://schemas.openxmlformats.org/drawingml/2006/main">
            <a:srgbClr val="FFFFFF"/>
          </a:solidFill>
          <a:ln xmlns:a="http://schemas.openxmlformats.org/drawingml/2006/main" w="9525">
            <a:solidFill>
              <a:srgbClr val="CAD4DA"/>
            </a:solidFill>
            <a:prstDash val="solid"/>
          </a:ln>
        </p:spPr>
      </p:sp>
      <p:sp>
        <p:nvSpPr>
          <p:cNvPr id="7" name="">
            <a:extLst xmlns:a="http://schemas.openxmlformats.org/drawingml/2006/main">
              <a:ext uri="{FF2B5EF4-FFF2-40B4-BE49-F238E27FC236}">
                <a16:creationId xmlns:a16="http://schemas.microsoft.com/office/drawing/2014/main" id="{92C6DF47-DFAE-4167-BCA0-26330D481B9B}"/>
              </a:ext>
            </a:extLst>
          </p:cNvPr>
          <p:cNvSpPr>
            <a:spLocks xmlns:a="http://schemas.openxmlformats.org/drawingml/2006/main" noGrp="1"/>
          </p:cNvSpPr>
          <p:nvPr/>
        </p:nvSpPr>
        <p:spPr>
          <a:xfrm xmlns:a="http://schemas.openxmlformats.org/drawingml/2006/main">
            <a:off x="2609850" y="5514975"/>
            <a:ext cx="1352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050" b="1" i="0">
                <a:solidFill>
                  <a:srgbClr val="132735"/>
                </a:solidFill>
                <a:latin typeface="DejaVu Sans"/>
                <a:ea typeface="DejaVu Sans"/>
                <a:cs typeface="DejaVu Sans"/>
              </a:defRPr>
            </a:defPPr>
          </a:lstStyle>
          <a:p xmlns:a="http://schemas.openxmlformats.org/drawingml/2006/main">
            <a:pPr algn="ctr">
              <a:defRPr sz="1050" b="1" i="0">
                <a:solidFill>
                  <a:srgbClr val="132735"/>
                </a:solidFill>
                <a:latin typeface="DejaVu Sans"/>
                <a:ea typeface="DejaVu Sans"/>
                <a:cs typeface="DejaVu Sans"/>
              </a:defRPr>
            </a:pPr>
            <a:r>
              <a:rPr sz="1050" b="1" i="0">
                <a:solidFill>
                  <a:srgbClr val="132735"/>
                </a:solidFill>
                <a:latin typeface="DejaVu Sans"/>
                <a:ea typeface="DejaVu Sans"/>
                <a:cs typeface="DejaVu Sans"/>
              </a:rPr>
              <a:t>Compute posterior</a:t>
            </a:r>
          </a:p>
        </p:txBody>
      </p:sp>
      <p:sp>
        <p:nvSpPr>
          <p:cNvPr id="9" name="">
            <a:extLst xmlns:a="http://schemas.openxmlformats.org/drawingml/2006/main">
              <a:ext uri="{FF2B5EF4-FFF2-40B4-BE49-F238E27FC236}">
                <a16:creationId xmlns:a16="http://schemas.microsoft.com/office/drawing/2014/main" id="{2D411931-9122-4237-80FB-27DF45F9A881}"/>
              </a:ext>
            </a:extLst>
          </p:cNvPr>
          <p:cNvSpPr>
            <a:spLocks xmlns:a="http://schemas.openxmlformats.org/drawingml/2006/main" noGrp="1"/>
          </p:cNvSpPr>
          <p:nvPr/>
        </p:nvSpPr>
        <p:spPr>
          <a:xfrm xmlns:a="http://schemas.openxmlformats.org/drawingml/2006/main">
            <a:off x="4381500" y="5381625"/>
            <a:ext cx="1504950" cy="533400"/>
          </a:xfrm>
          <a:prstGeom xmlns:a="http://schemas.openxmlformats.org/drawingml/2006/main" prst="roundRect">
            <a:avLst>
              <a:gd name="adj" fmla="val 14286"/>
            </a:avLst>
          </a:prstGeom>
          <a:solidFill xmlns:a="http://schemas.openxmlformats.org/drawingml/2006/main">
            <a:srgbClr val="FFFFFF"/>
          </a:solidFill>
          <a:ln xmlns:a="http://schemas.openxmlformats.org/drawingml/2006/main" w="9525">
            <a:solidFill>
              <a:srgbClr val="CAD4DA"/>
            </a:solidFill>
            <a:prstDash val="solid"/>
          </a:ln>
        </p:spPr>
      </p:sp>
      <p:sp>
        <p:nvSpPr>
          <p:cNvPr id="10" name="">
            <a:extLst xmlns:a="http://schemas.openxmlformats.org/drawingml/2006/main">
              <a:ext uri="{FF2B5EF4-FFF2-40B4-BE49-F238E27FC236}">
                <a16:creationId xmlns:a16="http://schemas.microsoft.com/office/drawing/2014/main" id="{4D59EE81-E462-41E9-820A-0698A68842BB}"/>
              </a:ext>
            </a:extLst>
          </p:cNvPr>
          <p:cNvSpPr>
            <a:spLocks xmlns:a="http://schemas.openxmlformats.org/drawingml/2006/main" noGrp="1"/>
          </p:cNvSpPr>
          <p:nvPr/>
        </p:nvSpPr>
        <p:spPr>
          <a:xfrm xmlns:a="http://schemas.openxmlformats.org/drawingml/2006/main">
            <a:off x="4457700" y="5514975"/>
            <a:ext cx="1352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050" b="1" i="0">
                <a:solidFill>
                  <a:srgbClr val="132735"/>
                </a:solidFill>
                <a:latin typeface="DejaVu Sans"/>
                <a:ea typeface="DejaVu Sans"/>
                <a:cs typeface="DejaVu Sans"/>
              </a:defRPr>
            </a:defPPr>
          </a:lstStyle>
          <a:p xmlns:a="http://schemas.openxmlformats.org/drawingml/2006/main">
            <a:pPr algn="ctr">
              <a:defRPr sz="1050" b="1" i="0">
                <a:solidFill>
                  <a:srgbClr val="132735"/>
                </a:solidFill>
                <a:latin typeface="DejaVu Sans"/>
                <a:ea typeface="DejaVu Sans"/>
                <a:cs typeface="DejaVu Sans"/>
              </a:defRPr>
            </a:pPr>
            <a:r>
              <a:rPr sz="1050" b="1" i="0">
                <a:solidFill>
                  <a:srgbClr val="132735"/>
                </a:solidFill>
                <a:latin typeface="DejaVu Sans"/>
                <a:ea typeface="DejaVu Sans"/>
                <a:cs typeface="DejaVu Sans"/>
              </a:rPr>
              <a:t>Score candidates</a:t>
            </a:r>
          </a:p>
        </p:txBody>
      </p:sp>
      <p:sp>
        <p:nvSpPr>
          <p:cNvPr id="12" name="">
            <a:extLst xmlns:a="http://schemas.openxmlformats.org/drawingml/2006/main">
              <a:ext uri="{FF2B5EF4-FFF2-40B4-BE49-F238E27FC236}">
                <a16:creationId xmlns:a16="http://schemas.microsoft.com/office/drawing/2014/main" id="{DA761ECE-D9C2-4BB5-8CE8-E1038BEE23F5}"/>
              </a:ext>
            </a:extLst>
          </p:cNvPr>
          <p:cNvSpPr>
            <a:spLocks xmlns:a="http://schemas.openxmlformats.org/drawingml/2006/main" noGrp="1"/>
          </p:cNvSpPr>
          <p:nvPr/>
        </p:nvSpPr>
        <p:spPr>
          <a:xfrm xmlns:a="http://schemas.openxmlformats.org/drawingml/2006/main">
            <a:off x="6229350" y="5381625"/>
            <a:ext cx="1504950" cy="533400"/>
          </a:xfrm>
          <a:prstGeom xmlns:a="http://schemas.openxmlformats.org/drawingml/2006/main" prst="roundRect">
            <a:avLst>
              <a:gd name="adj" fmla="val 14286"/>
            </a:avLst>
          </a:prstGeom>
          <a:solidFill xmlns:a="http://schemas.openxmlformats.org/drawingml/2006/main">
            <a:srgbClr val="FFFFFF"/>
          </a:solidFill>
          <a:ln xmlns:a="http://schemas.openxmlformats.org/drawingml/2006/main" w="9525">
            <a:solidFill>
              <a:srgbClr val="CAD4DA"/>
            </a:solidFill>
            <a:prstDash val="solid"/>
          </a:ln>
        </p:spPr>
      </p:sp>
      <p:sp>
        <p:nvSpPr>
          <p:cNvPr id="13" name="">
            <a:extLst xmlns:a="http://schemas.openxmlformats.org/drawingml/2006/main">
              <a:ext uri="{FF2B5EF4-FFF2-40B4-BE49-F238E27FC236}">
                <a16:creationId xmlns:a16="http://schemas.microsoft.com/office/drawing/2014/main" id="{75FF740C-8EC4-42B9-9E4C-4B068B2303AA}"/>
              </a:ext>
            </a:extLst>
          </p:cNvPr>
          <p:cNvSpPr>
            <a:spLocks xmlns:a="http://schemas.openxmlformats.org/drawingml/2006/main" noGrp="1"/>
          </p:cNvSpPr>
          <p:nvPr/>
        </p:nvSpPr>
        <p:spPr>
          <a:xfrm xmlns:a="http://schemas.openxmlformats.org/drawingml/2006/main">
            <a:off x="6305550" y="5514975"/>
            <a:ext cx="1352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050" b="1" i="0">
                <a:solidFill>
                  <a:srgbClr val="132735"/>
                </a:solidFill>
                <a:latin typeface="DejaVu Sans"/>
                <a:ea typeface="DejaVu Sans"/>
                <a:cs typeface="DejaVu Sans"/>
              </a:defRPr>
            </a:defPPr>
          </a:lstStyle>
          <a:p xmlns:a="http://schemas.openxmlformats.org/drawingml/2006/main">
            <a:pPr algn="ctr">
              <a:defRPr sz="1050" b="1" i="0">
                <a:solidFill>
                  <a:srgbClr val="132735"/>
                </a:solidFill>
                <a:latin typeface="DejaVu Sans"/>
                <a:ea typeface="DejaVu Sans"/>
                <a:cs typeface="DejaVu Sans"/>
              </a:defRPr>
            </a:pPr>
            <a:r>
              <a:rPr sz="1050" b="1" i="0">
                <a:solidFill>
                  <a:srgbClr val="132735"/>
                </a:solidFill>
                <a:latin typeface="DejaVu Sans"/>
                <a:ea typeface="DejaVu Sans"/>
                <a:cs typeface="DejaVu Sans"/>
              </a:rPr>
              <a:t>Evaluate x next</a:t>
            </a:r>
          </a:p>
        </p:txBody>
      </p:sp>
      <p:sp>
        <p:nvSpPr>
          <p:cNvPr id="15" name="">
            <a:extLst xmlns:a="http://schemas.openxmlformats.org/drawingml/2006/main">
              <a:ext uri="{FF2B5EF4-FFF2-40B4-BE49-F238E27FC236}">
                <a16:creationId xmlns:a16="http://schemas.microsoft.com/office/drawing/2014/main" id="{4F2D9A8B-82A6-4296-9E3B-1DAD5E43DCAD}"/>
              </a:ext>
            </a:extLst>
          </p:cNvPr>
          <p:cNvSpPr>
            <a:spLocks xmlns:a="http://schemas.openxmlformats.org/drawingml/2006/main" noGrp="1"/>
          </p:cNvSpPr>
          <p:nvPr/>
        </p:nvSpPr>
        <p:spPr>
          <a:xfrm xmlns:a="http://schemas.openxmlformats.org/drawingml/2006/main">
            <a:off x="8077200" y="5381625"/>
            <a:ext cx="1504950" cy="533400"/>
          </a:xfrm>
          <a:prstGeom xmlns:a="http://schemas.openxmlformats.org/drawingml/2006/main" prst="roundRect">
            <a:avLst>
              <a:gd name="adj" fmla="val 14286"/>
            </a:avLst>
          </a:prstGeom>
          <a:solidFill xmlns:a="http://schemas.openxmlformats.org/drawingml/2006/main">
            <a:srgbClr val="FFFFFF"/>
          </a:solidFill>
          <a:ln xmlns:a="http://schemas.openxmlformats.org/drawingml/2006/main" w="9525">
            <a:solidFill>
              <a:srgbClr val="CAD4DA"/>
            </a:solidFill>
            <a:prstDash val="solid"/>
          </a:ln>
        </p:spPr>
      </p:sp>
      <p:sp>
        <p:nvSpPr>
          <p:cNvPr id="16" name="">
            <a:extLst xmlns:a="http://schemas.openxmlformats.org/drawingml/2006/main">
              <a:ext uri="{FF2B5EF4-FFF2-40B4-BE49-F238E27FC236}">
                <a16:creationId xmlns:a16="http://schemas.microsoft.com/office/drawing/2014/main" id="{76644EB3-0684-4F7A-BF66-CC5740F7F297}"/>
              </a:ext>
            </a:extLst>
          </p:cNvPr>
          <p:cNvSpPr>
            <a:spLocks xmlns:a="http://schemas.openxmlformats.org/drawingml/2006/main" noGrp="1"/>
          </p:cNvSpPr>
          <p:nvPr/>
        </p:nvSpPr>
        <p:spPr>
          <a:xfrm xmlns:a="http://schemas.openxmlformats.org/drawingml/2006/main">
            <a:off x="8153400" y="5514975"/>
            <a:ext cx="1352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050" b="1" i="0">
                <a:solidFill>
                  <a:srgbClr val="132735"/>
                </a:solidFill>
                <a:latin typeface="DejaVu Sans"/>
                <a:ea typeface="DejaVu Sans"/>
                <a:cs typeface="DejaVu Sans"/>
              </a:defRPr>
            </a:defPPr>
          </a:lstStyle>
          <a:p xmlns:a="http://schemas.openxmlformats.org/drawingml/2006/main">
            <a:pPr algn="ctr">
              <a:defRPr sz="1050" b="1" i="0">
                <a:solidFill>
                  <a:srgbClr val="132735"/>
                </a:solidFill>
                <a:latin typeface="DejaVu Sans"/>
                <a:ea typeface="DejaVu Sans"/>
                <a:cs typeface="DejaVu Sans"/>
              </a:defRPr>
            </a:pPr>
            <a:r>
              <a:rPr sz="1050" b="1" i="0">
                <a:solidFill>
                  <a:srgbClr val="132735"/>
                </a:solidFill>
                <a:latin typeface="DejaVu Sans"/>
                <a:ea typeface="DejaVu Sans"/>
                <a:cs typeface="DejaVu Sans"/>
              </a:rPr>
              <a:t>Update data</a:t>
            </a:r>
          </a:p>
        </p:txBody>
      </p:sp>
      <p:sp>
        <p:nvSpPr>
          <p:cNvPr id="18" name="">
            <a:extLst xmlns:a="http://schemas.openxmlformats.org/drawingml/2006/main">
              <a:ext uri="{FF2B5EF4-FFF2-40B4-BE49-F238E27FC236}">
                <a16:creationId xmlns:a16="http://schemas.microsoft.com/office/drawing/2014/main" id="{E6C57D19-842E-4B47-A414-CFF3AE8C88EF}"/>
              </a:ext>
            </a:extLst>
          </p:cNvPr>
          <p:cNvSpPr>
            <a:spLocks xmlns:a="http://schemas.openxmlformats.org/drawingml/2006/main" noGrp="1"/>
          </p:cNvSpPr>
          <p:nvPr/>
        </p:nvSpPr>
        <p:spPr>
          <a:xfrm xmlns:a="http://schemas.openxmlformats.org/drawingml/2006/main">
            <a:off x="9925050" y="5381625"/>
            <a:ext cx="1504950" cy="533400"/>
          </a:xfrm>
          <a:prstGeom xmlns:a="http://schemas.openxmlformats.org/drawingml/2006/main" prst="roundRect">
            <a:avLst>
              <a:gd name="adj" fmla="val 14286"/>
            </a:avLst>
          </a:prstGeom>
          <a:solidFill xmlns:a="http://schemas.openxmlformats.org/drawingml/2006/main">
            <a:srgbClr val="FAEBDD"/>
          </a:solidFill>
          <a:ln xmlns:a="http://schemas.openxmlformats.org/drawingml/2006/main" w="9525">
            <a:solidFill>
              <a:srgbClr val="F4A261"/>
            </a:solidFill>
            <a:prstDash val="solid"/>
          </a:ln>
        </p:spPr>
      </p:sp>
      <p:sp>
        <p:nvSpPr>
          <p:cNvPr id="19" name="">
            <a:extLst xmlns:a="http://schemas.openxmlformats.org/drawingml/2006/main">
              <a:ext uri="{FF2B5EF4-FFF2-40B4-BE49-F238E27FC236}">
                <a16:creationId xmlns:a16="http://schemas.microsoft.com/office/drawing/2014/main" id="{20071DB9-CAFD-40A4-95E2-8E2E52D6DA42}"/>
              </a:ext>
            </a:extLst>
          </p:cNvPr>
          <p:cNvSpPr>
            <a:spLocks xmlns:a="http://schemas.openxmlformats.org/drawingml/2006/main" noGrp="1"/>
          </p:cNvSpPr>
          <p:nvPr/>
        </p:nvSpPr>
        <p:spPr>
          <a:xfrm xmlns:a="http://schemas.openxmlformats.org/drawingml/2006/main">
            <a:off x="10001250" y="5514975"/>
            <a:ext cx="1352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050" b="1" i="0">
                <a:solidFill>
                  <a:srgbClr val="132735"/>
                </a:solidFill>
                <a:latin typeface="DejaVu Sans"/>
                <a:ea typeface="DejaVu Sans"/>
                <a:cs typeface="DejaVu Sans"/>
              </a:defRPr>
            </a:defPPr>
          </a:lstStyle>
          <a:p xmlns:a="http://schemas.openxmlformats.org/drawingml/2006/main">
            <a:pPr algn="ctr">
              <a:defRPr sz="1050" b="1" i="0">
                <a:solidFill>
                  <a:srgbClr val="132735"/>
                </a:solidFill>
                <a:latin typeface="DejaVu Sans"/>
                <a:ea typeface="DejaVu Sans"/>
                <a:cs typeface="DejaVu Sans"/>
              </a:defRPr>
            </a:pPr>
            <a:r>
              <a:rPr sz="1050" b="1" i="0">
                <a:solidFill>
                  <a:srgbClr val="132735"/>
                </a:solidFill>
                <a:latin typeface="DejaVu Sans"/>
                <a:ea typeface="DejaVu Sans"/>
                <a:cs typeface="DejaVu Sans"/>
              </a:rPr>
              <a:t>Check stop</a:t>
            </a:r>
          </a:p>
        </p:txBody>
      </p:sp>
      <p:sp>
        <p:nvSpPr>
          <p:cNvPr id="21" name="">
            <a:extLst xmlns:a="http://schemas.openxmlformats.org/drawingml/2006/main">
              <a:ext uri="{FF2B5EF4-FFF2-40B4-BE49-F238E27FC236}">
                <a16:creationId xmlns:a16="http://schemas.microsoft.com/office/drawing/2014/main" id="{7CB01020-032D-4D2C-88CB-9C97792AD444}"/>
              </a:ext>
            </a:extLst>
          </p:cNvPr>
          <p:cNvSpPr>
            <a:spLocks xmlns:a="http://schemas.openxmlformats.org/drawingml/2006/main" noGrp="1"/>
          </p:cNvSpPr>
          <p:nvPr/>
        </p:nvSpPr>
        <p:spPr>
          <a:xfrm xmlns:a="http://schemas.openxmlformats.org/drawingml/2006/main">
            <a:off x="1952625" y="6057900"/>
            <a:ext cx="828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200" b="1" i="0">
                <a:solidFill>
                  <a:srgbClr val="238A7A"/>
                </a:solidFill>
                <a:latin typeface="DejaVu Sans"/>
                <a:ea typeface="DejaVu Sans"/>
                <a:cs typeface="DejaVu Sans"/>
              </a:defRPr>
            </a:defPPr>
          </a:lstStyle>
          <a:p xmlns:a="http://schemas.openxmlformats.org/drawingml/2006/main">
            <a:pPr algn="ctr">
              <a:defRPr sz="1200" b="1" i="0">
                <a:solidFill>
                  <a:srgbClr val="238A7A"/>
                </a:solidFill>
                <a:latin typeface="DejaVu Sans"/>
                <a:ea typeface="DejaVu Sans"/>
                <a:cs typeface="DejaVu Sans"/>
              </a:defRPr>
            </a:pPr>
            <a:r>
              <a:rPr sz="1200" b="1" i="0">
                <a:solidFill>
                  <a:srgbClr val="238A7A"/>
                </a:solidFill>
                <a:latin typeface="DejaVu Sans"/>
                <a:ea typeface="DejaVu Sans"/>
                <a:cs typeface="DejaVu Sans"/>
              </a:rPr>
              <a:t>If the rule continues, the loop returns to model fitting. If it stops, the recommendation rule returns x hat.</a:t>
            </a:r>
          </a:p>
        </p:txBody>
      </p:sp>
      <p:sp>
        <p:nvSpPr>
          <p:cNvPr id="22" name="">
            <a:extLst xmlns:a="http://schemas.openxmlformats.org/drawingml/2006/main">
              <a:ext uri="{FF2B5EF4-FFF2-40B4-BE49-F238E27FC236}">
                <a16:creationId xmlns:a16="http://schemas.microsoft.com/office/drawing/2014/main" id="{F3886AE2-7C9B-4A92-887A-97F6DA7F78C7}"/>
              </a:ext>
            </a:extLst>
          </p:cNvPr>
          <p:cNvSpPr>
            <a:spLocks xmlns:a="http://schemas.openxmlformats.org/drawingml/2006/main" noGrp="1"/>
          </p:cNvSpPr>
          <p:nvPr/>
        </p:nvSpPr>
        <p:spPr>
          <a:xfrm xmlns:a="http://schemas.openxmlformats.org/drawingml/2006/main">
            <a:off x="685800" y="6477000"/>
            <a:ext cx="9810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675" b="0" i="0">
                <a:solidFill>
                  <a:srgbClr val="71808A"/>
                </a:solidFill>
                <a:latin typeface="DejaVu Sans"/>
                <a:ea typeface="DejaVu Sans"/>
                <a:cs typeface="DejaVu Sans"/>
              </a:defRPr>
            </a:defPPr>
          </a:lstStyle>
          <a:p xmlns:a="http://schemas.openxmlformats.org/drawingml/2006/main">
            <a:pPr algn="l">
              <a:defRPr sz="675" b="0" i="0">
                <a:solidFill>
                  <a:srgbClr val="71808A"/>
                </a:solidFill>
                <a:latin typeface="DejaVu Sans"/>
                <a:ea typeface="DejaVu Sans"/>
                <a:cs typeface="DejaVu Sans"/>
              </a:defRPr>
            </a:pPr>
            <a:r>
              <a:rPr sz="675" b="0" i="0">
                <a:solidFill>
                  <a:srgbClr val="71808A"/>
                </a:solidFill>
                <a:latin typeface="DejaVu Sans"/>
                <a:ea typeface="DejaVu Sans"/>
                <a:cs typeface="DejaVu Sans"/>
              </a:rPr>
              <a:t>Frazier 2018; Shahriari et al. 2016; project primer</a:t>
            </a:r>
          </a:p>
        </p:txBody>
      </p:sp>
      <p:sp>
        <p:nvSpPr>
          <p:cNvPr id="23" name="">
            <a:extLst xmlns:a="http://schemas.openxmlformats.org/drawingml/2006/main">
              <a:ext uri="{FF2B5EF4-FFF2-40B4-BE49-F238E27FC236}">
                <a16:creationId xmlns:a16="http://schemas.microsoft.com/office/drawing/2014/main" id="{F219B148-98C5-4823-B2AB-9D5611DAB51E}"/>
              </a:ext>
            </a:extLst>
          </p:cNvPr>
          <p:cNvSpPr>
            <a:spLocks xmlns:a="http://schemas.openxmlformats.org/drawingml/2006/main" noGrp="1"/>
          </p:cNvSpPr>
          <p:nvPr/>
        </p:nvSpPr>
        <p:spPr>
          <a:xfrm xmlns:a="http://schemas.openxmlformats.org/drawingml/2006/main">
            <a:off x="11001375" y="6429375"/>
            <a:ext cx="495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825" b="1" i="0">
                <a:solidFill>
                  <a:srgbClr val="71808A"/>
                </a:solidFill>
                <a:latin typeface="DejaVu Sans"/>
                <a:ea typeface="DejaVu Sans"/>
                <a:cs typeface="DejaVu Sans"/>
              </a:defRPr>
            </a:defPPr>
          </a:lstStyle>
          <a:p xmlns:a="http://schemas.openxmlformats.org/drawingml/2006/main">
            <a:pPr algn="r">
              <a:defRPr sz="825" b="1" i="0">
                <a:solidFill>
                  <a:srgbClr val="71808A"/>
                </a:solidFill>
                <a:latin typeface="DejaVu Sans"/>
                <a:ea typeface="DejaVu Sans"/>
                <a:cs typeface="DejaVu Sans"/>
              </a:defRPr>
            </a:pPr>
            <a:r>
              <a:rPr sz="825" b="1" i="0">
                <a:solidFill>
                  <a:srgbClr val="71808A"/>
                </a:solidFill>
                <a:latin typeface="DejaVu Sans"/>
                <a:ea typeface="DejaVu Sans"/>
                <a:cs typeface="DejaVu Sans"/>
              </a:rPr>
              <a:t>03</a:t>
            </a:r>
          </a:p>
        </p:txBody>
      </p:sp>
    </p:spTree>
    <p:extLst>
      <p:ext uri="{BB962C8B-B14F-4D97-AF65-F5344CB8AC3E}">
        <p14:creationId xmlns:p14="http://schemas.microsoft.com/office/powerpoint/2010/main" val="609466059"/>
      </p:ext>
    </p:extLst>
  </p:cSld>
</p:sld>
</file>

<file path=ppt/slides/slide4.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22" name="slide-title">
            <a:extLst xmlns:a="http://schemas.openxmlformats.org/drawingml/2006/main">
              <a:ext uri="{FF2B5EF4-FFF2-40B4-BE49-F238E27FC236}">
                <a16:creationId xmlns:a16="http://schemas.microsoft.com/office/drawing/2014/main" id="{5F643E83-841B-494C-8146-753B5F0E9A8B}"/>
              </a:ext>
            </a:extLst>
          </p:cNvPr>
          <p:cNvSpPr>
            <a:spLocks xmlns:a="http://schemas.openxmlformats.org/drawingml/2006/main" noGrp="1"/>
          </p:cNvSpPr>
          <p:nvPr/>
        </p:nvSpPr>
        <p:spPr>
          <a:xfrm xmlns:a="http://schemas.openxmlformats.org/drawingml/2006/main">
            <a:off x="685800" y="419100"/>
            <a:ext cx="10382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550" b="1" i="0">
                <a:solidFill>
                  <a:srgbClr val="0B1F33"/>
                </a:solidFill>
                <a:latin typeface="DejaVu Sans"/>
                <a:ea typeface="DejaVu Sans"/>
                <a:cs typeface="DejaVu Sans"/>
              </a:defRPr>
            </a:defPPr>
          </a:lstStyle>
          <a:p xmlns:a="http://schemas.openxmlformats.org/drawingml/2006/main">
            <a:pPr algn="l">
              <a:defRPr sz="2550" b="1" i="0">
                <a:solidFill>
                  <a:srgbClr val="0B1F33"/>
                </a:solidFill>
                <a:latin typeface="DejaVu Sans"/>
                <a:ea typeface="DejaVu Sans"/>
                <a:cs typeface="DejaVu Sans"/>
              </a:defRPr>
            </a:pPr>
            <a:r>
              <a:rPr sz="2550" b="1" i="0">
                <a:solidFill>
                  <a:srgbClr val="0B1F33"/>
                </a:solidFill>
                <a:latin typeface="DejaVu Sans"/>
                <a:ea typeface="DejaVu Sans"/>
                <a:cs typeface="DejaVu Sans"/>
              </a:rPr>
              <a:t>What the Gaussian process learns</a:t>
            </a:r>
          </a:p>
        </p:txBody>
      </p:sp>
      <p:sp>
        <p:nvSpPr>
          <p:cNvPr id="2" name="slide-subtitle">
            <a:extLst xmlns:a="http://schemas.openxmlformats.org/drawingml/2006/main">
              <a:ext uri="{FF2B5EF4-FFF2-40B4-BE49-F238E27FC236}">
                <a16:creationId xmlns:a16="http://schemas.microsoft.com/office/drawing/2014/main" id="{44D24962-649B-4A87-8E0B-9244C1BD846E}"/>
              </a:ext>
            </a:extLst>
          </p:cNvPr>
          <p:cNvSpPr>
            <a:spLocks xmlns:a="http://schemas.openxmlformats.org/drawingml/2006/main" noGrp="1"/>
          </p:cNvSpPr>
          <p:nvPr/>
        </p:nvSpPr>
        <p:spPr>
          <a:xfrm xmlns:a="http://schemas.openxmlformats.org/drawingml/2006/main">
            <a:off x="704850" y="990600"/>
            <a:ext cx="1028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275" b="0" i="0">
                <a:solidFill>
                  <a:srgbClr val="5E6A72"/>
                </a:solidFill>
                <a:latin typeface="DejaVu Sans"/>
                <a:ea typeface="DejaVu Sans"/>
                <a:cs typeface="DejaVu Sans"/>
              </a:defRPr>
            </a:defPPr>
          </a:lstStyle>
          <a:p xmlns:a="http://schemas.openxmlformats.org/drawingml/2006/main">
            <a:pPr algn="l">
              <a:defRPr sz="1275" b="0" i="0">
                <a:solidFill>
                  <a:srgbClr val="5E6A72"/>
                </a:solidFill>
                <a:latin typeface="DejaVu Sans"/>
                <a:ea typeface="DejaVu Sans"/>
                <a:cs typeface="DejaVu Sans"/>
              </a:defRPr>
            </a:pPr>
            <a:r>
              <a:rPr sz="1275" b="0" i="0">
                <a:solidFill>
                  <a:srgbClr val="5E6A72"/>
                </a:solidFill>
                <a:latin typeface="DejaVu Sans"/>
                <a:ea typeface="DejaVu Sans"/>
                <a:cs typeface="DejaVu Sans"/>
              </a:rPr>
              <a:t>A posterior distribution over plausible functions, not one certain curve</a:t>
            </a:r>
          </a:p>
        </p:txBody>
      </p:sp>
      <p:sp>
        <p:nvSpPr>
          <p:cNvPr id="3" name="">
            <a:extLst xmlns:a="http://schemas.openxmlformats.org/drawingml/2006/main">
              <a:ext uri="{FF2B5EF4-FFF2-40B4-BE49-F238E27FC236}">
                <a16:creationId xmlns:a16="http://schemas.microsoft.com/office/drawing/2014/main" id="{76CBCB0E-DE53-4DF9-9D4F-528C2796FE5D}"/>
              </a:ext>
            </a:extLst>
          </p:cNvPr>
          <p:cNvSpPr>
            <a:spLocks xmlns:a="http://schemas.openxmlformats.org/drawingml/2006/main" noGrp="1"/>
          </p:cNvSpPr>
          <p:nvPr/>
        </p:nvSpPr>
        <p:spPr>
          <a:xfrm xmlns:a="http://schemas.openxmlformats.org/drawingml/2006/main">
            <a:off x="742950" y="1476375"/>
            <a:ext cx="2476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275" b="1" i="0">
                <a:solidFill>
                  <a:srgbClr val="238A7A"/>
                </a:solidFill>
                <a:latin typeface="DejaVu Sans"/>
                <a:ea typeface="DejaVu Sans"/>
                <a:cs typeface="DejaVu Sans"/>
              </a:defRPr>
            </a:defPPr>
          </a:lstStyle>
          <a:p xmlns:a="http://schemas.openxmlformats.org/drawingml/2006/main">
            <a:pPr algn="l">
              <a:defRPr sz="1275" b="1" i="0">
                <a:solidFill>
                  <a:srgbClr val="238A7A"/>
                </a:solidFill>
                <a:latin typeface="DejaVu Sans"/>
                <a:ea typeface="DejaVu Sans"/>
                <a:cs typeface="DejaVu Sans"/>
              </a:defRPr>
            </a:pPr>
            <a:r>
              <a:rPr sz="1275" b="1" i="0">
                <a:solidFill>
                  <a:srgbClr val="238A7A"/>
                </a:solidFill>
                <a:latin typeface="DejaVu Sans"/>
                <a:ea typeface="DejaVu Sans"/>
                <a:cs typeface="DejaVu Sans"/>
              </a:rPr>
              <a:t>Prior model</a:t>
            </a:r>
          </a:p>
        </p:txBody>
      </p:sp>
      <p:sp>
        <p:nvSpPr>
          <p:cNvPr id="4" name="">
            <a:extLst xmlns:a="http://schemas.openxmlformats.org/drawingml/2006/main">
              <a:ext uri="{FF2B5EF4-FFF2-40B4-BE49-F238E27FC236}">
                <a16:creationId xmlns:a16="http://schemas.microsoft.com/office/drawing/2014/main" id="{BE0069DA-B30D-4B2E-952E-961E0FF71F91}"/>
              </a:ext>
            </a:extLst>
          </p:cNvPr>
          <p:cNvSpPr>
            <a:spLocks xmlns:a="http://schemas.openxmlformats.org/drawingml/2006/main" noGrp="1"/>
          </p:cNvSpPr>
          <p:nvPr/>
        </p:nvSpPr>
        <p:spPr>
          <a:xfrm xmlns:a="http://schemas.openxmlformats.org/drawingml/2006/main">
            <a:off x="781050" y="1914525"/>
            <a:ext cx="4762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025" b="1" i="0">
                <a:solidFill>
                  <a:srgbClr val="0B1F33"/>
                </a:solidFill>
                <a:latin typeface="DejaVu Sans"/>
                <a:ea typeface="DejaVu Sans"/>
                <a:cs typeface="DejaVu Sans"/>
              </a:defRPr>
            </a:defPPr>
          </a:lstStyle>
          <a:p xmlns:a="http://schemas.openxmlformats.org/drawingml/2006/main">
            <a:pPr algn="l">
              <a:defRPr sz="2025" b="1" i="0">
                <a:solidFill>
                  <a:srgbClr val="0B1F33"/>
                </a:solidFill>
                <a:latin typeface="DejaVu Sans"/>
                <a:ea typeface="DejaVu Sans"/>
                <a:cs typeface="DejaVu Sans"/>
              </a:defRPr>
            </a:pPr>
            <a:r>
              <a:rPr sz="2025" b="1" i="0">
                <a:solidFill>
                  <a:srgbClr val="0B1F33"/>
                </a:solidFill>
                <a:latin typeface="DejaVu Sans"/>
                <a:ea typeface="DejaVu Sans"/>
                <a:cs typeface="DejaVu Sans"/>
              </a:rPr>
              <a:t>f ~ GP(m(x), k(x,x′))</a:t>
            </a:r>
          </a:p>
        </p:txBody>
      </p:sp>
      <p:sp>
        <p:nvSpPr>
          <p:cNvPr id="5" name="">
            <a:extLst xmlns:a="http://schemas.openxmlformats.org/drawingml/2006/main">
              <a:ext uri="{FF2B5EF4-FFF2-40B4-BE49-F238E27FC236}">
                <a16:creationId xmlns:a16="http://schemas.microsoft.com/office/drawing/2014/main" id="{E54FED96-5AF6-4A2F-9CB4-B2D8888C1106}"/>
              </a:ext>
            </a:extLst>
          </p:cNvPr>
          <p:cNvSpPr>
            <a:spLocks xmlns:a="http://schemas.openxmlformats.org/drawingml/2006/main" noGrp="1"/>
          </p:cNvSpPr>
          <p:nvPr/>
        </p:nvSpPr>
        <p:spPr>
          <a:xfrm xmlns:a="http://schemas.openxmlformats.org/drawingml/2006/main">
            <a:off x="742950" y="2647950"/>
            <a:ext cx="2952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275" b="1" i="0">
                <a:solidFill>
                  <a:srgbClr val="238A7A"/>
                </a:solidFill>
                <a:latin typeface="DejaVu Sans"/>
                <a:ea typeface="DejaVu Sans"/>
                <a:cs typeface="DejaVu Sans"/>
              </a:defRPr>
            </a:defPPr>
          </a:lstStyle>
          <a:p xmlns:a="http://schemas.openxmlformats.org/drawingml/2006/main">
            <a:pPr algn="l">
              <a:defRPr sz="1275" b="1" i="0">
                <a:solidFill>
                  <a:srgbClr val="238A7A"/>
                </a:solidFill>
                <a:latin typeface="DejaVu Sans"/>
                <a:ea typeface="DejaVu Sans"/>
                <a:cs typeface="DejaVu Sans"/>
              </a:defRPr>
            </a:pPr>
            <a:r>
              <a:rPr sz="1275" b="1" i="0">
                <a:solidFill>
                  <a:srgbClr val="238A7A"/>
                </a:solidFill>
                <a:latin typeface="DejaVu Sans"/>
                <a:ea typeface="DejaVu Sans"/>
                <a:cs typeface="DejaVu Sans"/>
              </a:rPr>
              <a:t>Posterior at a new point x*</a:t>
            </a:r>
          </a:p>
        </p:txBody>
      </p:sp>
      <p:sp>
        <p:nvSpPr>
          <p:cNvPr id="6" name="">
            <a:extLst xmlns:a="http://schemas.openxmlformats.org/drawingml/2006/main">
              <a:ext uri="{FF2B5EF4-FFF2-40B4-BE49-F238E27FC236}">
                <a16:creationId xmlns:a16="http://schemas.microsoft.com/office/drawing/2014/main" id="{E8F3E5F7-1BC8-44F5-83BB-5E725A411EB8}"/>
              </a:ext>
            </a:extLst>
          </p:cNvPr>
          <p:cNvSpPr>
            <a:spLocks xmlns:a="http://schemas.openxmlformats.org/drawingml/2006/main" noGrp="1"/>
          </p:cNvSpPr>
          <p:nvPr/>
        </p:nvSpPr>
        <p:spPr>
          <a:xfrm xmlns:a="http://schemas.openxmlformats.org/drawingml/2006/main">
            <a:off x="781050" y="3057525"/>
            <a:ext cx="4953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725" b="1" i="0">
                <a:solidFill>
                  <a:srgbClr val="3A6EA5"/>
                </a:solidFill>
                <a:latin typeface="DejaVu Sans"/>
                <a:ea typeface="DejaVu Sans"/>
                <a:cs typeface="DejaVu Sans"/>
              </a:defRPr>
            </a:defPPr>
          </a:lstStyle>
          <a:p xmlns:a="http://schemas.openxmlformats.org/drawingml/2006/main">
            <a:pPr algn="l">
              <a:defRPr sz="1725" b="1" i="0">
                <a:solidFill>
                  <a:srgbClr val="3A6EA5"/>
                </a:solidFill>
                <a:latin typeface="DejaVu Sans"/>
                <a:ea typeface="DejaVu Sans"/>
                <a:cs typeface="DejaVu Sans"/>
              </a:defRPr>
            </a:pPr>
            <a:r>
              <a:rPr sz="1725" b="1" i="0">
                <a:solidFill>
                  <a:srgbClr val="3A6EA5"/>
                </a:solidFill>
                <a:latin typeface="DejaVu Sans"/>
                <a:ea typeface="DejaVu Sans"/>
                <a:cs typeface="DejaVu Sans"/>
              </a:rPr>
              <a:t>μ(x*) = m(x*) + k*ᵀC⁻¹(y − m)</a:t>
            </a:r>
          </a:p>
        </p:txBody>
      </p:sp>
      <p:sp>
        <p:nvSpPr>
          <p:cNvPr id="7" name="">
            <a:extLst xmlns:a="http://schemas.openxmlformats.org/drawingml/2006/main">
              <a:ext uri="{FF2B5EF4-FFF2-40B4-BE49-F238E27FC236}">
                <a16:creationId xmlns:a16="http://schemas.microsoft.com/office/drawing/2014/main" id="{667D4CD7-A725-4B1A-8EC4-184E2F99A026}"/>
              </a:ext>
            </a:extLst>
          </p:cNvPr>
          <p:cNvSpPr>
            <a:spLocks xmlns:a="http://schemas.openxmlformats.org/drawingml/2006/main" noGrp="1"/>
          </p:cNvSpPr>
          <p:nvPr/>
        </p:nvSpPr>
        <p:spPr>
          <a:xfrm xmlns:a="http://schemas.openxmlformats.org/drawingml/2006/main">
            <a:off x="781050" y="3609975"/>
            <a:ext cx="4953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725" b="1" i="0">
                <a:solidFill>
                  <a:srgbClr val="F4A261"/>
                </a:solidFill>
                <a:latin typeface="DejaVu Sans"/>
                <a:ea typeface="DejaVu Sans"/>
                <a:cs typeface="DejaVu Sans"/>
              </a:defRPr>
            </a:defPPr>
          </a:lstStyle>
          <a:p xmlns:a="http://schemas.openxmlformats.org/drawingml/2006/main">
            <a:pPr algn="l">
              <a:defRPr sz="1725" b="1" i="0">
                <a:solidFill>
                  <a:srgbClr val="F4A261"/>
                </a:solidFill>
                <a:latin typeface="DejaVu Sans"/>
                <a:ea typeface="DejaVu Sans"/>
                <a:cs typeface="DejaVu Sans"/>
              </a:defRPr>
            </a:pPr>
            <a:r>
              <a:rPr sz="1725" b="1" i="0">
                <a:solidFill>
                  <a:srgbClr val="F4A261"/>
                </a:solidFill>
                <a:latin typeface="DejaVu Sans"/>
                <a:ea typeface="DejaVu Sans"/>
                <a:cs typeface="DejaVu Sans"/>
              </a:rPr>
              <a:t>σ²(x*) = k(x*,x*) − k*ᵀC⁻¹k*</a:t>
            </a:r>
          </a:p>
        </p:txBody>
      </p:sp>
      <p:sp>
        <p:nvSpPr>
          <p:cNvPr id="8" name="">
            <a:extLst xmlns:a="http://schemas.openxmlformats.org/drawingml/2006/main">
              <a:ext uri="{FF2B5EF4-FFF2-40B4-BE49-F238E27FC236}">
                <a16:creationId xmlns:a16="http://schemas.microsoft.com/office/drawing/2014/main" id="{58D2BBC5-FD78-4D53-A03C-C1CDB6ABF45F}"/>
              </a:ext>
            </a:extLst>
          </p:cNvPr>
          <p:cNvSpPr>
            <a:spLocks xmlns:a="http://schemas.openxmlformats.org/drawingml/2006/main" noGrp="1"/>
          </p:cNvSpPr>
          <p:nvPr/>
        </p:nvSpPr>
        <p:spPr>
          <a:xfrm xmlns:a="http://schemas.openxmlformats.org/drawingml/2006/main">
            <a:off x="781050" y="4171950"/>
            <a:ext cx="285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650" b="0" i="0">
                <a:solidFill>
                  <a:srgbClr val="0B1F33"/>
                </a:solidFill>
                <a:latin typeface="DejaVu Sans"/>
                <a:ea typeface="DejaVu Sans"/>
                <a:cs typeface="DejaVu Sans"/>
              </a:defRPr>
            </a:defPPr>
          </a:lstStyle>
          <a:p xmlns:a="http://schemas.openxmlformats.org/drawingml/2006/main">
            <a:pPr algn="l">
              <a:defRPr sz="1650" b="0" i="0">
                <a:solidFill>
                  <a:srgbClr val="0B1F33"/>
                </a:solidFill>
                <a:latin typeface="DejaVu Sans"/>
                <a:ea typeface="DejaVu Sans"/>
                <a:cs typeface="DejaVu Sans"/>
              </a:defRPr>
            </a:pPr>
            <a:r>
              <a:rPr sz="1650" b="0" i="0">
                <a:solidFill>
                  <a:srgbClr val="0B1F33"/>
                </a:solidFill>
                <a:latin typeface="DejaVu Sans"/>
                <a:ea typeface="DejaVu Sans"/>
                <a:cs typeface="DejaVu Sans"/>
              </a:rPr>
              <a:t>C = K + σn²I</a:t>
            </a:r>
          </a:p>
        </p:txBody>
      </p:sp>
      <p:sp>
        <p:nvSpPr>
          <p:cNvPr id="9" name="">
            <a:extLst xmlns:a="http://schemas.openxmlformats.org/drawingml/2006/main">
              <a:ext uri="{FF2B5EF4-FFF2-40B4-BE49-F238E27FC236}">
                <a16:creationId xmlns:a16="http://schemas.microsoft.com/office/drawing/2014/main" id="{CC9D3807-B132-43E2-9528-D03795E11BAD}"/>
              </a:ext>
            </a:extLst>
          </p:cNvPr>
          <p:cNvSpPr>
            <a:spLocks xmlns:a="http://schemas.openxmlformats.org/drawingml/2006/main" noGrp="1"/>
          </p:cNvSpPr>
          <p:nvPr/>
        </p:nvSpPr>
        <p:spPr>
          <a:xfrm xmlns:a="http://schemas.openxmlformats.org/drawingml/2006/main">
            <a:off x="781050" y="4914900"/>
            <a:ext cx="4762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500" b="1" i="0">
                <a:solidFill>
                  <a:srgbClr val="132735"/>
                </a:solidFill>
                <a:latin typeface="DejaVu Sans"/>
                <a:ea typeface="DejaVu Sans"/>
                <a:cs typeface="DejaVu Sans"/>
              </a:defRPr>
            </a:defPPr>
          </a:lstStyle>
          <a:p xmlns:a="http://schemas.openxmlformats.org/drawingml/2006/main">
            <a:pPr algn="ctr">
              <a:defRPr sz="1500" b="1" i="0">
                <a:solidFill>
                  <a:srgbClr val="132735"/>
                </a:solidFill>
                <a:latin typeface="DejaVu Sans"/>
                <a:ea typeface="DejaVu Sans"/>
                <a:cs typeface="DejaVu Sans"/>
              </a:defRPr>
            </a:pPr>
            <a:r>
              <a:rPr sz="1500" b="1" i="0">
                <a:solidFill>
                  <a:srgbClr val="132735"/>
                </a:solidFill>
                <a:latin typeface="DejaVu Sans"/>
                <a:ea typeface="DejaVu Sans"/>
                <a:cs typeface="DejaVu Sans"/>
              </a:rPr>
              <a:t>μ is the current prediction. σ measures uncertainty under the fitted model and its assumptions.</a:t>
            </a:r>
          </a:p>
        </p:txBody>
      </p:sp>
      <p:sp>
        <p:nvSpPr>
          <p:cNvPr id="10" name="">
            <a:extLst xmlns:a="http://schemas.openxmlformats.org/drawingml/2006/main">
              <a:ext uri="{FF2B5EF4-FFF2-40B4-BE49-F238E27FC236}">
                <a16:creationId xmlns:a16="http://schemas.microsoft.com/office/drawing/2014/main" id="{D54B4406-60B7-4278-B548-58D6F254A6BB}"/>
              </a:ext>
            </a:extLst>
          </p:cNvPr>
          <p:cNvSpPr>
            <a:spLocks xmlns:a="http://schemas.openxmlformats.org/drawingml/2006/main" noGrp="1"/>
          </p:cNvSpPr>
          <p:nvPr/>
        </p:nvSpPr>
        <p:spPr>
          <a:xfrm xmlns:a="http://schemas.openxmlformats.org/drawingml/2006/main">
            <a:off x="6572250" y="1476375"/>
            <a:ext cx="409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425" b="1" i="0">
                <a:solidFill>
                  <a:srgbClr val="238A7A"/>
                </a:solidFill>
                <a:latin typeface="DejaVu Sans"/>
                <a:ea typeface="DejaVu Sans"/>
                <a:cs typeface="DejaVu Sans"/>
              </a:defRPr>
            </a:defPPr>
          </a:lstStyle>
          <a:p xmlns:a="http://schemas.openxmlformats.org/drawingml/2006/main">
            <a:pPr algn="ctr">
              <a:defRPr sz="1425" b="1" i="0">
                <a:solidFill>
                  <a:srgbClr val="238A7A"/>
                </a:solidFill>
                <a:latin typeface="DejaVu Sans"/>
                <a:ea typeface="DejaVu Sans"/>
                <a:cs typeface="DejaVu Sans"/>
              </a:defRPr>
            </a:pPr>
            <a:r>
              <a:rPr sz="1425" b="1" i="0">
                <a:solidFill>
                  <a:srgbClr val="238A7A"/>
                </a:solidFill>
                <a:latin typeface="DejaVu Sans"/>
                <a:ea typeface="DejaVu Sans"/>
                <a:cs typeface="DejaVu Sans"/>
              </a:rPr>
              <a:t>Small numerical example</a:t>
            </a:r>
          </a:p>
        </p:txBody>
      </p:sp>
      <p:sp>
        <p:nvSpPr>
          <p:cNvPr id="11" name="">
            <a:extLst xmlns:a="http://schemas.openxmlformats.org/drawingml/2006/main">
              <a:ext uri="{FF2B5EF4-FFF2-40B4-BE49-F238E27FC236}">
                <a16:creationId xmlns:a16="http://schemas.microsoft.com/office/drawing/2014/main" id="{8BC52A77-40E8-4F58-887D-1EEEA181A530}"/>
              </a:ext>
            </a:extLst>
          </p:cNvPr>
          <p:cNvSpPr>
            <a:spLocks xmlns:a="http://schemas.openxmlformats.org/drawingml/2006/main" noGrp="1"/>
          </p:cNvSpPr>
          <p:nvPr/>
        </p:nvSpPr>
        <p:spPr>
          <a:xfrm xmlns:a="http://schemas.openxmlformats.org/drawingml/2006/main">
            <a:off x="6762750" y="1971675"/>
            <a:ext cx="17145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125" b="1" i="0">
                <a:solidFill>
                  <a:srgbClr val="5E6A72"/>
                </a:solidFill>
                <a:latin typeface="DejaVu Sans"/>
                <a:ea typeface="DejaVu Sans"/>
                <a:cs typeface="DejaVu Sans"/>
              </a:defRPr>
            </a:defPPr>
          </a:lstStyle>
          <a:p xmlns:a="http://schemas.openxmlformats.org/drawingml/2006/main">
            <a:pPr algn="ctr">
              <a:defRPr sz="1125" b="1" i="0">
                <a:solidFill>
                  <a:srgbClr val="5E6A72"/>
                </a:solidFill>
                <a:latin typeface="DejaVu Sans"/>
                <a:ea typeface="DejaVu Sans"/>
                <a:cs typeface="DejaVu Sans"/>
              </a:defRPr>
            </a:pPr>
            <a:r>
              <a:rPr sz="1125" b="1" i="0">
                <a:solidFill>
                  <a:srgbClr val="5E6A72"/>
                </a:solidFill>
                <a:latin typeface="DejaVu Sans"/>
                <a:ea typeface="DejaVu Sans"/>
                <a:cs typeface="DejaVu Sans"/>
              </a:rPr>
              <a:t>Observed points</a:t>
            </a:r>
          </a:p>
        </p:txBody>
      </p:sp>
      <p:sp>
        <p:nvSpPr>
          <p:cNvPr id="12" name="">
            <a:extLst xmlns:a="http://schemas.openxmlformats.org/drawingml/2006/main">
              <a:ext uri="{FF2B5EF4-FFF2-40B4-BE49-F238E27FC236}">
                <a16:creationId xmlns:a16="http://schemas.microsoft.com/office/drawing/2014/main" id="{D1E9C2A7-D59E-4772-B594-27D3538EF8FA}"/>
              </a:ext>
            </a:extLst>
          </p:cNvPr>
          <p:cNvSpPr>
            <a:spLocks xmlns:a="http://schemas.openxmlformats.org/drawingml/2006/main" noGrp="1"/>
          </p:cNvSpPr>
          <p:nvPr/>
        </p:nvSpPr>
        <p:spPr>
          <a:xfrm xmlns:a="http://schemas.openxmlformats.org/drawingml/2006/main">
            <a:off x="6667500" y="2343150"/>
            <a:ext cx="1905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575" b="0" i="0">
                <a:solidFill>
                  <a:srgbClr val="0B1F33"/>
                </a:solidFill>
                <a:latin typeface="DejaVu Sans"/>
                <a:ea typeface="DejaVu Sans"/>
                <a:cs typeface="DejaVu Sans"/>
              </a:defRPr>
            </a:defPPr>
          </a:lstStyle>
          <a:p xmlns:a="http://schemas.openxmlformats.org/drawingml/2006/main">
            <a:pPr algn="ctr">
              <a:defRPr sz="1575" b="0" i="0">
                <a:solidFill>
                  <a:srgbClr val="0B1F33"/>
                </a:solidFill>
                <a:latin typeface="DejaVu Sans"/>
                <a:ea typeface="DejaVu Sans"/>
                <a:cs typeface="DejaVu Sans"/>
              </a:defRPr>
            </a:pPr>
            <a:r>
              <a:rPr sz="1575" b="0" i="0">
                <a:solidFill>
                  <a:srgbClr val="0B1F33"/>
                </a:solidFill>
                <a:latin typeface="DejaVu Sans"/>
                <a:ea typeface="DejaVu Sans"/>
                <a:cs typeface="DejaVu Sans"/>
              </a:rPr>
              <a:t>x = [0.25, 0.75]</a:t>
            </a:r>
          </a:p>
          <a:p xmlns:a="http://schemas.openxmlformats.org/drawingml/2006/main">
            <a:pPr algn="ctr">
              <a:defRPr sz="1575" b="0" i="0">
                <a:solidFill>
                  <a:srgbClr val="0B1F33"/>
                </a:solidFill>
                <a:latin typeface="DejaVu Sans"/>
                <a:ea typeface="DejaVu Sans"/>
                <a:cs typeface="DejaVu Sans"/>
              </a:defRPr>
            </a:pPr>
            <a:r>
              <a:rPr sz="1575" b="0" i="0">
                <a:solidFill>
                  <a:srgbClr val="0B1F33"/>
                </a:solidFill>
                <a:latin typeface="DejaVu Sans"/>
                <a:ea typeface="DejaVu Sans"/>
                <a:cs typeface="DejaVu Sans"/>
              </a:rPr>
              <a:t>y = [0.80, 0.20]</a:t>
            </a:r>
          </a:p>
        </p:txBody>
      </p:sp>
      <p:sp>
        <p:nvSpPr>
          <p:cNvPr id="13" name="">
            <a:extLst xmlns:a="http://schemas.openxmlformats.org/drawingml/2006/main">
              <a:ext uri="{FF2B5EF4-FFF2-40B4-BE49-F238E27FC236}">
                <a16:creationId xmlns:a16="http://schemas.microsoft.com/office/drawing/2014/main" id="{7D44C673-A56C-4A91-83D1-67C65A8B1F44}"/>
              </a:ext>
            </a:extLst>
          </p:cNvPr>
          <p:cNvSpPr>
            <a:spLocks xmlns:a="http://schemas.openxmlformats.org/drawingml/2006/main" noGrp="1"/>
          </p:cNvSpPr>
          <p:nvPr/>
        </p:nvSpPr>
        <p:spPr>
          <a:xfrm xmlns:a="http://schemas.openxmlformats.org/drawingml/2006/main">
            <a:off x="9220200" y="1971675"/>
            <a:ext cx="17145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125" b="1" i="0">
                <a:solidFill>
                  <a:srgbClr val="5E6A72"/>
                </a:solidFill>
                <a:latin typeface="DejaVu Sans"/>
                <a:ea typeface="DejaVu Sans"/>
                <a:cs typeface="DejaVu Sans"/>
              </a:defRPr>
            </a:defPPr>
          </a:lstStyle>
          <a:p xmlns:a="http://schemas.openxmlformats.org/drawingml/2006/main">
            <a:pPr algn="ctr">
              <a:defRPr sz="1125" b="1" i="0">
                <a:solidFill>
                  <a:srgbClr val="5E6A72"/>
                </a:solidFill>
                <a:latin typeface="DejaVu Sans"/>
                <a:ea typeface="DejaVu Sans"/>
                <a:cs typeface="DejaVu Sans"/>
              </a:defRPr>
            </a:pPr>
            <a:r>
              <a:rPr sz="1125" b="1" i="0">
                <a:solidFill>
                  <a:srgbClr val="5E6A72"/>
                </a:solidFill>
                <a:latin typeface="DejaVu Sans"/>
                <a:ea typeface="DejaVu Sans"/>
                <a:cs typeface="DejaVu Sans"/>
              </a:rPr>
              <a:t>Model settings</a:t>
            </a:r>
          </a:p>
        </p:txBody>
      </p:sp>
      <p:sp>
        <p:nvSpPr>
          <p:cNvPr id="14" name="">
            <a:extLst xmlns:a="http://schemas.openxmlformats.org/drawingml/2006/main">
              <a:ext uri="{FF2B5EF4-FFF2-40B4-BE49-F238E27FC236}">
                <a16:creationId xmlns:a16="http://schemas.microsoft.com/office/drawing/2014/main" id="{0E02B041-4700-4E3C-B5F2-103F58100BA7}"/>
              </a:ext>
            </a:extLst>
          </p:cNvPr>
          <p:cNvSpPr>
            <a:spLocks xmlns:a="http://schemas.openxmlformats.org/drawingml/2006/main" noGrp="1"/>
          </p:cNvSpPr>
          <p:nvPr/>
        </p:nvSpPr>
        <p:spPr>
          <a:xfrm xmlns:a="http://schemas.openxmlformats.org/drawingml/2006/main">
            <a:off x="9048750" y="2343150"/>
            <a:ext cx="20955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575" b="0" i="0">
                <a:solidFill>
                  <a:srgbClr val="0B1F33"/>
                </a:solidFill>
                <a:latin typeface="DejaVu Sans"/>
                <a:ea typeface="DejaVu Sans"/>
                <a:cs typeface="DejaVu Sans"/>
              </a:defRPr>
            </a:defPPr>
          </a:lstStyle>
          <a:p xmlns:a="http://schemas.openxmlformats.org/drawingml/2006/main">
            <a:pPr algn="ctr">
              <a:defRPr sz="1575" b="0" i="0">
                <a:solidFill>
                  <a:srgbClr val="0B1F33"/>
                </a:solidFill>
                <a:latin typeface="DejaVu Sans"/>
                <a:ea typeface="DejaVu Sans"/>
                <a:cs typeface="DejaVu Sans"/>
              </a:defRPr>
            </a:pPr>
            <a:r>
              <a:rPr sz="1575" b="0" i="0">
                <a:solidFill>
                  <a:srgbClr val="0B1F33"/>
                </a:solidFill>
                <a:latin typeface="DejaVu Sans"/>
                <a:ea typeface="DejaVu Sans"/>
                <a:cs typeface="DejaVu Sans"/>
              </a:rPr>
              <a:t>RBF kernel</a:t>
            </a:r>
          </a:p>
          <a:p xmlns:a="http://schemas.openxmlformats.org/drawingml/2006/main">
            <a:pPr algn="ctr">
              <a:defRPr sz="1575" b="0" i="0">
                <a:solidFill>
                  <a:srgbClr val="0B1F33"/>
                </a:solidFill>
                <a:latin typeface="DejaVu Sans"/>
                <a:ea typeface="DejaVu Sans"/>
                <a:cs typeface="DejaVu Sans"/>
              </a:defRPr>
            </a:pPr>
            <a:r>
              <a:rPr sz="1575" b="0" i="0">
                <a:solidFill>
                  <a:srgbClr val="0B1F33"/>
                </a:solidFill>
                <a:latin typeface="DejaVu Sans"/>
                <a:ea typeface="DejaVu Sans"/>
                <a:cs typeface="DejaVu Sans"/>
              </a:rPr>
              <a:t>ℓ = 0.25, σn = 0.05</a:t>
            </a:r>
          </a:p>
        </p:txBody>
      </p:sp>
      <p:sp>
        <p:nvSpPr>
          <p:cNvPr id="15" name="">
            <a:extLst xmlns:a="http://schemas.openxmlformats.org/drawingml/2006/main">
              <a:ext uri="{FF2B5EF4-FFF2-40B4-BE49-F238E27FC236}">
                <a16:creationId xmlns:a16="http://schemas.microsoft.com/office/drawing/2014/main" id="{2D38BFD2-5B03-4032-9EDA-749172410CC2}"/>
              </a:ext>
            </a:extLst>
          </p:cNvPr>
          <p:cNvSpPr>
            <a:spLocks xmlns:a="http://schemas.openxmlformats.org/drawingml/2006/main" noGrp="1"/>
          </p:cNvSpPr>
          <p:nvPr/>
        </p:nvSpPr>
        <p:spPr>
          <a:xfrm xmlns:a="http://schemas.openxmlformats.org/drawingml/2006/main">
            <a:off x="6334125" y="3286125"/>
            <a:ext cx="4953000" cy="0"/>
          </a:xfrm>
          <a:prstGeom xmlns:a="http://schemas.openxmlformats.org/drawingml/2006/main" prst="line">
            <a:avLst/>
          </a:prstGeom>
          <a:noFill xmlns:a="http://schemas.openxmlformats.org/drawingml/2006/main"/>
          <a:ln xmlns:a="http://schemas.openxmlformats.org/drawingml/2006/main" w="19050">
            <a:solidFill>
              <a:srgbClr val="CAD4DA"/>
            </a:solidFill>
            <a:prstDash val="solid"/>
          </a:ln>
        </p:spPr>
      </p:sp>
      <p:sp>
        <p:nvSpPr>
          <p:cNvPr id="16" name="">
            <a:extLst xmlns:a="http://schemas.openxmlformats.org/drawingml/2006/main">
              <a:ext uri="{FF2B5EF4-FFF2-40B4-BE49-F238E27FC236}">
                <a16:creationId xmlns:a16="http://schemas.microsoft.com/office/drawing/2014/main" id="{CF76A861-FFD1-4557-AA76-6AC0AA107A6D}"/>
              </a:ext>
            </a:extLst>
          </p:cNvPr>
          <p:cNvSpPr>
            <a:spLocks xmlns:a="http://schemas.openxmlformats.org/drawingml/2006/main" noGrp="1"/>
          </p:cNvSpPr>
          <p:nvPr/>
        </p:nvSpPr>
        <p:spPr>
          <a:xfrm xmlns:a="http://schemas.openxmlformats.org/drawingml/2006/main">
            <a:off x="7048500" y="3676650"/>
            <a:ext cx="3524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500" b="1" i="0">
                <a:solidFill>
                  <a:srgbClr val="5E6A72"/>
                </a:solidFill>
                <a:latin typeface="DejaVu Sans"/>
                <a:ea typeface="DejaVu Sans"/>
                <a:cs typeface="DejaVu Sans"/>
              </a:defRPr>
            </a:defPPr>
          </a:lstStyle>
          <a:p xmlns:a="http://schemas.openxmlformats.org/drawingml/2006/main">
            <a:pPr algn="ctr">
              <a:defRPr sz="1500" b="1" i="0">
                <a:solidFill>
                  <a:srgbClr val="5E6A72"/>
                </a:solidFill>
                <a:latin typeface="DejaVu Sans"/>
                <a:ea typeface="DejaVu Sans"/>
                <a:cs typeface="DejaVu Sans"/>
              </a:defRPr>
            </a:pPr>
            <a:r>
              <a:rPr sz="1500" b="1" i="0">
                <a:solidFill>
                  <a:srgbClr val="5E6A72"/>
                </a:solidFill>
                <a:latin typeface="DejaVu Sans"/>
                <a:ea typeface="DejaVu Sans"/>
                <a:cs typeface="DejaVu Sans"/>
              </a:rPr>
              <a:t>Prediction at x* = 0.50</a:t>
            </a:r>
          </a:p>
        </p:txBody>
      </p:sp>
      <p:sp>
        <p:nvSpPr>
          <p:cNvPr id="17" name="">
            <a:extLst xmlns:a="http://schemas.openxmlformats.org/drawingml/2006/main">
              <a:ext uri="{FF2B5EF4-FFF2-40B4-BE49-F238E27FC236}">
                <a16:creationId xmlns:a16="http://schemas.microsoft.com/office/drawing/2014/main" id="{8835D326-6F31-4432-BEB9-17FEFD17EB74}"/>
              </a:ext>
            </a:extLst>
          </p:cNvPr>
          <p:cNvSpPr>
            <a:spLocks xmlns:a="http://schemas.openxmlformats.org/drawingml/2006/main" noGrp="1"/>
          </p:cNvSpPr>
          <p:nvPr/>
        </p:nvSpPr>
        <p:spPr>
          <a:xfrm xmlns:a="http://schemas.openxmlformats.org/drawingml/2006/main">
            <a:off x="6762750" y="4257675"/>
            <a:ext cx="2000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2025" b="1" i="0">
                <a:solidFill>
                  <a:srgbClr val="3A6EA5"/>
                </a:solidFill>
                <a:latin typeface="DejaVu Sans"/>
                <a:ea typeface="DejaVu Sans"/>
                <a:cs typeface="DejaVu Sans"/>
              </a:defRPr>
            </a:defPPr>
          </a:lstStyle>
          <a:p xmlns:a="http://schemas.openxmlformats.org/drawingml/2006/main">
            <a:pPr algn="ctr">
              <a:defRPr sz="2025" b="1" i="0">
                <a:solidFill>
                  <a:srgbClr val="3A6EA5"/>
                </a:solidFill>
                <a:latin typeface="DejaVu Sans"/>
                <a:ea typeface="DejaVu Sans"/>
                <a:cs typeface="DejaVu Sans"/>
              </a:defRPr>
            </a:pPr>
            <a:r>
              <a:rPr sz="2025" b="1" i="0">
                <a:solidFill>
                  <a:srgbClr val="3A6EA5"/>
                </a:solidFill>
                <a:latin typeface="DejaVu Sans"/>
                <a:ea typeface="DejaVu Sans"/>
                <a:cs typeface="DejaVu Sans"/>
              </a:rPr>
              <a:t>μ(x*) ≈ 0.533</a:t>
            </a:r>
          </a:p>
        </p:txBody>
      </p:sp>
      <p:sp>
        <p:nvSpPr>
          <p:cNvPr id="18" name="">
            <a:extLst xmlns:a="http://schemas.openxmlformats.org/drawingml/2006/main">
              <a:ext uri="{FF2B5EF4-FFF2-40B4-BE49-F238E27FC236}">
                <a16:creationId xmlns:a16="http://schemas.microsoft.com/office/drawing/2014/main" id="{CE8BF465-E54B-4A8C-BCDF-D832FE6E6B5C}"/>
              </a:ext>
            </a:extLst>
          </p:cNvPr>
          <p:cNvSpPr>
            <a:spLocks xmlns:a="http://schemas.openxmlformats.org/drawingml/2006/main" noGrp="1"/>
          </p:cNvSpPr>
          <p:nvPr/>
        </p:nvSpPr>
        <p:spPr>
          <a:xfrm xmlns:a="http://schemas.openxmlformats.org/drawingml/2006/main">
            <a:off x="9048750" y="4257675"/>
            <a:ext cx="2095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2025" b="1" i="0">
                <a:solidFill>
                  <a:srgbClr val="F4A261"/>
                </a:solidFill>
                <a:latin typeface="DejaVu Sans"/>
                <a:ea typeface="DejaVu Sans"/>
                <a:cs typeface="DejaVu Sans"/>
              </a:defRPr>
            </a:defPPr>
          </a:lstStyle>
          <a:p xmlns:a="http://schemas.openxmlformats.org/drawingml/2006/main">
            <a:pPr algn="ctr">
              <a:defRPr sz="2025" b="1" i="0">
                <a:solidFill>
                  <a:srgbClr val="F4A261"/>
                </a:solidFill>
                <a:latin typeface="DejaVu Sans"/>
                <a:ea typeface="DejaVu Sans"/>
                <a:cs typeface="DejaVu Sans"/>
              </a:defRPr>
            </a:pPr>
            <a:r>
              <a:rPr sz="2025" b="1" i="0">
                <a:solidFill>
                  <a:srgbClr val="F4A261"/>
                </a:solidFill>
                <a:latin typeface="DejaVu Sans"/>
                <a:ea typeface="DejaVu Sans"/>
                <a:cs typeface="DejaVu Sans"/>
              </a:rPr>
              <a:t>σ(x*) ≈ 0.594</a:t>
            </a:r>
          </a:p>
        </p:txBody>
      </p:sp>
      <p:sp>
        <p:nvSpPr>
          <p:cNvPr id="19" name="">
            <a:extLst xmlns:a="http://schemas.openxmlformats.org/drawingml/2006/main">
              <a:ext uri="{FF2B5EF4-FFF2-40B4-BE49-F238E27FC236}">
                <a16:creationId xmlns:a16="http://schemas.microsoft.com/office/drawing/2014/main" id="{FD22FC6B-1215-4C08-AB6A-D43368C73B1F}"/>
              </a:ext>
            </a:extLst>
          </p:cNvPr>
          <p:cNvSpPr>
            <a:spLocks xmlns:a="http://schemas.openxmlformats.org/drawingml/2006/main" noGrp="1"/>
          </p:cNvSpPr>
          <p:nvPr/>
        </p:nvSpPr>
        <p:spPr>
          <a:xfrm xmlns:a="http://schemas.openxmlformats.org/drawingml/2006/main">
            <a:off x="6715125" y="5010150"/>
            <a:ext cx="44767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425" b="0" i="0">
                <a:solidFill>
                  <a:srgbClr val="132735"/>
                </a:solidFill>
                <a:latin typeface="DejaVu Sans"/>
                <a:ea typeface="DejaVu Sans"/>
                <a:cs typeface="DejaVu Sans"/>
              </a:defRPr>
            </a:defPPr>
          </a:lstStyle>
          <a:p xmlns:a="http://schemas.openxmlformats.org/drawingml/2006/main">
            <a:pPr algn="ctr">
              <a:defRPr sz="1425" b="0" i="0">
                <a:solidFill>
                  <a:srgbClr val="132735"/>
                </a:solidFill>
                <a:latin typeface="DejaVu Sans"/>
                <a:ea typeface="DejaVu Sans"/>
                <a:cs typeface="DejaVu Sans"/>
              </a:defRPr>
            </a:pPr>
            <a:r>
              <a:rPr sz="1425" b="0" i="0">
                <a:solidFill>
                  <a:srgbClr val="132735"/>
                </a:solidFill>
                <a:latin typeface="DejaVu Sans"/>
                <a:ea typeface="DejaVu Sans"/>
                <a:cs typeface="DejaVu Sans"/>
              </a:rPr>
              <a:t>The mean lies between the observations, but uncertainty remains high because the midpoint was never evaluated.</a:t>
            </a:r>
          </a:p>
        </p:txBody>
      </p:sp>
      <p:sp>
        <p:nvSpPr>
          <p:cNvPr id="20" name="">
            <a:extLst xmlns:a="http://schemas.openxmlformats.org/drawingml/2006/main">
              <a:ext uri="{FF2B5EF4-FFF2-40B4-BE49-F238E27FC236}">
                <a16:creationId xmlns:a16="http://schemas.microsoft.com/office/drawing/2014/main" id="{6781B182-4A68-4A71-9408-71DABD39B912}"/>
              </a:ext>
            </a:extLst>
          </p:cNvPr>
          <p:cNvSpPr>
            <a:spLocks xmlns:a="http://schemas.openxmlformats.org/drawingml/2006/main" noGrp="1"/>
          </p:cNvSpPr>
          <p:nvPr/>
        </p:nvSpPr>
        <p:spPr>
          <a:xfrm xmlns:a="http://schemas.openxmlformats.org/drawingml/2006/main">
            <a:off x="685800" y="6477000"/>
            <a:ext cx="9810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675" b="0" i="0">
                <a:solidFill>
                  <a:srgbClr val="71808A"/>
                </a:solidFill>
                <a:latin typeface="DejaVu Sans"/>
                <a:ea typeface="DejaVu Sans"/>
                <a:cs typeface="DejaVu Sans"/>
              </a:defRPr>
            </a:defPPr>
          </a:lstStyle>
          <a:p xmlns:a="http://schemas.openxmlformats.org/drawingml/2006/main">
            <a:pPr algn="l">
              <a:defRPr sz="675" b="0" i="0">
                <a:solidFill>
                  <a:srgbClr val="71808A"/>
                </a:solidFill>
                <a:latin typeface="DejaVu Sans"/>
                <a:ea typeface="DejaVu Sans"/>
                <a:cs typeface="DejaVu Sans"/>
              </a:defRPr>
            </a:pPr>
            <a:r>
              <a:rPr sz="675" b="0" i="0">
                <a:solidFill>
                  <a:srgbClr val="71808A"/>
                </a:solidFill>
                <a:latin typeface="DejaVu Sans"/>
                <a:ea typeface="DejaVu Sans"/>
                <a:cs typeface="DejaVu Sans"/>
              </a:rPr>
              <a:t>Project numerical GP example; Rasmussen and Williams notation</a:t>
            </a:r>
          </a:p>
        </p:txBody>
      </p:sp>
      <p:sp>
        <p:nvSpPr>
          <p:cNvPr id="21" name="">
            <a:extLst xmlns:a="http://schemas.openxmlformats.org/drawingml/2006/main">
              <a:ext uri="{FF2B5EF4-FFF2-40B4-BE49-F238E27FC236}">
                <a16:creationId xmlns:a16="http://schemas.microsoft.com/office/drawing/2014/main" id="{3E0BA6ED-B638-4A42-896B-C9ED95C6E652}"/>
              </a:ext>
            </a:extLst>
          </p:cNvPr>
          <p:cNvSpPr>
            <a:spLocks xmlns:a="http://schemas.openxmlformats.org/drawingml/2006/main" noGrp="1"/>
          </p:cNvSpPr>
          <p:nvPr/>
        </p:nvSpPr>
        <p:spPr>
          <a:xfrm xmlns:a="http://schemas.openxmlformats.org/drawingml/2006/main">
            <a:off x="11001375" y="6429375"/>
            <a:ext cx="495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825" b="1" i="0">
                <a:solidFill>
                  <a:srgbClr val="71808A"/>
                </a:solidFill>
                <a:latin typeface="DejaVu Sans"/>
                <a:ea typeface="DejaVu Sans"/>
                <a:cs typeface="DejaVu Sans"/>
              </a:defRPr>
            </a:defPPr>
          </a:lstStyle>
          <a:p xmlns:a="http://schemas.openxmlformats.org/drawingml/2006/main">
            <a:pPr algn="r">
              <a:defRPr sz="825" b="1" i="0">
                <a:solidFill>
                  <a:srgbClr val="71808A"/>
                </a:solidFill>
                <a:latin typeface="DejaVu Sans"/>
                <a:ea typeface="DejaVu Sans"/>
                <a:cs typeface="DejaVu Sans"/>
              </a:defRPr>
            </a:pPr>
            <a:r>
              <a:rPr sz="825" b="1" i="0">
                <a:solidFill>
                  <a:srgbClr val="71808A"/>
                </a:solidFill>
                <a:latin typeface="DejaVu Sans"/>
                <a:ea typeface="DejaVu Sans"/>
                <a:cs typeface="DejaVu Sans"/>
              </a:rPr>
              <a:t>04</a:t>
            </a:r>
          </a:p>
        </p:txBody>
      </p:sp>
    </p:spTree>
    <p:extLst>
      <p:ext uri="{BB962C8B-B14F-4D97-AF65-F5344CB8AC3E}">
        <p14:creationId xmlns:p14="http://schemas.microsoft.com/office/powerpoint/2010/main" val="502120953"/>
      </p:ext>
    </p:extLst>
  </p:cSld>
</p:sld>
</file>

<file path=ppt/slides/slide5.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10" name="slide-title">
            <a:extLst xmlns:a="http://schemas.openxmlformats.org/drawingml/2006/main">
              <a:ext uri="{FF2B5EF4-FFF2-40B4-BE49-F238E27FC236}">
                <a16:creationId xmlns:a16="http://schemas.microsoft.com/office/drawing/2014/main" id="{8BE22809-5C74-4EC1-901E-7EB4DB50D9FD}"/>
              </a:ext>
            </a:extLst>
          </p:cNvPr>
          <p:cNvSpPr>
            <a:spLocks xmlns:a="http://schemas.openxmlformats.org/drawingml/2006/main" noGrp="1"/>
          </p:cNvSpPr>
          <p:nvPr/>
        </p:nvSpPr>
        <p:spPr>
          <a:xfrm xmlns:a="http://schemas.openxmlformats.org/drawingml/2006/main">
            <a:off x="685800" y="419100"/>
            <a:ext cx="10382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550" b="1" i="0">
                <a:solidFill>
                  <a:srgbClr val="0B1F33"/>
                </a:solidFill>
                <a:latin typeface="DejaVu Sans"/>
                <a:ea typeface="DejaVu Sans"/>
                <a:cs typeface="DejaVu Sans"/>
              </a:defRPr>
            </a:defPPr>
          </a:lstStyle>
          <a:p xmlns:a="http://schemas.openxmlformats.org/drawingml/2006/main">
            <a:pPr algn="l">
              <a:defRPr sz="2550" b="1" i="0">
                <a:solidFill>
                  <a:srgbClr val="0B1F33"/>
                </a:solidFill>
                <a:latin typeface="DejaVu Sans"/>
                <a:ea typeface="DejaVu Sans"/>
                <a:cs typeface="DejaVu Sans"/>
              </a:defRPr>
            </a:pPr>
            <a:r>
              <a:rPr sz="2550" b="1" i="0">
                <a:solidFill>
                  <a:srgbClr val="0B1F33"/>
                </a:solidFill>
                <a:latin typeface="DejaVu Sans"/>
                <a:ea typeface="DejaVu Sans"/>
                <a:cs typeface="DejaVu Sans"/>
              </a:rPr>
              <a:t>Acquisition, stopping, and recommendation</a:t>
            </a:r>
          </a:p>
        </p:txBody>
      </p:sp>
      <p:sp>
        <p:nvSpPr>
          <p:cNvPr id="2" name="slide-subtitle">
            <a:extLst xmlns:a="http://schemas.openxmlformats.org/drawingml/2006/main">
              <a:ext uri="{FF2B5EF4-FFF2-40B4-BE49-F238E27FC236}">
                <a16:creationId xmlns:a16="http://schemas.microsoft.com/office/drawing/2014/main" id="{90BB32E0-C794-4F69-8076-58D8E35DC195}"/>
              </a:ext>
            </a:extLst>
          </p:cNvPr>
          <p:cNvSpPr>
            <a:spLocks xmlns:a="http://schemas.openxmlformats.org/drawingml/2006/main" noGrp="1"/>
          </p:cNvSpPr>
          <p:nvPr/>
        </p:nvSpPr>
        <p:spPr>
          <a:xfrm xmlns:a="http://schemas.openxmlformats.org/drawingml/2006/main">
            <a:off x="704850" y="990600"/>
            <a:ext cx="1028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275" b="0" i="0">
                <a:solidFill>
                  <a:srgbClr val="5E6A72"/>
                </a:solidFill>
                <a:latin typeface="DejaVu Sans"/>
                <a:ea typeface="DejaVu Sans"/>
                <a:cs typeface="DejaVu Sans"/>
              </a:defRPr>
            </a:defPPr>
          </a:lstStyle>
          <a:p xmlns:a="http://schemas.openxmlformats.org/drawingml/2006/main">
            <a:pPr algn="l">
              <a:defRPr sz="1275" b="0" i="0">
                <a:solidFill>
                  <a:srgbClr val="5E6A72"/>
                </a:solidFill>
                <a:latin typeface="DejaVu Sans"/>
                <a:ea typeface="DejaVu Sans"/>
                <a:cs typeface="DejaVu Sans"/>
              </a:defRPr>
            </a:pPr>
            <a:r>
              <a:rPr sz="1275" b="0" i="0">
                <a:solidFill>
                  <a:srgbClr val="5E6A72"/>
                </a:solidFill>
                <a:latin typeface="DejaVu Sans"/>
                <a:ea typeface="DejaVu Sans"/>
                <a:cs typeface="DejaVu Sans"/>
              </a:rPr>
              <a:t>The same posterior supports three different decisions</a:t>
            </a:r>
          </a:p>
        </p:txBody>
      </p:sp>
      <p:graphicFrame>
        <p:nvGraphicFramePr>
          <p:cNvPr id="3" name="">
            <a:extLst xmlns:a="http://schemas.openxmlformats.org/drawingml/2006/main">
              <a:ext uri="{FF2B5EF4-FFF2-40B4-BE49-F238E27FC236}">
                <a16:creationId xmlns:a16="http://schemas.microsoft.com/office/drawing/2014/main" id="{72D82C24-0556-49F9-ADF7-703F9CF9B9D6}"/>
              </a:ext>
            </a:extLst>
          </p:cNvPr>
          <p:cNvGraphicFramePr/>
          <p:nvPr/>
        </p:nvGraphicFramePr>
        <p:xfrm>
          <a:off xmlns:a="http://schemas.openxmlformats.org/drawingml/2006/main" x="590550" y="1466850"/>
          <a:ext xmlns:a="http://schemas.openxmlformats.org/drawingml/2006/main" cx="11010900" cy="3448050"/>
        </p:xfrm>
        <a:graphic xmlns:a="http://schemas.openxmlformats.org/drawingml/2006/main">
          <a:graphicData uri="http://schemas.openxmlformats.org/drawingml/2006/table">
            <a:tbl>
              <a:tblPr/>
              <a:tblGrid>
                <a:gridCol w="1981200"/>
                <a:gridCol w="3143250"/>
                <a:gridCol w="3219450"/>
                <a:gridCol w="2667000"/>
              </a:tblGrid>
              <a:tr h="457200">
                <a:tc>
                  <a:txBody>
                    <a:bodyPr/>
                    <a:lstStyle/>
                    <a:p>
                      <a:r>
                        <a:t>Decision</a:t>
                      </a:r>
                    </a:p>
                  </a:txBody>
                  <a:tcPr marL="91440" marR="91440" marT="45720" marB="45720">
                    <a:lnL w="9525">
                      <a:solidFill>
                        <a:srgbClr val="CAD4DA"/>
                      </a:solidFill>
                      <a:prstDash val="solid"/>
                    </a:lnL>
                    <a:lnR w="9525">
                      <a:solidFill>
                        <a:srgbClr val="CAD4DA"/>
                      </a:solidFill>
                      <a:prstDash val="solid"/>
                    </a:lnR>
                    <a:lnT w="9525">
                      <a:solidFill>
                        <a:srgbClr val="CAD4DA"/>
                      </a:solidFill>
                      <a:prstDash val="solid"/>
                    </a:lnT>
                    <a:lnB w="9525">
                      <a:solidFill>
                        <a:srgbClr val="CAD4DA"/>
                      </a:solidFill>
                      <a:prstDash val="solid"/>
                    </a:lnB>
                  </a:tcPr>
                </a:tc>
                <a:tc>
                  <a:txBody>
                    <a:bodyPr/>
                    <a:lstStyle/>
                    <a:p>
                      <a:r>
                        <a:t>Mathematical form</a:t>
                      </a:r>
                    </a:p>
                  </a:txBody>
                  <a:tcPr marL="91440" marR="91440" marT="45720" marB="45720">
                    <a:lnR w="9525">
                      <a:solidFill>
                        <a:srgbClr val="CAD4DA"/>
                      </a:solidFill>
                      <a:prstDash val="solid"/>
                    </a:lnR>
                    <a:lnT w="9525">
                      <a:solidFill>
                        <a:srgbClr val="CAD4DA"/>
                      </a:solidFill>
                      <a:prstDash val="solid"/>
                    </a:lnT>
                    <a:lnB w="9525">
                      <a:solidFill>
                        <a:srgbClr val="CAD4DA"/>
                      </a:solidFill>
                      <a:prstDash val="solid"/>
                    </a:lnB>
                  </a:tcPr>
                </a:tc>
                <a:tc>
                  <a:txBody>
                    <a:bodyPr/>
                    <a:lstStyle/>
                    <a:p>
                      <a:r>
                        <a:t>Plain meaning</a:t>
                      </a:r>
                    </a:p>
                  </a:txBody>
                  <a:tcPr marL="91440" marR="91440" marT="45720" marB="45720">
                    <a:lnR w="9525">
                      <a:solidFill>
                        <a:srgbClr val="CAD4DA"/>
                      </a:solidFill>
                      <a:prstDash val="solid"/>
                    </a:lnR>
                    <a:lnT w="9525">
                      <a:solidFill>
                        <a:srgbClr val="CAD4DA"/>
                      </a:solidFill>
                      <a:prstDash val="solid"/>
                    </a:lnT>
                    <a:lnB w="9525">
                      <a:solidFill>
                        <a:srgbClr val="CAD4DA"/>
                      </a:solidFill>
                      <a:prstDash val="solid"/>
                    </a:lnB>
                  </a:tcPr>
                </a:tc>
                <a:tc>
                  <a:txBody>
                    <a:bodyPr/>
                    <a:lstStyle/>
                    <a:p>
                      <a:r>
                        <a:t>Main setting</a:t>
                      </a:r>
                    </a:p>
                  </a:txBody>
                  <a:tcPr marL="91440" marR="91440" marT="45720" marB="45720">
                    <a:lnR w="9525">
                      <a:solidFill>
                        <a:srgbClr val="CAD4DA"/>
                      </a:solidFill>
                      <a:prstDash val="solid"/>
                    </a:lnR>
                    <a:lnT w="9525">
                      <a:solidFill>
                        <a:srgbClr val="CAD4DA"/>
                      </a:solidFill>
                      <a:prstDash val="solid"/>
                    </a:lnT>
                    <a:lnB w="9525">
                      <a:solidFill>
                        <a:srgbClr val="CAD4DA"/>
                      </a:solidFill>
                      <a:prstDash val="solid"/>
                    </a:lnB>
                  </a:tcPr>
                </a:tc>
              </a:tr>
              <a:tr h="742950">
                <a:tc>
                  <a:txBody>
                    <a:bodyPr/>
                    <a:lstStyle/>
                    <a:p>
                      <a:r>
                        <a:t>UCB acquisition</a:t>
                      </a:r>
                    </a:p>
                  </a:txBody>
                  <a:tcPr marL="91440" marR="91440" marT="45720" marB="45720">
                    <a:lnL w="9525">
                      <a:solidFill>
                        <a:srgbClr val="CAD4DA"/>
                      </a:solidFill>
                      <a:prstDash val="solid"/>
                    </a:lnL>
                    <a:lnR w="9525">
                      <a:solidFill>
                        <a:srgbClr val="CAD4DA"/>
                      </a:solidFill>
                      <a:prstDash val="solid"/>
                    </a:lnR>
                    <a:lnB w="9525">
                      <a:solidFill>
                        <a:srgbClr val="CAD4DA"/>
                      </a:solidFill>
                      <a:prstDash val="solid"/>
                    </a:lnB>
                  </a:tcPr>
                </a:tc>
                <a:tc>
                  <a:txBody>
                    <a:bodyPr/>
                    <a:lstStyle/>
                    <a:p>
                      <a:r>
                        <a:t>a(x) = μ(x) + κσ(x)</a:t>
                      </a:r>
                    </a:p>
                  </a:txBody>
                  <a:tcPr marL="91440" marR="91440" marT="45720" marB="45720">
                    <a:lnR w="9525">
                      <a:solidFill>
                        <a:srgbClr val="CAD4DA"/>
                      </a:solidFill>
                      <a:prstDash val="solid"/>
                    </a:lnR>
                    <a:lnB w="9525">
                      <a:solidFill>
                        <a:srgbClr val="CAD4DA"/>
                      </a:solidFill>
                      <a:prstDash val="solid"/>
                    </a:lnB>
                  </a:tcPr>
                </a:tc>
                <a:tc>
                  <a:txBody>
                    <a:bodyPr/>
                    <a:lstStyle/>
                    <a:p>
                      <a:r>
                        <a:t>Prefer high predictions and uncertain points</a:t>
                      </a:r>
                    </a:p>
                  </a:txBody>
                  <a:tcPr marL="91440" marR="91440" marT="45720" marB="45720">
                    <a:lnR w="9525">
                      <a:solidFill>
                        <a:srgbClr val="CAD4DA"/>
                      </a:solidFill>
                      <a:prstDash val="solid"/>
                    </a:lnR>
                    <a:lnB w="9525">
                      <a:solidFill>
                        <a:srgbClr val="CAD4DA"/>
                      </a:solidFill>
                      <a:prstDash val="solid"/>
                    </a:lnB>
                  </a:tcPr>
                </a:tc>
                <a:tc>
                  <a:txBody>
                    <a:bodyPr/>
                    <a:lstStyle/>
                    <a:p>
                      <a:r>
                        <a:t>κ controls exploration</a:t>
                      </a:r>
                    </a:p>
                  </a:txBody>
                  <a:tcPr marL="91440" marR="91440" marT="45720" marB="45720">
                    <a:lnR w="9525">
                      <a:solidFill>
                        <a:srgbClr val="CAD4DA"/>
                      </a:solidFill>
                      <a:prstDash val="solid"/>
                    </a:lnR>
                    <a:lnB w="9525">
                      <a:solidFill>
                        <a:srgbClr val="CAD4DA"/>
                      </a:solidFill>
                      <a:prstDash val="solid"/>
                    </a:lnB>
                  </a:tcPr>
                </a:tc>
              </a:tr>
              <a:tr h="742950">
                <a:tc>
                  <a:txBody>
                    <a:bodyPr/>
                    <a:lstStyle/>
                    <a:p>
                      <a:r>
                        <a:t>Expected improvement</a:t>
                      </a:r>
                    </a:p>
                  </a:txBody>
                  <a:tcPr marL="91440" marR="91440" marT="45720" marB="45720">
                    <a:lnL w="9525">
                      <a:solidFill>
                        <a:srgbClr val="CAD4DA"/>
                      </a:solidFill>
                      <a:prstDash val="solid"/>
                    </a:lnL>
                    <a:lnR w="9525">
                      <a:solidFill>
                        <a:srgbClr val="CAD4DA"/>
                      </a:solidFill>
                      <a:prstDash val="solid"/>
                    </a:lnR>
                    <a:lnB w="9525">
                      <a:solidFill>
                        <a:srgbClr val="CAD4DA"/>
                      </a:solidFill>
                      <a:prstDash val="solid"/>
                    </a:lnB>
                  </a:tcPr>
                </a:tc>
                <a:tc>
                  <a:txBody>
                    <a:bodyPr/>
                    <a:lstStyle/>
                    <a:p>
                      <a:r>
                        <a:t>EI(x) = E[(f(x) − fbest)+ | Dt]</a:t>
                      </a:r>
                    </a:p>
                  </a:txBody>
                  <a:tcPr marL="91440" marR="91440" marT="45720" marB="45720">
                    <a:lnR w="9525">
                      <a:solidFill>
                        <a:srgbClr val="CAD4DA"/>
                      </a:solidFill>
                      <a:prstDash val="solid"/>
                    </a:lnR>
                    <a:lnB w="9525">
                      <a:solidFill>
                        <a:srgbClr val="CAD4DA"/>
                      </a:solidFill>
                      <a:prstDash val="solid"/>
                    </a:lnB>
                  </a:tcPr>
                </a:tc>
                <a:tc>
                  <a:txBody>
                    <a:bodyPr/>
                    <a:lstStyle/>
                    <a:p>
                      <a:r>
                        <a:t>Expected gain above the current best</a:t>
                      </a:r>
                    </a:p>
                  </a:txBody>
                  <a:tcPr marL="91440" marR="91440" marT="45720" marB="45720">
                    <a:lnR w="9525">
                      <a:solidFill>
                        <a:srgbClr val="CAD4DA"/>
                      </a:solidFill>
                      <a:prstDash val="solid"/>
                    </a:lnR>
                    <a:lnB w="9525">
                      <a:solidFill>
                        <a:srgbClr val="CAD4DA"/>
                      </a:solidFill>
                      <a:prstDash val="solid"/>
                    </a:lnB>
                  </a:tcPr>
                </a:tc>
                <a:tc>
                  <a:txBody>
                    <a:bodyPr/>
                    <a:lstStyle/>
                    <a:p>
                      <a:r>
                        <a:t>Incumbent and numerical accuracy</a:t>
                      </a:r>
                    </a:p>
                  </a:txBody>
                  <a:tcPr marL="91440" marR="91440" marT="45720" marB="45720">
                    <a:lnR w="9525">
                      <a:solidFill>
                        <a:srgbClr val="CAD4DA"/>
                      </a:solidFill>
                      <a:prstDash val="solid"/>
                    </a:lnR>
                    <a:lnB w="9525">
                      <a:solidFill>
                        <a:srgbClr val="CAD4DA"/>
                      </a:solidFill>
                      <a:prstDash val="solid"/>
                    </a:lnB>
                  </a:tcPr>
                </a:tc>
              </a:tr>
              <a:tr h="742950">
                <a:tc>
                  <a:txBody>
                    <a:bodyPr/>
                    <a:lstStyle/>
                    <a:p>
                      <a:r>
                        <a:t>Stopping target</a:t>
                      </a:r>
                    </a:p>
                  </a:txBody>
                  <a:tcPr marL="91440" marR="91440" marT="45720" marB="45720">
                    <a:lnL w="9525">
                      <a:solidFill>
                        <a:srgbClr val="CAD4DA"/>
                      </a:solidFill>
                      <a:prstDash val="solid"/>
                    </a:lnL>
                    <a:lnR w="9525">
                      <a:solidFill>
                        <a:srgbClr val="CAD4DA"/>
                      </a:solidFill>
                      <a:prstDash val="solid"/>
                    </a:lnR>
                    <a:lnB w="9525">
                      <a:solidFill>
                        <a:srgbClr val="CAD4DA"/>
                      </a:solidFill>
                      <a:prstDash val="solid"/>
                    </a:lnB>
                  </a:tcPr>
                </a:tc>
                <a:tc>
                  <a:txBody>
                    <a:bodyPr/>
                    <a:lstStyle/>
                    <a:p>
                      <a:r>
                        <a:t>P(f* − f(x hat) ≤ ε | Dt) ≥ 1 − δ</a:t>
                      </a:r>
                    </a:p>
                  </a:txBody>
                  <a:tcPr marL="91440" marR="91440" marT="45720" marB="45720">
                    <a:lnR w="9525">
                      <a:solidFill>
                        <a:srgbClr val="CAD4DA"/>
                      </a:solidFill>
                      <a:prstDash val="solid"/>
                    </a:lnR>
                    <a:lnB w="9525">
                      <a:solidFill>
                        <a:srgbClr val="CAD4DA"/>
                      </a:solidFill>
                      <a:prstDash val="solid"/>
                    </a:lnB>
                  </a:tcPr>
                </a:tc>
                <a:tc>
                  <a:txBody>
                    <a:bodyPr/>
                    <a:lstStyle/>
                    <a:p>
                      <a:r>
                        <a:t>The recommendation is probably close enough</a:t>
                      </a:r>
                    </a:p>
                  </a:txBody>
                  <a:tcPr marL="91440" marR="91440" marT="45720" marB="45720">
                    <a:lnR w="9525">
                      <a:solidFill>
                        <a:srgbClr val="CAD4DA"/>
                      </a:solidFill>
                      <a:prstDash val="solid"/>
                    </a:lnR>
                    <a:lnB w="9525">
                      <a:solidFill>
                        <a:srgbClr val="CAD4DA"/>
                      </a:solidFill>
                      <a:prstDash val="solid"/>
                    </a:lnB>
                  </a:tcPr>
                </a:tc>
                <a:tc>
                  <a:txBody>
                    <a:bodyPr/>
                    <a:lstStyle/>
                    <a:p>
                      <a:r>
                        <a:t>Tolerance ε and risk δ</a:t>
                      </a:r>
                    </a:p>
                  </a:txBody>
                  <a:tcPr marL="91440" marR="91440" marT="45720" marB="45720">
                    <a:lnR w="9525">
                      <a:solidFill>
                        <a:srgbClr val="CAD4DA"/>
                      </a:solidFill>
                      <a:prstDash val="solid"/>
                    </a:lnR>
                    <a:lnB w="9525">
                      <a:solidFill>
                        <a:srgbClr val="CAD4DA"/>
                      </a:solidFill>
                      <a:prstDash val="solid"/>
                    </a:lnB>
                  </a:tcPr>
                </a:tc>
              </a:tr>
              <a:tr h="742950">
                <a:tc>
                  <a:txBody>
                    <a:bodyPr/>
                    <a:lstStyle/>
                    <a:p>
                      <a:r>
                        <a:t>Recommend x</a:t>
                      </a:r>
                    </a:p>
                  </a:txBody>
                  <a:tcPr marL="91440" marR="91440" marT="45720" marB="45720">
                    <a:lnL w="9525">
                      <a:solidFill>
                        <a:srgbClr val="CAD4DA"/>
                      </a:solidFill>
                      <a:prstDash val="solid"/>
                    </a:lnL>
                    <a:lnR w="9525">
                      <a:solidFill>
                        <a:srgbClr val="CAD4DA"/>
                      </a:solidFill>
                      <a:prstDash val="solid"/>
                    </a:lnR>
                    <a:lnB w="9525">
                      <a:solidFill>
                        <a:srgbClr val="CAD4DA"/>
                      </a:solidFill>
                      <a:prstDash val="solid"/>
                    </a:lnB>
                  </a:tcPr>
                </a:tc>
                <a:tc>
                  <a:txBody>
                    <a:bodyPr/>
                    <a:lstStyle/>
                    <a:p>
                      <a:r>
                        <a:t>x hat = arg max μ(x), or best observed x</a:t>
                      </a:r>
                    </a:p>
                  </a:txBody>
                  <a:tcPr marL="91440" marR="91440" marT="45720" marB="45720">
                    <a:lnR w="9525">
                      <a:solidFill>
                        <a:srgbClr val="CAD4DA"/>
                      </a:solidFill>
                      <a:prstDash val="solid"/>
                    </a:lnR>
                    <a:lnB w="9525">
                      <a:solidFill>
                        <a:srgbClr val="CAD4DA"/>
                      </a:solidFill>
                      <a:prstDash val="solid"/>
                    </a:lnB>
                  </a:tcPr>
                </a:tc>
                <a:tc>
                  <a:txBody>
                    <a:bodyPr/>
                    <a:lstStyle/>
                    <a:p>
                      <a:r>
                        <a:t>Choose the final input after stopping</a:t>
                      </a:r>
                    </a:p>
                  </a:txBody>
                  <a:tcPr marL="91440" marR="91440" marT="45720" marB="45720">
                    <a:lnR w="9525">
                      <a:solidFill>
                        <a:srgbClr val="CAD4DA"/>
                      </a:solidFill>
                      <a:prstDash val="solid"/>
                    </a:lnR>
                    <a:lnB w="9525">
                      <a:solidFill>
                        <a:srgbClr val="CAD4DA"/>
                      </a:solidFill>
                      <a:prstDash val="solid"/>
                    </a:lnB>
                  </a:tcPr>
                </a:tc>
                <a:tc>
                  <a:txBody>
                    <a:bodyPr/>
                    <a:lstStyle/>
                    <a:p>
                      <a:r>
                        <a:t>Must be declared before comparison</a:t>
                      </a:r>
                    </a:p>
                  </a:txBody>
                  <a:tcPr marL="91440" marR="91440" marT="45720" marB="45720">
                    <a:lnR w="9525">
                      <a:solidFill>
                        <a:srgbClr val="CAD4DA"/>
                      </a:solidFill>
                      <a:prstDash val="solid"/>
                    </a:lnR>
                    <a:lnB w="9525">
                      <a:solidFill>
                        <a:srgbClr val="CAD4DA"/>
                      </a:solidFill>
                      <a:prstDash val="solid"/>
                    </a:lnB>
                  </a:tcPr>
                </a:tc>
              </a:tr>
            </a:tbl>
          </a:graphicData>
        </a:graphic>
      </p:graphicFrame>
      <p:sp>
        <p:nvSpPr>
          <p:cNvPr id="4" name="">
            <a:extLst xmlns:a="http://schemas.openxmlformats.org/drawingml/2006/main">
              <a:ext uri="{FF2B5EF4-FFF2-40B4-BE49-F238E27FC236}">
                <a16:creationId xmlns:a16="http://schemas.microsoft.com/office/drawing/2014/main" id="{5381BCC3-9D44-49BC-8EC1-83F4B67C1667}"/>
              </a:ext>
            </a:extLst>
          </p:cNvPr>
          <p:cNvSpPr>
            <a:spLocks xmlns:a="http://schemas.openxmlformats.org/drawingml/2006/main" noGrp="1"/>
          </p:cNvSpPr>
          <p:nvPr/>
        </p:nvSpPr>
        <p:spPr>
          <a:xfrm xmlns:a="http://schemas.openxmlformats.org/drawingml/2006/main">
            <a:off x="742950" y="5238750"/>
            <a:ext cx="3905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275" b="1" i="0">
                <a:solidFill>
                  <a:srgbClr val="0B1F33"/>
                </a:solidFill>
                <a:latin typeface="DejaVu Sans"/>
                <a:ea typeface="DejaVu Sans"/>
                <a:cs typeface="DejaVu Sans"/>
              </a:defRPr>
            </a:defPPr>
          </a:lstStyle>
          <a:p xmlns:a="http://schemas.openxmlformats.org/drawingml/2006/main">
            <a:pPr algn="l">
              <a:defRPr sz="1275" b="1" i="0">
                <a:solidFill>
                  <a:srgbClr val="0B1F33"/>
                </a:solidFill>
                <a:latin typeface="DejaVu Sans"/>
                <a:ea typeface="DejaVu Sans"/>
                <a:cs typeface="DejaVu Sans"/>
              </a:defRPr>
            </a:pPr>
            <a:r>
              <a:rPr sz="1275" b="1" i="0">
                <a:solidFill>
                  <a:srgbClr val="0B1F33"/>
                </a:solidFill>
                <a:latin typeface="DejaVu Sans"/>
                <a:ea typeface="DejaVu Sans"/>
                <a:cs typeface="DejaVu Sans"/>
              </a:rPr>
              <a:t>Two candidates under UCB with κ = 2</a:t>
            </a:r>
          </a:p>
        </p:txBody>
      </p:sp>
      <p:sp>
        <p:nvSpPr>
          <p:cNvPr id="5" name="">
            <a:extLst xmlns:a="http://schemas.openxmlformats.org/drawingml/2006/main">
              <a:ext uri="{FF2B5EF4-FFF2-40B4-BE49-F238E27FC236}">
                <a16:creationId xmlns:a16="http://schemas.microsoft.com/office/drawing/2014/main" id="{09D71C1F-3E8C-42D6-94FF-9FC7D958AC29}"/>
              </a:ext>
            </a:extLst>
          </p:cNvPr>
          <p:cNvSpPr>
            <a:spLocks xmlns:a="http://schemas.openxmlformats.org/drawingml/2006/main" noGrp="1"/>
          </p:cNvSpPr>
          <p:nvPr/>
        </p:nvSpPr>
        <p:spPr>
          <a:xfrm xmlns:a="http://schemas.openxmlformats.org/drawingml/2006/main">
            <a:off x="762000" y="5638800"/>
            <a:ext cx="4000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350" b="0" i="0">
                <a:solidFill>
                  <a:srgbClr val="5E6A72"/>
                </a:solidFill>
                <a:latin typeface="DejaVu Sans"/>
                <a:ea typeface="DejaVu Sans"/>
                <a:cs typeface="DejaVu Sans"/>
              </a:defRPr>
            </a:defPPr>
          </a:lstStyle>
          <a:p xmlns:a="http://schemas.openxmlformats.org/drawingml/2006/main">
            <a:pPr algn="l">
              <a:defRPr sz="1350" b="0" i="0">
                <a:solidFill>
                  <a:srgbClr val="5E6A72"/>
                </a:solidFill>
                <a:latin typeface="DejaVu Sans"/>
                <a:ea typeface="DejaVu Sans"/>
                <a:cs typeface="DejaVu Sans"/>
              </a:defRPr>
            </a:pPr>
            <a:r>
              <a:rPr sz="1350" b="0" i="0">
                <a:solidFill>
                  <a:srgbClr val="5E6A72"/>
                </a:solidFill>
                <a:latin typeface="DejaVu Sans"/>
                <a:ea typeface="DejaVu Sans"/>
                <a:cs typeface="DejaVu Sans"/>
              </a:rPr>
              <a:t>A: μ = 0.72, σ = 0.06, UCB = 0.84</a:t>
            </a:r>
          </a:p>
        </p:txBody>
      </p:sp>
      <p:sp>
        <p:nvSpPr>
          <p:cNvPr id="6" name="">
            <a:extLst xmlns:a="http://schemas.openxmlformats.org/drawingml/2006/main">
              <a:ext uri="{FF2B5EF4-FFF2-40B4-BE49-F238E27FC236}">
                <a16:creationId xmlns:a16="http://schemas.microsoft.com/office/drawing/2014/main" id="{93D041E3-F2BE-4155-9C89-BFFB95339E7A}"/>
              </a:ext>
            </a:extLst>
          </p:cNvPr>
          <p:cNvSpPr>
            <a:spLocks xmlns:a="http://schemas.openxmlformats.org/drawingml/2006/main" noGrp="1"/>
          </p:cNvSpPr>
          <p:nvPr/>
        </p:nvSpPr>
        <p:spPr>
          <a:xfrm xmlns:a="http://schemas.openxmlformats.org/drawingml/2006/main">
            <a:off x="762000" y="6000750"/>
            <a:ext cx="4000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350" b="1" i="0">
                <a:solidFill>
                  <a:srgbClr val="3A6EA5"/>
                </a:solidFill>
                <a:latin typeface="DejaVu Sans"/>
                <a:ea typeface="DejaVu Sans"/>
                <a:cs typeface="DejaVu Sans"/>
              </a:defRPr>
            </a:defPPr>
          </a:lstStyle>
          <a:p xmlns:a="http://schemas.openxmlformats.org/drawingml/2006/main">
            <a:pPr algn="l">
              <a:defRPr sz="1350" b="1" i="0">
                <a:solidFill>
                  <a:srgbClr val="3A6EA5"/>
                </a:solidFill>
                <a:latin typeface="DejaVu Sans"/>
                <a:ea typeface="DejaVu Sans"/>
                <a:cs typeface="DejaVu Sans"/>
              </a:defRPr>
            </a:pPr>
            <a:r>
              <a:rPr sz="1350" b="1" i="0">
                <a:solidFill>
                  <a:srgbClr val="3A6EA5"/>
                </a:solidFill>
                <a:latin typeface="DejaVu Sans"/>
                <a:ea typeface="DejaVu Sans"/>
                <a:cs typeface="DejaVu Sans"/>
              </a:rPr>
              <a:t>B: μ = 0.65, σ = 0.20, UCB = 1.05</a:t>
            </a:r>
          </a:p>
        </p:txBody>
      </p:sp>
      <p:sp>
        <p:nvSpPr>
          <p:cNvPr id="7" name="">
            <a:extLst xmlns:a="http://schemas.openxmlformats.org/drawingml/2006/main">
              <a:ext uri="{FF2B5EF4-FFF2-40B4-BE49-F238E27FC236}">
                <a16:creationId xmlns:a16="http://schemas.microsoft.com/office/drawing/2014/main" id="{036121CD-9A3E-4626-A98E-7AD706509ACC}"/>
              </a:ext>
            </a:extLst>
          </p:cNvPr>
          <p:cNvSpPr>
            <a:spLocks xmlns:a="http://schemas.openxmlformats.org/drawingml/2006/main" noGrp="1"/>
          </p:cNvSpPr>
          <p:nvPr/>
        </p:nvSpPr>
        <p:spPr>
          <a:xfrm xmlns:a="http://schemas.openxmlformats.org/drawingml/2006/main">
            <a:off x="5334000" y="5381625"/>
            <a:ext cx="58102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650" b="1" i="0">
                <a:solidFill>
                  <a:srgbClr val="132735"/>
                </a:solidFill>
                <a:latin typeface="DejaVu Sans"/>
                <a:ea typeface="DejaVu Sans"/>
                <a:cs typeface="DejaVu Sans"/>
              </a:defRPr>
            </a:defPPr>
          </a:lstStyle>
          <a:p xmlns:a="http://schemas.openxmlformats.org/drawingml/2006/main">
            <a:pPr algn="ctr">
              <a:defRPr sz="1650" b="1" i="0">
                <a:solidFill>
                  <a:srgbClr val="132735"/>
                </a:solidFill>
                <a:latin typeface="DejaVu Sans"/>
                <a:ea typeface="DejaVu Sans"/>
                <a:cs typeface="DejaVu Sans"/>
              </a:defRPr>
            </a:pPr>
            <a:r>
              <a:rPr sz="1650" b="1" i="0">
                <a:solidFill>
                  <a:srgbClr val="132735"/>
                </a:solidFill>
                <a:latin typeface="DejaVu Sans"/>
                <a:ea typeface="DejaVu Sans"/>
                <a:cs typeface="DejaVu Sans"/>
              </a:rPr>
              <a:t>UCB selects B for the next experiment. A stopping rule may still decide that neither experiment is worth its cost.</a:t>
            </a:r>
          </a:p>
        </p:txBody>
      </p:sp>
      <p:sp>
        <p:nvSpPr>
          <p:cNvPr id="8" name="">
            <a:extLst xmlns:a="http://schemas.openxmlformats.org/drawingml/2006/main">
              <a:ext uri="{FF2B5EF4-FFF2-40B4-BE49-F238E27FC236}">
                <a16:creationId xmlns:a16="http://schemas.microsoft.com/office/drawing/2014/main" id="{C8D5EAB3-EE1D-44C8-8232-00F657B3CA69}"/>
              </a:ext>
            </a:extLst>
          </p:cNvPr>
          <p:cNvSpPr>
            <a:spLocks xmlns:a="http://schemas.openxmlformats.org/drawingml/2006/main" noGrp="1"/>
          </p:cNvSpPr>
          <p:nvPr/>
        </p:nvSpPr>
        <p:spPr>
          <a:xfrm xmlns:a="http://schemas.openxmlformats.org/drawingml/2006/main">
            <a:off x="685800" y="6477000"/>
            <a:ext cx="9810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675" b="0" i="0">
                <a:solidFill>
                  <a:srgbClr val="71808A"/>
                </a:solidFill>
                <a:latin typeface="DejaVu Sans"/>
                <a:ea typeface="DejaVu Sans"/>
                <a:cs typeface="DejaVu Sans"/>
              </a:defRPr>
            </a:defPPr>
          </a:lstStyle>
          <a:p xmlns:a="http://schemas.openxmlformats.org/drawingml/2006/main">
            <a:pPr algn="l">
              <a:defRPr sz="675" b="0" i="0">
                <a:solidFill>
                  <a:srgbClr val="71808A"/>
                </a:solidFill>
                <a:latin typeface="DejaVu Sans"/>
                <a:ea typeface="DejaVu Sans"/>
                <a:cs typeface="DejaVu Sans"/>
              </a:defRPr>
            </a:pPr>
            <a:r>
              <a:rPr sz="675" b="0" i="0">
                <a:solidFill>
                  <a:srgbClr val="71808A"/>
                </a:solidFill>
                <a:latin typeface="DejaVu Sans"/>
                <a:ea typeface="DejaVu Sans"/>
                <a:cs typeface="DejaVu Sans"/>
              </a:rPr>
              <a:t>Jones et al. 1998; Srinivas et al. 2010; Wilson 2024</a:t>
            </a:r>
          </a:p>
        </p:txBody>
      </p:sp>
      <p:sp>
        <p:nvSpPr>
          <p:cNvPr id="9" name="">
            <a:extLst xmlns:a="http://schemas.openxmlformats.org/drawingml/2006/main">
              <a:ext uri="{FF2B5EF4-FFF2-40B4-BE49-F238E27FC236}">
                <a16:creationId xmlns:a16="http://schemas.microsoft.com/office/drawing/2014/main" id="{B761EBB8-DC15-40CC-AA8D-759DECD06C43}"/>
              </a:ext>
            </a:extLst>
          </p:cNvPr>
          <p:cNvSpPr>
            <a:spLocks xmlns:a="http://schemas.openxmlformats.org/drawingml/2006/main" noGrp="1"/>
          </p:cNvSpPr>
          <p:nvPr/>
        </p:nvSpPr>
        <p:spPr>
          <a:xfrm xmlns:a="http://schemas.openxmlformats.org/drawingml/2006/main">
            <a:off x="11001375" y="6429375"/>
            <a:ext cx="495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825" b="1" i="0">
                <a:solidFill>
                  <a:srgbClr val="71808A"/>
                </a:solidFill>
                <a:latin typeface="DejaVu Sans"/>
                <a:ea typeface="DejaVu Sans"/>
                <a:cs typeface="DejaVu Sans"/>
              </a:defRPr>
            </a:defPPr>
          </a:lstStyle>
          <a:p xmlns:a="http://schemas.openxmlformats.org/drawingml/2006/main">
            <a:pPr algn="r">
              <a:defRPr sz="825" b="1" i="0">
                <a:solidFill>
                  <a:srgbClr val="71808A"/>
                </a:solidFill>
                <a:latin typeface="DejaVu Sans"/>
                <a:ea typeface="DejaVu Sans"/>
                <a:cs typeface="DejaVu Sans"/>
              </a:defRPr>
            </a:pPr>
            <a:r>
              <a:rPr sz="825" b="1" i="0">
                <a:solidFill>
                  <a:srgbClr val="71808A"/>
                </a:solidFill>
                <a:latin typeface="DejaVu Sans"/>
                <a:ea typeface="DejaVu Sans"/>
                <a:cs typeface="DejaVu Sans"/>
              </a:rPr>
              <a:t>05</a:t>
            </a:r>
          </a:p>
        </p:txBody>
      </p:sp>
    </p:spTree>
    <p:extLst>
      <p:ext uri="{BB962C8B-B14F-4D97-AF65-F5344CB8AC3E}">
        <p14:creationId xmlns:p14="http://schemas.microsoft.com/office/powerpoint/2010/main" val="212882538"/>
      </p:ext>
    </p:extLst>
  </p:cSld>
</p:sld>
</file>

<file path=ppt/slides/slide6.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cxnSp>
        <p:nvCxnSpPr>
          <p:cNvPr id="26" name="">
            <a:extLst xmlns:a="http://schemas.openxmlformats.org/drawingml/2006/main">
              <a:ext uri="{FF2B5EF4-FFF2-40B4-BE49-F238E27FC236}">
                <a16:creationId xmlns:a16="http://schemas.microsoft.com/office/drawing/2014/main" id="{3168CC33-C9EB-4485-AD94-FD10018B710B}"/>
              </a:ext>
            </a:extLst>
          </p:cNvPr>
          <p:cNvCxnSpPr>
            <a:stCxn xmlns:a="http://schemas.openxmlformats.org/drawingml/2006/main" id="17" idx="3"/>
            <a:endCxn xmlns:a="http://schemas.openxmlformats.org/drawingml/2006/main" id="22" idx="1"/>
          </p:cNvCxnSpPr>
          <p:nvPr/>
        </p:nvCxnSpPr>
        <p:spPr>
          <a:xfrm xmlns:a="http://schemas.openxmlformats.org/drawingml/2006/main">
            <a:off x="9563100" y="4881563"/>
            <a:ext cx="209550" cy="0"/>
          </a:xfrm>
          <a:prstGeom xmlns:a="http://schemas.openxmlformats.org/drawingml/2006/main" prst="straightConnector1">
            <a:avLst/>
          </a:prstGeom>
          <a:ln xmlns:a="http://schemas.openxmlformats.org/drawingml/2006/main" w="14288">
            <a:solidFill>
              <a:srgbClr val="3A6EA5"/>
            </a:solidFill>
            <a:prstDash val="solid"/>
            <a:tailEnd type="arrow" w="sm" len="sm"/>
          </a:ln>
        </p:spPr>
      </p:cxnSp>
      <p:cxnSp>
        <p:nvCxnSpPr>
          <p:cNvPr id="21" name="">
            <a:extLst xmlns:a="http://schemas.openxmlformats.org/drawingml/2006/main">
              <a:ext uri="{FF2B5EF4-FFF2-40B4-BE49-F238E27FC236}">
                <a16:creationId xmlns:a16="http://schemas.microsoft.com/office/drawing/2014/main" id="{70643C41-0F48-49A1-BC12-387791C9E22E}"/>
              </a:ext>
            </a:extLst>
          </p:cNvPr>
          <p:cNvCxnSpPr>
            <a:stCxn xmlns:a="http://schemas.openxmlformats.org/drawingml/2006/main" id="12" idx="3"/>
            <a:endCxn xmlns:a="http://schemas.openxmlformats.org/drawingml/2006/main" id="17" idx="1"/>
          </p:cNvCxnSpPr>
          <p:nvPr/>
        </p:nvCxnSpPr>
        <p:spPr>
          <a:xfrm xmlns:a="http://schemas.openxmlformats.org/drawingml/2006/main">
            <a:off x="7696200" y="4881563"/>
            <a:ext cx="209550" cy="0"/>
          </a:xfrm>
          <a:prstGeom xmlns:a="http://schemas.openxmlformats.org/drawingml/2006/main" prst="straightConnector1">
            <a:avLst/>
          </a:prstGeom>
          <a:ln xmlns:a="http://schemas.openxmlformats.org/drawingml/2006/main" w="14288">
            <a:solidFill>
              <a:srgbClr val="3A6EA5"/>
            </a:solidFill>
            <a:prstDash val="solid"/>
            <a:tailEnd type="arrow" w="sm" len="sm"/>
          </a:ln>
        </p:spPr>
      </p:cxnSp>
      <p:cxnSp>
        <p:nvCxnSpPr>
          <p:cNvPr id="16" name="">
            <a:extLst xmlns:a="http://schemas.openxmlformats.org/drawingml/2006/main">
              <a:ext uri="{FF2B5EF4-FFF2-40B4-BE49-F238E27FC236}">
                <a16:creationId xmlns:a16="http://schemas.microsoft.com/office/drawing/2014/main" id="{62702E9A-95F0-481F-AB0E-95452A62D93C}"/>
              </a:ext>
            </a:extLst>
          </p:cNvPr>
          <p:cNvCxnSpPr>
            <a:stCxn xmlns:a="http://schemas.openxmlformats.org/drawingml/2006/main" id="8" idx="3"/>
            <a:endCxn xmlns:a="http://schemas.openxmlformats.org/drawingml/2006/main" id="12" idx="1"/>
          </p:cNvCxnSpPr>
          <p:nvPr/>
        </p:nvCxnSpPr>
        <p:spPr>
          <a:xfrm xmlns:a="http://schemas.openxmlformats.org/drawingml/2006/main">
            <a:off x="5829300" y="4881563"/>
            <a:ext cx="209550" cy="0"/>
          </a:xfrm>
          <a:prstGeom xmlns:a="http://schemas.openxmlformats.org/drawingml/2006/main" prst="straightConnector1">
            <a:avLst/>
          </a:prstGeom>
          <a:ln xmlns:a="http://schemas.openxmlformats.org/drawingml/2006/main" w="14288">
            <a:solidFill>
              <a:srgbClr val="3A6EA5"/>
            </a:solidFill>
            <a:prstDash val="solid"/>
            <a:tailEnd type="arrow" w="sm" len="sm"/>
          </a:ln>
        </p:spPr>
      </p:cxnSp>
      <p:sp>
        <p:nvSpPr>
          <p:cNvPr id="30" name="slide-title">
            <a:extLst xmlns:a="http://schemas.openxmlformats.org/drawingml/2006/main">
              <a:ext uri="{FF2B5EF4-FFF2-40B4-BE49-F238E27FC236}">
                <a16:creationId xmlns:a16="http://schemas.microsoft.com/office/drawing/2014/main" id="{AA2D2E11-5DC3-4BFA-97F7-5F6A32233272}"/>
              </a:ext>
            </a:extLst>
          </p:cNvPr>
          <p:cNvSpPr>
            <a:spLocks xmlns:a="http://schemas.openxmlformats.org/drawingml/2006/main" noGrp="1"/>
          </p:cNvSpPr>
          <p:nvPr/>
        </p:nvSpPr>
        <p:spPr>
          <a:xfrm xmlns:a="http://schemas.openxmlformats.org/drawingml/2006/main">
            <a:off x="685800" y="419100"/>
            <a:ext cx="10382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550" b="1" i="0">
                <a:solidFill>
                  <a:srgbClr val="0B1F33"/>
                </a:solidFill>
                <a:latin typeface="DejaVu Sans"/>
                <a:ea typeface="DejaVu Sans"/>
                <a:cs typeface="DejaVu Sans"/>
              </a:defRPr>
            </a:defPPr>
          </a:lstStyle>
          <a:p xmlns:a="http://schemas.openxmlformats.org/drawingml/2006/main">
            <a:pPr algn="l">
              <a:defRPr sz="2550" b="1" i="0">
                <a:solidFill>
                  <a:srgbClr val="0B1F33"/>
                </a:solidFill>
                <a:latin typeface="DejaVu Sans"/>
                <a:ea typeface="DejaVu Sans"/>
                <a:cs typeface="DejaVu Sans"/>
              </a:defRPr>
            </a:pPr>
            <a:r>
              <a:rPr sz="2550" b="1" i="0">
                <a:solidFill>
                  <a:srgbClr val="0B1F33"/>
                </a:solidFill>
                <a:latin typeface="DejaVu Sans"/>
                <a:ea typeface="DejaVu Sans"/>
                <a:cs typeface="DejaVu Sans"/>
              </a:rPr>
              <a:t>One BO iteration with simple numbers</a:t>
            </a:r>
          </a:p>
        </p:txBody>
      </p:sp>
      <p:sp>
        <p:nvSpPr>
          <p:cNvPr id="2" name="slide-subtitle">
            <a:extLst xmlns:a="http://schemas.openxmlformats.org/drawingml/2006/main">
              <a:ext uri="{FF2B5EF4-FFF2-40B4-BE49-F238E27FC236}">
                <a16:creationId xmlns:a16="http://schemas.microsoft.com/office/drawing/2014/main" id="{973EC684-5544-43C4-B26D-AB1871980C6B}"/>
              </a:ext>
            </a:extLst>
          </p:cNvPr>
          <p:cNvSpPr>
            <a:spLocks xmlns:a="http://schemas.openxmlformats.org/drawingml/2006/main" noGrp="1"/>
          </p:cNvSpPr>
          <p:nvPr/>
        </p:nvSpPr>
        <p:spPr>
          <a:xfrm xmlns:a="http://schemas.openxmlformats.org/drawingml/2006/main">
            <a:off x="704850" y="990600"/>
            <a:ext cx="1028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275" b="0" i="0">
                <a:solidFill>
                  <a:srgbClr val="5E6A72"/>
                </a:solidFill>
                <a:latin typeface="DejaVu Sans"/>
                <a:ea typeface="DejaVu Sans"/>
                <a:cs typeface="DejaVu Sans"/>
              </a:defRPr>
            </a:defPPr>
          </a:lstStyle>
          <a:p xmlns:a="http://schemas.openxmlformats.org/drawingml/2006/main">
            <a:pPr algn="l">
              <a:defRPr sz="1275" b="0" i="0">
                <a:solidFill>
                  <a:srgbClr val="5E6A72"/>
                </a:solidFill>
                <a:latin typeface="DejaVu Sans"/>
                <a:ea typeface="DejaVu Sans"/>
                <a:cs typeface="DejaVu Sans"/>
              </a:defRPr>
            </a:pPr>
            <a:r>
              <a:rPr sz="1275" b="0" i="0">
                <a:solidFill>
                  <a:srgbClr val="5E6A72"/>
                </a:solidFill>
                <a:latin typeface="DejaVu Sans"/>
                <a:ea typeface="DejaVu Sans"/>
                <a:cs typeface="DejaVu Sans"/>
              </a:rPr>
              <a:t>A chemistry example shows how mean and uncertainty compete</a:t>
            </a:r>
          </a:p>
        </p:txBody>
      </p:sp>
      <p:sp>
        <p:nvSpPr>
          <p:cNvPr id="3" name="">
            <a:extLst xmlns:a="http://schemas.openxmlformats.org/drawingml/2006/main">
              <a:ext uri="{FF2B5EF4-FFF2-40B4-BE49-F238E27FC236}">
                <a16:creationId xmlns:a16="http://schemas.microsoft.com/office/drawing/2014/main" id="{F4F997C8-2B74-4A64-A146-03D13C339CA5}"/>
              </a:ext>
            </a:extLst>
          </p:cNvPr>
          <p:cNvSpPr>
            <a:spLocks xmlns:a="http://schemas.openxmlformats.org/drawingml/2006/main" noGrp="1"/>
          </p:cNvSpPr>
          <p:nvPr/>
        </p:nvSpPr>
        <p:spPr>
          <a:xfrm xmlns:a="http://schemas.openxmlformats.org/drawingml/2006/main">
            <a:off x="685800" y="1476375"/>
            <a:ext cx="3333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350" b="1" i="0">
                <a:solidFill>
                  <a:srgbClr val="238A7A"/>
                </a:solidFill>
                <a:latin typeface="DejaVu Sans"/>
                <a:ea typeface="DejaVu Sans"/>
                <a:cs typeface="DejaVu Sans"/>
              </a:defRPr>
            </a:defPPr>
          </a:lstStyle>
          <a:p xmlns:a="http://schemas.openxmlformats.org/drawingml/2006/main">
            <a:pPr algn="l">
              <a:defRPr sz="1350" b="1" i="0">
                <a:solidFill>
                  <a:srgbClr val="238A7A"/>
                </a:solidFill>
                <a:latin typeface="DejaVu Sans"/>
                <a:ea typeface="DejaVu Sans"/>
                <a:cs typeface="DejaVu Sans"/>
              </a:defRPr>
            </a:pPr>
            <a:r>
              <a:rPr sz="1350" b="1" i="0">
                <a:solidFill>
                  <a:srgbClr val="238A7A"/>
                </a:solidFill>
                <a:latin typeface="DejaVu Sans"/>
                <a:ea typeface="DejaVu Sans"/>
                <a:cs typeface="DejaVu Sans"/>
              </a:rPr>
              <a:t>Observed reaction yields</a:t>
            </a:r>
          </a:p>
        </p:txBody>
      </p:sp>
      <p:graphicFrame>
        <p:nvGraphicFramePr>
          <p:cNvPr id="4" name="">
            <a:extLst xmlns:a="http://schemas.openxmlformats.org/drawingml/2006/main">
              <a:ext uri="{FF2B5EF4-FFF2-40B4-BE49-F238E27FC236}">
                <a16:creationId xmlns:a16="http://schemas.microsoft.com/office/drawing/2014/main" id="{5480EFE7-6A82-4665-A430-783DD8ED5D3E}"/>
              </a:ext>
            </a:extLst>
          </p:cNvPr>
          <p:cNvGraphicFramePr/>
          <p:nvPr/>
        </p:nvGraphicFramePr>
        <p:xfrm>
          <a:off xmlns:a="http://schemas.openxmlformats.org/drawingml/2006/main" x="704850" y="1952625"/>
          <a:ext xmlns:a="http://schemas.openxmlformats.org/drawingml/2006/main" cx="3048000" cy="2095500"/>
        </p:xfrm>
        <a:graphic xmlns:a="http://schemas.openxmlformats.org/drawingml/2006/main">
          <a:graphicData uri="http://schemas.openxmlformats.org/drawingml/2006/table">
            <a:tbl>
              <a:tblPr/>
              <a:tblGrid>
                <a:gridCol w="1476375"/>
                <a:gridCol w="1571625"/>
              </a:tblGrid>
              <a:tr h="457200">
                <a:tc>
                  <a:txBody>
                    <a:bodyPr/>
                    <a:lstStyle/>
                    <a:p>
                      <a:r>
                        <a:t>Temp.</a:t>
                      </a:r>
                    </a:p>
                  </a:txBody>
                  <a:tcPr marL="91440" marR="91440" marT="45720" marB="45720">
                    <a:lnL w="9525">
                      <a:solidFill>
                        <a:srgbClr val="CAD4DA"/>
                      </a:solidFill>
                      <a:prstDash val="solid"/>
                    </a:lnL>
                    <a:lnR w="9525">
                      <a:solidFill>
                        <a:srgbClr val="CAD4DA"/>
                      </a:solidFill>
                      <a:prstDash val="solid"/>
                    </a:lnR>
                    <a:lnT w="9525">
                      <a:solidFill>
                        <a:srgbClr val="CAD4DA"/>
                      </a:solidFill>
                      <a:prstDash val="solid"/>
                    </a:lnT>
                    <a:lnB w="9525">
                      <a:solidFill>
                        <a:srgbClr val="CAD4DA"/>
                      </a:solidFill>
                      <a:prstDash val="solid"/>
                    </a:lnB>
                  </a:tcPr>
                </a:tc>
                <a:tc>
                  <a:txBody>
                    <a:bodyPr/>
                    <a:lstStyle/>
                    <a:p>
                      <a:r>
                        <a:t>Yield</a:t>
                      </a:r>
                    </a:p>
                  </a:txBody>
                  <a:tcPr marL="91440" marR="91440" marT="45720" marB="45720">
                    <a:lnR w="9525">
                      <a:solidFill>
                        <a:srgbClr val="CAD4DA"/>
                      </a:solidFill>
                      <a:prstDash val="solid"/>
                    </a:lnR>
                    <a:lnT w="9525">
                      <a:solidFill>
                        <a:srgbClr val="CAD4DA"/>
                      </a:solidFill>
                      <a:prstDash val="solid"/>
                    </a:lnT>
                    <a:lnB w="9525">
                      <a:solidFill>
                        <a:srgbClr val="CAD4DA"/>
                      </a:solidFill>
                      <a:prstDash val="solid"/>
                    </a:lnB>
                  </a:tcPr>
                </a:tc>
              </a:tr>
              <a:tr h="542925">
                <a:tc>
                  <a:txBody>
                    <a:bodyPr/>
                    <a:lstStyle/>
                    <a:p>
                      <a:r>
                        <a:t>40°C</a:t>
                      </a:r>
                    </a:p>
                  </a:txBody>
                  <a:tcPr marL="91440" marR="91440" marT="45720" marB="45720">
                    <a:lnL w="9525">
                      <a:solidFill>
                        <a:srgbClr val="CAD4DA"/>
                      </a:solidFill>
                      <a:prstDash val="solid"/>
                    </a:lnL>
                    <a:lnR w="9525">
                      <a:solidFill>
                        <a:srgbClr val="CAD4DA"/>
                      </a:solidFill>
                      <a:prstDash val="solid"/>
                    </a:lnR>
                    <a:lnB w="9525">
                      <a:solidFill>
                        <a:srgbClr val="CAD4DA"/>
                      </a:solidFill>
                      <a:prstDash val="solid"/>
                    </a:lnB>
                  </a:tcPr>
                </a:tc>
                <a:tc>
                  <a:txBody>
                    <a:bodyPr/>
                    <a:lstStyle/>
                    <a:p>
                      <a:r>
                        <a:t>0.31</a:t>
                      </a:r>
                    </a:p>
                  </a:txBody>
                  <a:tcPr marL="91440" marR="91440" marT="45720" marB="45720">
                    <a:lnR w="9525">
                      <a:solidFill>
                        <a:srgbClr val="CAD4DA"/>
                      </a:solidFill>
                      <a:prstDash val="solid"/>
                    </a:lnR>
                    <a:lnB w="9525">
                      <a:solidFill>
                        <a:srgbClr val="CAD4DA"/>
                      </a:solidFill>
                      <a:prstDash val="solid"/>
                    </a:lnB>
                  </a:tcPr>
                </a:tc>
              </a:tr>
              <a:tr h="542925">
                <a:tc>
                  <a:txBody>
                    <a:bodyPr/>
                    <a:lstStyle/>
                    <a:p>
                      <a:r>
                        <a:t>60°C</a:t>
                      </a:r>
                    </a:p>
                  </a:txBody>
                  <a:tcPr marL="91440" marR="91440" marT="45720" marB="45720">
                    <a:lnL w="9525">
                      <a:solidFill>
                        <a:srgbClr val="CAD4DA"/>
                      </a:solidFill>
                      <a:prstDash val="solid"/>
                    </a:lnL>
                    <a:lnR w="9525">
                      <a:solidFill>
                        <a:srgbClr val="CAD4DA"/>
                      </a:solidFill>
                      <a:prstDash val="solid"/>
                    </a:lnR>
                    <a:lnB w="9525">
                      <a:solidFill>
                        <a:srgbClr val="CAD4DA"/>
                      </a:solidFill>
                      <a:prstDash val="solid"/>
                    </a:lnB>
                  </a:tcPr>
                </a:tc>
                <a:tc>
                  <a:txBody>
                    <a:bodyPr/>
                    <a:lstStyle/>
                    <a:p>
                      <a:r>
                        <a:t>0.72</a:t>
                      </a:r>
                    </a:p>
                  </a:txBody>
                  <a:tcPr marL="91440" marR="91440" marT="45720" marB="45720">
                    <a:lnR w="9525">
                      <a:solidFill>
                        <a:srgbClr val="CAD4DA"/>
                      </a:solidFill>
                      <a:prstDash val="solid"/>
                    </a:lnR>
                    <a:lnB w="9525">
                      <a:solidFill>
                        <a:srgbClr val="CAD4DA"/>
                      </a:solidFill>
                      <a:prstDash val="solid"/>
                    </a:lnB>
                  </a:tcPr>
                </a:tc>
              </a:tr>
              <a:tr h="542925">
                <a:tc>
                  <a:txBody>
                    <a:bodyPr/>
                    <a:lstStyle/>
                    <a:p>
                      <a:r>
                        <a:t>90°C</a:t>
                      </a:r>
                    </a:p>
                  </a:txBody>
                  <a:tcPr marL="91440" marR="91440" marT="45720" marB="45720">
                    <a:lnL w="9525">
                      <a:solidFill>
                        <a:srgbClr val="CAD4DA"/>
                      </a:solidFill>
                      <a:prstDash val="solid"/>
                    </a:lnL>
                    <a:lnR w="9525">
                      <a:solidFill>
                        <a:srgbClr val="CAD4DA"/>
                      </a:solidFill>
                      <a:prstDash val="solid"/>
                    </a:lnR>
                    <a:lnB w="9525">
                      <a:solidFill>
                        <a:srgbClr val="CAD4DA"/>
                      </a:solidFill>
                      <a:prstDash val="solid"/>
                    </a:lnB>
                  </a:tcPr>
                </a:tc>
                <a:tc>
                  <a:txBody>
                    <a:bodyPr/>
                    <a:lstStyle/>
                    <a:p>
                      <a:r>
                        <a:t>0.49</a:t>
                      </a:r>
                    </a:p>
                  </a:txBody>
                  <a:tcPr marL="91440" marR="91440" marT="45720" marB="45720">
                    <a:lnR w="9525">
                      <a:solidFill>
                        <a:srgbClr val="CAD4DA"/>
                      </a:solidFill>
                      <a:prstDash val="solid"/>
                    </a:lnR>
                    <a:lnB w="9525">
                      <a:solidFill>
                        <a:srgbClr val="CAD4DA"/>
                      </a:solidFill>
                      <a:prstDash val="solid"/>
                    </a:lnB>
                  </a:tcPr>
                </a:tc>
              </a:tr>
            </a:tbl>
          </a:graphicData>
        </a:graphic>
      </p:graphicFrame>
      <p:sp>
        <p:nvSpPr>
          <p:cNvPr id="5" name="">
            <a:extLst xmlns:a="http://schemas.openxmlformats.org/drawingml/2006/main">
              <a:ext uri="{FF2B5EF4-FFF2-40B4-BE49-F238E27FC236}">
                <a16:creationId xmlns:a16="http://schemas.microsoft.com/office/drawing/2014/main" id="{81A7611B-41DB-4393-AD50-7FEC67F4927A}"/>
              </a:ext>
            </a:extLst>
          </p:cNvPr>
          <p:cNvSpPr>
            <a:spLocks xmlns:a="http://schemas.openxmlformats.org/drawingml/2006/main" noGrp="1"/>
          </p:cNvSpPr>
          <p:nvPr/>
        </p:nvSpPr>
        <p:spPr>
          <a:xfrm xmlns:a="http://schemas.openxmlformats.org/drawingml/2006/main">
            <a:off x="762000" y="4362450"/>
            <a:ext cx="2952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425" b="1" i="0">
                <a:solidFill>
                  <a:srgbClr val="0B1F33"/>
                </a:solidFill>
                <a:latin typeface="DejaVu Sans"/>
                <a:ea typeface="DejaVu Sans"/>
                <a:cs typeface="DejaVu Sans"/>
              </a:defRPr>
            </a:defPPr>
          </a:lstStyle>
          <a:p xmlns:a="http://schemas.openxmlformats.org/drawingml/2006/main">
            <a:pPr algn="ctr">
              <a:defRPr sz="1425" b="1" i="0">
                <a:solidFill>
                  <a:srgbClr val="0B1F33"/>
                </a:solidFill>
                <a:latin typeface="DejaVu Sans"/>
                <a:ea typeface="DejaVu Sans"/>
                <a:cs typeface="DejaVu Sans"/>
              </a:defRPr>
            </a:pPr>
            <a:r>
              <a:rPr sz="1425" b="1" i="0">
                <a:solidFill>
                  <a:srgbClr val="0B1F33"/>
                </a:solidFill>
                <a:latin typeface="DejaVu Sans"/>
                <a:ea typeface="DejaVu Sans"/>
                <a:cs typeface="DejaVu Sans"/>
              </a:rPr>
              <a:t>Current best = 0.72 at 60°C</a:t>
            </a:r>
          </a:p>
        </p:txBody>
      </p:sp>
      <p:sp>
        <p:nvSpPr>
          <p:cNvPr id="6" name="">
            <a:extLst xmlns:a="http://schemas.openxmlformats.org/drawingml/2006/main">
              <a:ext uri="{FF2B5EF4-FFF2-40B4-BE49-F238E27FC236}">
                <a16:creationId xmlns:a16="http://schemas.microsoft.com/office/drawing/2014/main" id="{93ED53B8-2C91-43DC-8ACE-E6AA8255D34A}"/>
              </a:ext>
            </a:extLst>
          </p:cNvPr>
          <p:cNvSpPr>
            <a:spLocks xmlns:a="http://schemas.openxmlformats.org/drawingml/2006/main" noGrp="1"/>
          </p:cNvSpPr>
          <p:nvPr/>
        </p:nvSpPr>
        <p:spPr>
          <a:xfrm xmlns:a="http://schemas.openxmlformats.org/drawingml/2006/main">
            <a:off x="4572000" y="1476375"/>
            <a:ext cx="619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350" b="1" i="0">
                <a:solidFill>
                  <a:srgbClr val="238A7A"/>
                </a:solidFill>
                <a:latin typeface="DejaVu Sans"/>
                <a:ea typeface="DejaVu Sans"/>
                <a:cs typeface="DejaVu Sans"/>
              </a:defRPr>
            </a:defPPr>
          </a:lstStyle>
          <a:p xmlns:a="http://schemas.openxmlformats.org/drawingml/2006/main">
            <a:pPr algn="l">
              <a:defRPr sz="1350" b="1" i="0">
                <a:solidFill>
                  <a:srgbClr val="238A7A"/>
                </a:solidFill>
                <a:latin typeface="DejaVu Sans"/>
                <a:ea typeface="DejaVu Sans"/>
                <a:cs typeface="DejaVu Sans"/>
              </a:defRPr>
            </a:pPr>
            <a:r>
              <a:rPr sz="1350" b="1" i="0">
                <a:solidFill>
                  <a:srgbClr val="238A7A"/>
                </a:solidFill>
                <a:latin typeface="DejaVu Sans"/>
                <a:ea typeface="DejaVu Sans"/>
                <a:cs typeface="DejaVu Sans"/>
              </a:rPr>
              <a:t>GP candidate summaries</a:t>
            </a:r>
          </a:p>
        </p:txBody>
      </p:sp>
      <p:graphicFrame>
        <p:nvGraphicFramePr>
          <p:cNvPr id="7" name="">
            <a:extLst xmlns:a="http://schemas.openxmlformats.org/drawingml/2006/main">
              <a:ext uri="{FF2B5EF4-FFF2-40B4-BE49-F238E27FC236}">
                <a16:creationId xmlns:a16="http://schemas.microsoft.com/office/drawing/2014/main" id="{0EDB057F-D873-4977-98E2-CA56317BD77E}"/>
              </a:ext>
            </a:extLst>
          </p:cNvPr>
          <p:cNvGraphicFramePr/>
          <p:nvPr/>
        </p:nvGraphicFramePr>
        <p:xfrm>
          <a:off xmlns:a="http://schemas.openxmlformats.org/drawingml/2006/main" x="4333875" y="1952625"/>
          <a:ext xmlns:a="http://schemas.openxmlformats.org/drawingml/2006/main" cx="7124700" cy="1619250"/>
        </p:xfrm>
        <a:graphic xmlns:a="http://schemas.openxmlformats.org/drawingml/2006/main">
          <a:graphicData uri="http://schemas.openxmlformats.org/drawingml/2006/table">
            <a:tbl>
              <a:tblPr/>
              <a:tblGrid>
                <a:gridCol w="1238250"/>
                <a:gridCol w="1333500"/>
                <a:gridCol w="1333500"/>
                <a:gridCol w="1524000"/>
                <a:gridCol w="1695450"/>
              </a:tblGrid>
              <a:tr h="495300">
                <a:tc>
                  <a:txBody>
                    <a:bodyPr/>
                    <a:lstStyle/>
                    <a:p>
                      <a:r>
                        <a:t>x</a:t>
                      </a:r>
                    </a:p>
                  </a:txBody>
                  <a:tcPr marL="91440" marR="91440" marT="45720" marB="45720">
                    <a:lnL w="9525">
                      <a:solidFill>
                        <a:srgbClr val="CAD4DA"/>
                      </a:solidFill>
                      <a:prstDash val="solid"/>
                    </a:lnL>
                    <a:lnR w="9525">
                      <a:solidFill>
                        <a:srgbClr val="CAD4DA"/>
                      </a:solidFill>
                      <a:prstDash val="solid"/>
                    </a:lnR>
                    <a:lnT w="9525">
                      <a:solidFill>
                        <a:srgbClr val="CAD4DA"/>
                      </a:solidFill>
                      <a:prstDash val="solid"/>
                    </a:lnT>
                    <a:lnB w="9525">
                      <a:solidFill>
                        <a:srgbClr val="CAD4DA"/>
                      </a:solidFill>
                      <a:prstDash val="solid"/>
                    </a:lnB>
                  </a:tcPr>
                </a:tc>
                <a:tc>
                  <a:txBody>
                    <a:bodyPr/>
                    <a:lstStyle/>
                    <a:p>
                      <a:r>
                        <a:t>μ(x)</a:t>
                      </a:r>
                    </a:p>
                  </a:txBody>
                  <a:tcPr marL="91440" marR="91440" marT="45720" marB="45720">
                    <a:lnR w="9525">
                      <a:solidFill>
                        <a:srgbClr val="CAD4DA"/>
                      </a:solidFill>
                      <a:prstDash val="solid"/>
                    </a:lnR>
                    <a:lnT w="9525">
                      <a:solidFill>
                        <a:srgbClr val="CAD4DA"/>
                      </a:solidFill>
                      <a:prstDash val="solid"/>
                    </a:lnT>
                    <a:lnB w="9525">
                      <a:solidFill>
                        <a:srgbClr val="CAD4DA"/>
                      </a:solidFill>
                      <a:prstDash val="solid"/>
                    </a:lnB>
                  </a:tcPr>
                </a:tc>
                <a:tc>
                  <a:txBody>
                    <a:bodyPr/>
                    <a:lstStyle/>
                    <a:p>
                      <a:r>
                        <a:t>σ(x)</a:t>
                      </a:r>
                    </a:p>
                  </a:txBody>
                  <a:tcPr marL="91440" marR="91440" marT="45720" marB="45720">
                    <a:lnR w="9525">
                      <a:solidFill>
                        <a:srgbClr val="CAD4DA"/>
                      </a:solidFill>
                      <a:prstDash val="solid"/>
                    </a:lnR>
                    <a:lnT w="9525">
                      <a:solidFill>
                        <a:srgbClr val="CAD4DA"/>
                      </a:solidFill>
                      <a:prstDash val="solid"/>
                    </a:lnT>
                    <a:lnB w="9525">
                      <a:solidFill>
                        <a:srgbClr val="CAD4DA"/>
                      </a:solidFill>
                      <a:prstDash val="solid"/>
                    </a:lnB>
                  </a:tcPr>
                </a:tc>
                <a:tc>
                  <a:txBody>
                    <a:bodyPr/>
                    <a:lstStyle/>
                    <a:p>
                      <a:r>
                        <a:t>μ + 2σ</a:t>
                      </a:r>
                    </a:p>
                  </a:txBody>
                  <a:tcPr marL="91440" marR="91440" marT="45720" marB="45720">
                    <a:lnR w="9525">
                      <a:solidFill>
                        <a:srgbClr val="CAD4DA"/>
                      </a:solidFill>
                      <a:prstDash val="solid"/>
                    </a:lnR>
                    <a:lnT w="9525">
                      <a:solidFill>
                        <a:srgbClr val="CAD4DA"/>
                      </a:solidFill>
                      <a:prstDash val="solid"/>
                    </a:lnT>
                    <a:lnB w="9525">
                      <a:solidFill>
                        <a:srgbClr val="CAD4DA"/>
                      </a:solidFill>
                      <a:prstDash val="solid"/>
                    </a:lnB>
                  </a:tcPr>
                </a:tc>
                <a:tc>
                  <a:txBody>
                    <a:bodyPr/>
                    <a:lstStyle/>
                    <a:p>
                      <a:r>
                        <a:t>Action</a:t>
                      </a:r>
                    </a:p>
                  </a:txBody>
                  <a:tcPr marL="91440" marR="91440" marT="45720" marB="45720">
                    <a:lnR w="9525">
                      <a:solidFill>
                        <a:srgbClr val="CAD4DA"/>
                      </a:solidFill>
                      <a:prstDash val="solid"/>
                    </a:lnR>
                    <a:lnT w="9525">
                      <a:solidFill>
                        <a:srgbClr val="CAD4DA"/>
                      </a:solidFill>
                      <a:prstDash val="solid"/>
                    </a:lnT>
                    <a:lnB w="9525">
                      <a:solidFill>
                        <a:srgbClr val="CAD4DA"/>
                      </a:solidFill>
                      <a:prstDash val="solid"/>
                    </a:lnB>
                  </a:tcPr>
                </a:tc>
              </a:tr>
              <a:tr h="561975">
                <a:tc>
                  <a:txBody>
                    <a:bodyPr/>
                    <a:lstStyle/>
                    <a:p>
                      <a:r>
                        <a:t>65°C</a:t>
                      </a:r>
                    </a:p>
                  </a:txBody>
                  <a:tcPr marL="91440" marR="91440" marT="45720" marB="45720">
                    <a:lnL w="9525">
                      <a:solidFill>
                        <a:srgbClr val="CAD4DA"/>
                      </a:solidFill>
                      <a:prstDash val="solid"/>
                    </a:lnL>
                    <a:lnR w="9525">
                      <a:solidFill>
                        <a:srgbClr val="CAD4DA"/>
                      </a:solidFill>
                      <a:prstDash val="solid"/>
                    </a:lnR>
                    <a:lnB w="9525">
                      <a:solidFill>
                        <a:srgbClr val="CAD4DA"/>
                      </a:solidFill>
                      <a:prstDash val="solid"/>
                    </a:lnB>
                  </a:tcPr>
                </a:tc>
                <a:tc>
                  <a:txBody>
                    <a:bodyPr/>
                    <a:lstStyle/>
                    <a:p>
                      <a:r>
                        <a:t>0.74</a:t>
                      </a:r>
                    </a:p>
                  </a:txBody>
                  <a:tcPr marL="91440" marR="91440" marT="45720" marB="45720">
                    <a:lnR w="9525">
                      <a:solidFill>
                        <a:srgbClr val="CAD4DA"/>
                      </a:solidFill>
                      <a:prstDash val="solid"/>
                    </a:lnR>
                    <a:lnB w="9525">
                      <a:solidFill>
                        <a:srgbClr val="CAD4DA"/>
                      </a:solidFill>
                      <a:prstDash val="solid"/>
                    </a:lnB>
                  </a:tcPr>
                </a:tc>
                <a:tc>
                  <a:txBody>
                    <a:bodyPr/>
                    <a:lstStyle/>
                    <a:p>
                      <a:r>
                        <a:t>0.05</a:t>
                      </a:r>
                    </a:p>
                  </a:txBody>
                  <a:tcPr marL="91440" marR="91440" marT="45720" marB="45720">
                    <a:lnR w="9525">
                      <a:solidFill>
                        <a:srgbClr val="CAD4DA"/>
                      </a:solidFill>
                      <a:prstDash val="solid"/>
                    </a:lnR>
                    <a:lnB w="9525">
                      <a:solidFill>
                        <a:srgbClr val="CAD4DA"/>
                      </a:solidFill>
                      <a:prstDash val="solid"/>
                    </a:lnB>
                  </a:tcPr>
                </a:tc>
                <a:tc>
                  <a:txBody>
                    <a:bodyPr/>
                    <a:lstStyle/>
                    <a:p>
                      <a:r>
                        <a:t>0.84</a:t>
                      </a:r>
                    </a:p>
                  </a:txBody>
                  <a:tcPr marL="91440" marR="91440" marT="45720" marB="45720">
                    <a:lnR w="9525">
                      <a:solidFill>
                        <a:srgbClr val="CAD4DA"/>
                      </a:solidFill>
                      <a:prstDash val="solid"/>
                    </a:lnR>
                    <a:lnB w="9525">
                      <a:solidFill>
                        <a:srgbClr val="CAD4DA"/>
                      </a:solidFill>
                      <a:prstDash val="solid"/>
                    </a:lnB>
                  </a:tcPr>
                </a:tc>
                <a:tc>
                  <a:txBody>
                    <a:bodyPr/>
                    <a:lstStyle/>
                    <a:p>
                      <a:r>
                        <a:t>Exploit nearby</a:t>
                      </a:r>
                    </a:p>
                  </a:txBody>
                  <a:tcPr marL="91440" marR="91440" marT="45720" marB="45720">
                    <a:lnR w="9525">
                      <a:solidFill>
                        <a:srgbClr val="CAD4DA"/>
                      </a:solidFill>
                      <a:prstDash val="solid"/>
                    </a:lnR>
                    <a:lnB w="9525">
                      <a:solidFill>
                        <a:srgbClr val="CAD4DA"/>
                      </a:solidFill>
                      <a:prstDash val="solid"/>
                    </a:lnB>
                  </a:tcPr>
                </a:tc>
              </a:tr>
              <a:tr h="561975">
                <a:tc>
                  <a:txBody>
                    <a:bodyPr/>
                    <a:lstStyle/>
                    <a:p>
                      <a:r>
                        <a:rPr b="1"/>
                        <a:t>78°C</a:t>
                      </a:r>
                    </a:p>
                  </a:txBody>
                  <a:tcPr marL="91440" marR="91440" marT="45720" marB="45720">
                    <a:lnL w="9525">
                      <a:solidFill>
                        <a:srgbClr val="CAD4DA"/>
                      </a:solidFill>
                      <a:prstDash val="solid"/>
                    </a:lnL>
                    <a:lnR w="9525">
                      <a:solidFill>
                        <a:srgbClr val="CAD4DA"/>
                      </a:solidFill>
                      <a:prstDash val="solid"/>
                    </a:lnR>
                    <a:lnB w="9525">
                      <a:solidFill>
                        <a:srgbClr val="CAD4DA"/>
                      </a:solidFill>
                      <a:prstDash val="solid"/>
                    </a:lnB>
                    <a:solidFill>
                      <a:srgbClr val="E4F2EE"/>
                    </a:solidFill>
                  </a:tcPr>
                </a:tc>
                <a:tc>
                  <a:txBody>
                    <a:bodyPr/>
                    <a:lstStyle/>
                    <a:p>
                      <a:r>
                        <a:rPr b="1"/>
                        <a:t>0.66</a:t>
                      </a:r>
                    </a:p>
                  </a:txBody>
                  <a:tcPr marL="91440" marR="91440" marT="45720" marB="45720">
                    <a:lnR w="9525">
                      <a:solidFill>
                        <a:srgbClr val="CAD4DA"/>
                      </a:solidFill>
                      <a:prstDash val="solid"/>
                    </a:lnR>
                    <a:lnB w="9525">
                      <a:solidFill>
                        <a:srgbClr val="CAD4DA"/>
                      </a:solidFill>
                      <a:prstDash val="solid"/>
                    </a:lnB>
                    <a:solidFill>
                      <a:srgbClr val="E4F2EE"/>
                    </a:solidFill>
                  </a:tcPr>
                </a:tc>
                <a:tc>
                  <a:txBody>
                    <a:bodyPr/>
                    <a:lstStyle/>
                    <a:p>
                      <a:r>
                        <a:rPr b="1"/>
                        <a:t>0.18</a:t>
                      </a:r>
                    </a:p>
                  </a:txBody>
                  <a:tcPr marL="91440" marR="91440" marT="45720" marB="45720">
                    <a:lnR w="9525">
                      <a:solidFill>
                        <a:srgbClr val="CAD4DA"/>
                      </a:solidFill>
                      <a:prstDash val="solid"/>
                    </a:lnR>
                    <a:lnB w="9525">
                      <a:solidFill>
                        <a:srgbClr val="CAD4DA"/>
                      </a:solidFill>
                      <a:prstDash val="solid"/>
                    </a:lnB>
                    <a:solidFill>
                      <a:srgbClr val="E4F2EE"/>
                    </a:solidFill>
                  </a:tcPr>
                </a:tc>
                <a:tc>
                  <a:txBody>
                    <a:bodyPr/>
                    <a:lstStyle/>
                    <a:p>
                      <a:r>
                        <a:rPr b="1"/>
                        <a:t>1.02</a:t>
                      </a:r>
                    </a:p>
                  </a:txBody>
                  <a:tcPr marL="91440" marR="91440" marT="45720" marB="45720">
                    <a:lnR w="9525">
                      <a:solidFill>
                        <a:srgbClr val="CAD4DA"/>
                      </a:solidFill>
                      <a:prstDash val="solid"/>
                    </a:lnR>
                    <a:lnB w="9525">
                      <a:solidFill>
                        <a:srgbClr val="CAD4DA"/>
                      </a:solidFill>
                      <a:prstDash val="solid"/>
                    </a:lnB>
                    <a:solidFill>
                      <a:srgbClr val="E4F2EE"/>
                    </a:solidFill>
                  </a:tcPr>
                </a:tc>
                <a:tc>
                  <a:txBody>
                    <a:bodyPr/>
                    <a:lstStyle/>
                    <a:p>
                      <a:r>
                        <a:rPr b="1"/>
                        <a:t>Evaluate next</a:t>
                      </a:r>
                    </a:p>
                  </a:txBody>
                  <a:tcPr marL="91440" marR="91440" marT="45720" marB="45720">
                    <a:lnR w="9525">
                      <a:solidFill>
                        <a:srgbClr val="CAD4DA"/>
                      </a:solidFill>
                      <a:prstDash val="solid"/>
                    </a:lnR>
                    <a:lnB w="9525">
                      <a:solidFill>
                        <a:srgbClr val="CAD4DA"/>
                      </a:solidFill>
                      <a:prstDash val="solid"/>
                    </a:lnB>
                    <a:solidFill>
                      <a:srgbClr val="E4F2EE"/>
                    </a:solidFill>
                  </a:tcPr>
                </a:tc>
              </a:tr>
            </a:tbl>
          </a:graphicData>
        </a:graphic>
      </p:graphicFrame>
      <p:sp>
        <p:nvSpPr>
          <p:cNvPr id="8" name="">
            <a:extLst xmlns:a="http://schemas.openxmlformats.org/drawingml/2006/main">
              <a:ext uri="{FF2B5EF4-FFF2-40B4-BE49-F238E27FC236}">
                <a16:creationId xmlns:a16="http://schemas.microsoft.com/office/drawing/2014/main" id="{91410A62-18FC-4920-AB95-8CC84E5119A8}"/>
              </a:ext>
            </a:extLst>
          </p:cNvPr>
          <p:cNvSpPr>
            <a:spLocks xmlns:a="http://schemas.openxmlformats.org/drawingml/2006/main" noGrp="1"/>
          </p:cNvSpPr>
          <p:nvPr/>
        </p:nvSpPr>
        <p:spPr>
          <a:xfrm xmlns:a="http://schemas.openxmlformats.org/drawingml/2006/main">
            <a:off x="4171950" y="4191000"/>
            <a:ext cx="1657350" cy="1381125"/>
          </a:xfrm>
          <a:prstGeom xmlns:a="http://schemas.openxmlformats.org/drawingml/2006/main" prst="roundRect">
            <a:avLst>
              <a:gd name="adj" fmla="val 5517"/>
            </a:avLst>
          </a:prstGeom>
          <a:solidFill xmlns:a="http://schemas.openxmlformats.org/drawingml/2006/main">
            <a:srgbClr val="FFFFFF"/>
          </a:solidFill>
          <a:ln xmlns:a="http://schemas.openxmlformats.org/drawingml/2006/main" w="9525">
            <a:solidFill>
              <a:srgbClr val="CAD4DA"/>
            </a:solidFill>
            <a:prstDash val="solid"/>
          </a:ln>
        </p:spPr>
      </p:sp>
      <p:sp>
        <p:nvSpPr>
          <p:cNvPr id="9" name="">
            <a:extLst xmlns:a="http://schemas.openxmlformats.org/drawingml/2006/main">
              <a:ext uri="{FF2B5EF4-FFF2-40B4-BE49-F238E27FC236}">
                <a16:creationId xmlns:a16="http://schemas.microsoft.com/office/drawing/2014/main" id="{C8D64B57-D66A-4824-9372-AC847F2E2C81}"/>
              </a:ext>
            </a:extLst>
          </p:cNvPr>
          <p:cNvSpPr>
            <a:spLocks xmlns:a="http://schemas.openxmlformats.org/drawingml/2006/main" noGrp="1"/>
          </p:cNvSpPr>
          <p:nvPr/>
        </p:nvSpPr>
        <p:spPr>
          <a:xfrm xmlns:a="http://schemas.openxmlformats.org/drawingml/2006/main">
            <a:off x="4314825" y="4324350"/>
            <a:ext cx="3238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425" b="1" i="0">
                <a:solidFill>
                  <a:srgbClr val="3A6EA5"/>
                </a:solidFill>
                <a:latin typeface="DejaVu Sans"/>
                <a:ea typeface="DejaVu Sans"/>
                <a:cs typeface="DejaVu Sans"/>
              </a:defRPr>
            </a:defPPr>
          </a:lstStyle>
          <a:p xmlns:a="http://schemas.openxmlformats.org/drawingml/2006/main">
            <a:pPr algn="l">
              <a:defRPr sz="1425" b="1" i="0">
                <a:solidFill>
                  <a:srgbClr val="3A6EA5"/>
                </a:solidFill>
                <a:latin typeface="DejaVu Sans"/>
                <a:ea typeface="DejaVu Sans"/>
                <a:cs typeface="DejaVu Sans"/>
              </a:defRPr>
            </a:pPr>
            <a:r>
              <a:rPr sz="1425" b="1" i="0">
                <a:solidFill>
                  <a:srgbClr val="3A6EA5"/>
                </a:solidFill>
                <a:latin typeface="DejaVu Sans"/>
                <a:ea typeface="DejaVu Sans"/>
                <a:cs typeface="DejaVu Sans"/>
              </a:rPr>
              <a:t>1</a:t>
            </a:r>
          </a:p>
        </p:txBody>
      </p:sp>
      <p:sp>
        <p:nvSpPr>
          <p:cNvPr id="10" name="">
            <a:extLst xmlns:a="http://schemas.openxmlformats.org/drawingml/2006/main">
              <a:ext uri="{FF2B5EF4-FFF2-40B4-BE49-F238E27FC236}">
                <a16:creationId xmlns:a16="http://schemas.microsoft.com/office/drawing/2014/main" id="{669FFCE9-BCBB-44FE-89BA-49CFDE3B6C1C}"/>
              </a:ext>
            </a:extLst>
          </p:cNvPr>
          <p:cNvSpPr>
            <a:spLocks xmlns:a="http://schemas.openxmlformats.org/drawingml/2006/main" noGrp="1"/>
          </p:cNvSpPr>
          <p:nvPr/>
        </p:nvSpPr>
        <p:spPr>
          <a:xfrm xmlns:a="http://schemas.openxmlformats.org/drawingml/2006/main">
            <a:off x="4314825" y="4676775"/>
            <a:ext cx="1371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275" b="1" i="0">
                <a:solidFill>
                  <a:srgbClr val="0B1F33"/>
                </a:solidFill>
                <a:latin typeface="DejaVu Sans"/>
                <a:ea typeface="DejaVu Sans"/>
                <a:cs typeface="DejaVu Sans"/>
              </a:defRPr>
            </a:defPPr>
          </a:lstStyle>
          <a:p xmlns:a="http://schemas.openxmlformats.org/drawingml/2006/main">
            <a:pPr algn="ctr">
              <a:defRPr sz="1275" b="1" i="0">
                <a:solidFill>
                  <a:srgbClr val="0B1F33"/>
                </a:solidFill>
                <a:latin typeface="DejaVu Sans"/>
                <a:ea typeface="DejaVu Sans"/>
                <a:cs typeface="DejaVu Sans"/>
              </a:defRPr>
            </a:pPr>
            <a:r>
              <a:rPr sz="1275" b="1" i="0">
                <a:solidFill>
                  <a:srgbClr val="0B1F33"/>
                </a:solidFill>
                <a:latin typeface="DejaVu Sans"/>
                <a:ea typeface="DejaVu Sans"/>
                <a:cs typeface="DejaVu Sans"/>
              </a:rPr>
              <a:t>Select 78°C</a:t>
            </a:r>
          </a:p>
        </p:txBody>
      </p:sp>
      <p:sp>
        <p:nvSpPr>
          <p:cNvPr id="11" name="">
            <a:extLst xmlns:a="http://schemas.openxmlformats.org/drawingml/2006/main">
              <a:ext uri="{FF2B5EF4-FFF2-40B4-BE49-F238E27FC236}">
                <a16:creationId xmlns:a16="http://schemas.microsoft.com/office/drawing/2014/main" id="{A9F89D22-12D5-4370-B715-F98309257543}"/>
              </a:ext>
            </a:extLst>
          </p:cNvPr>
          <p:cNvSpPr>
            <a:spLocks xmlns:a="http://schemas.openxmlformats.org/drawingml/2006/main" noGrp="1"/>
          </p:cNvSpPr>
          <p:nvPr/>
        </p:nvSpPr>
        <p:spPr>
          <a:xfrm xmlns:a="http://schemas.openxmlformats.org/drawingml/2006/main">
            <a:off x="4314825" y="5067300"/>
            <a:ext cx="13716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975" b="0" i="0">
                <a:solidFill>
                  <a:srgbClr val="5E6A72"/>
                </a:solidFill>
                <a:latin typeface="DejaVu Sans"/>
                <a:ea typeface="DejaVu Sans"/>
                <a:cs typeface="DejaVu Sans"/>
              </a:defRPr>
            </a:defPPr>
          </a:lstStyle>
          <a:p xmlns:a="http://schemas.openxmlformats.org/drawingml/2006/main">
            <a:pPr algn="ctr">
              <a:defRPr sz="975" b="0" i="0">
                <a:solidFill>
                  <a:srgbClr val="5E6A72"/>
                </a:solidFill>
                <a:latin typeface="DejaVu Sans"/>
                <a:ea typeface="DejaVu Sans"/>
                <a:cs typeface="DejaVu Sans"/>
              </a:defRPr>
            </a:pPr>
            <a:r>
              <a:rPr sz="975" b="0" i="0">
                <a:solidFill>
                  <a:srgbClr val="5E6A72"/>
                </a:solidFill>
                <a:latin typeface="DejaVu Sans"/>
                <a:ea typeface="DejaVu Sans"/>
                <a:cs typeface="DejaVu Sans"/>
              </a:rPr>
              <a:t>Its lower mean is offset by larger uncertainty</a:t>
            </a:r>
          </a:p>
        </p:txBody>
      </p:sp>
      <p:sp>
        <p:nvSpPr>
          <p:cNvPr id="12" name="">
            <a:extLst xmlns:a="http://schemas.openxmlformats.org/drawingml/2006/main">
              <a:ext uri="{FF2B5EF4-FFF2-40B4-BE49-F238E27FC236}">
                <a16:creationId xmlns:a16="http://schemas.microsoft.com/office/drawing/2014/main" id="{23B7EC7A-E8FC-41A5-90EC-F1E2B2627E6F}"/>
              </a:ext>
            </a:extLst>
          </p:cNvPr>
          <p:cNvSpPr>
            <a:spLocks xmlns:a="http://schemas.openxmlformats.org/drawingml/2006/main" noGrp="1"/>
          </p:cNvSpPr>
          <p:nvPr/>
        </p:nvSpPr>
        <p:spPr>
          <a:xfrm xmlns:a="http://schemas.openxmlformats.org/drawingml/2006/main">
            <a:off x="6038850" y="4191000"/>
            <a:ext cx="1657350" cy="1381125"/>
          </a:xfrm>
          <a:prstGeom xmlns:a="http://schemas.openxmlformats.org/drawingml/2006/main" prst="roundRect">
            <a:avLst>
              <a:gd name="adj" fmla="val 5517"/>
            </a:avLst>
          </a:prstGeom>
          <a:solidFill xmlns:a="http://schemas.openxmlformats.org/drawingml/2006/main">
            <a:srgbClr val="FFFFFF"/>
          </a:solidFill>
          <a:ln xmlns:a="http://schemas.openxmlformats.org/drawingml/2006/main" w="9525">
            <a:solidFill>
              <a:srgbClr val="CAD4DA"/>
            </a:solidFill>
            <a:prstDash val="solid"/>
          </a:ln>
        </p:spPr>
      </p:sp>
      <p:sp>
        <p:nvSpPr>
          <p:cNvPr id="13" name="">
            <a:extLst xmlns:a="http://schemas.openxmlformats.org/drawingml/2006/main">
              <a:ext uri="{FF2B5EF4-FFF2-40B4-BE49-F238E27FC236}">
                <a16:creationId xmlns:a16="http://schemas.microsoft.com/office/drawing/2014/main" id="{7573F47D-5BBE-46AE-BA3D-82E45DC349BF}"/>
              </a:ext>
            </a:extLst>
          </p:cNvPr>
          <p:cNvSpPr>
            <a:spLocks xmlns:a="http://schemas.openxmlformats.org/drawingml/2006/main" noGrp="1"/>
          </p:cNvSpPr>
          <p:nvPr/>
        </p:nvSpPr>
        <p:spPr>
          <a:xfrm xmlns:a="http://schemas.openxmlformats.org/drawingml/2006/main">
            <a:off x="6181725" y="4324350"/>
            <a:ext cx="3238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425" b="1" i="0">
                <a:solidFill>
                  <a:srgbClr val="3A6EA5"/>
                </a:solidFill>
                <a:latin typeface="DejaVu Sans"/>
                <a:ea typeface="DejaVu Sans"/>
                <a:cs typeface="DejaVu Sans"/>
              </a:defRPr>
            </a:defPPr>
          </a:lstStyle>
          <a:p xmlns:a="http://schemas.openxmlformats.org/drawingml/2006/main">
            <a:pPr algn="l">
              <a:defRPr sz="1425" b="1" i="0">
                <a:solidFill>
                  <a:srgbClr val="3A6EA5"/>
                </a:solidFill>
                <a:latin typeface="DejaVu Sans"/>
                <a:ea typeface="DejaVu Sans"/>
                <a:cs typeface="DejaVu Sans"/>
              </a:defRPr>
            </a:pPr>
            <a:r>
              <a:rPr sz="1425" b="1" i="0">
                <a:solidFill>
                  <a:srgbClr val="3A6EA5"/>
                </a:solidFill>
                <a:latin typeface="DejaVu Sans"/>
                <a:ea typeface="DejaVu Sans"/>
                <a:cs typeface="DejaVu Sans"/>
              </a:rPr>
              <a:t>2</a:t>
            </a:r>
          </a:p>
        </p:txBody>
      </p:sp>
      <p:sp>
        <p:nvSpPr>
          <p:cNvPr id="14" name="">
            <a:extLst xmlns:a="http://schemas.openxmlformats.org/drawingml/2006/main">
              <a:ext uri="{FF2B5EF4-FFF2-40B4-BE49-F238E27FC236}">
                <a16:creationId xmlns:a16="http://schemas.microsoft.com/office/drawing/2014/main" id="{77300CD0-87D0-43FD-BD51-369B59ECF635}"/>
              </a:ext>
            </a:extLst>
          </p:cNvPr>
          <p:cNvSpPr>
            <a:spLocks xmlns:a="http://schemas.openxmlformats.org/drawingml/2006/main" noGrp="1"/>
          </p:cNvSpPr>
          <p:nvPr/>
        </p:nvSpPr>
        <p:spPr>
          <a:xfrm xmlns:a="http://schemas.openxmlformats.org/drawingml/2006/main">
            <a:off x="6181725" y="4676775"/>
            <a:ext cx="1371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275" b="1" i="0">
                <a:solidFill>
                  <a:srgbClr val="0B1F33"/>
                </a:solidFill>
                <a:latin typeface="DejaVu Sans"/>
                <a:ea typeface="DejaVu Sans"/>
                <a:cs typeface="DejaVu Sans"/>
              </a:defRPr>
            </a:defPPr>
          </a:lstStyle>
          <a:p xmlns:a="http://schemas.openxmlformats.org/drawingml/2006/main">
            <a:pPr algn="ctr">
              <a:defRPr sz="1275" b="1" i="0">
                <a:solidFill>
                  <a:srgbClr val="0B1F33"/>
                </a:solidFill>
                <a:latin typeface="DejaVu Sans"/>
                <a:ea typeface="DejaVu Sans"/>
                <a:cs typeface="DejaVu Sans"/>
              </a:defRPr>
            </a:pPr>
            <a:r>
              <a:rPr sz="1275" b="1" i="0">
                <a:solidFill>
                  <a:srgbClr val="0B1F33"/>
                </a:solidFill>
                <a:latin typeface="DejaVu Sans"/>
                <a:ea typeface="DejaVu Sans"/>
                <a:cs typeface="DejaVu Sans"/>
              </a:rPr>
              <a:t>Run the experiment</a:t>
            </a:r>
          </a:p>
        </p:txBody>
      </p:sp>
      <p:sp>
        <p:nvSpPr>
          <p:cNvPr id="15" name="">
            <a:extLst xmlns:a="http://schemas.openxmlformats.org/drawingml/2006/main">
              <a:ext uri="{FF2B5EF4-FFF2-40B4-BE49-F238E27FC236}">
                <a16:creationId xmlns:a16="http://schemas.microsoft.com/office/drawing/2014/main" id="{36BA8976-53CB-42C6-A41B-85D16FD218E4}"/>
              </a:ext>
            </a:extLst>
          </p:cNvPr>
          <p:cNvSpPr>
            <a:spLocks xmlns:a="http://schemas.openxmlformats.org/drawingml/2006/main" noGrp="1"/>
          </p:cNvSpPr>
          <p:nvPr/>
        </p:nvSpPr>
        <p:spPr>
          <a:xfrm xmlns:a="http://schemas.openxmlformats.org/drawingml/2006/main">
            <a:off x="6181725" y="5067300"/>
            <a:ext cx="13716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975" b="0" i="0">
                <a:solidFill>
                  <a:srgbClr val="5E6A72"/>
                </a:solidFill>
                <a:latin typeface="DejaVu Sans"/>
                <a:ea typeface="DejaVu Sans"/>
                <a:cs typeface="DejaVu Sans"/>
              </a:defRPr>
            </a:defPPr>
          </a:lstStyle>
          <a:p xmlns:a="http://schemas.openxmlformats.org/drawingml/2006/main">
            <a:pPr algn="ctr">
              <a:defRPr sz="975" b="0" i="0">
                <a:solidFill>
                  <a:srgbClr val="5E6A72"/>
                </a:solidFill>
                <a:latin typeface="DejaVu Sans"/>
                <a:ea typeface="DejaVu Sans"/>
                <a:cs typeface="DejaVu Sans"/>
              </a:defRPr>
            </a:pPr>
            <a:r>
              <a:rPr sz="975" b="0" i="0">
                <a:solidFill>
                  <a:srgbClr val="5E6A72"/>
                </a:solidFill>
                <a:latin typeface="DejaVu Sans"/>
                <a:ea typeface="DejaVu Sans"/>
                <a:cs typeface="DejaVu Sans"/>
              </a:rPr>
              <a:t>Suppose the measured yield is 0.83</a:t>
            </a:r>
          </a:p>
        </p:txBody>
      </p:sp>
      <p:sp>
        <p:nvSpPr>
          <p:cNvPr id="17" name="">
            <a:extLst xmlns:a="http://schemas.openxmlformats.org/drawingml/2006/main">
              <a:ext uri="{FF2B5EF4-FFF2-40B4-BE49-F238E27FC236}">
                <a16:creationId xmlns:a16="http://schemas.microsoft.com/office/drawing/2014/main" id="{4BA50744-B8D2-4EBB-B630-D7A64D8625E2}"/>
              </a:ext>
            </a:extLst>
          </p:cNvPr>
          <p:cNvSpPr>
            <a:spLocks xmlns:a="http://schemas.openxmlformats.org/drawingml/2006/main" noGrp="1"/>
          </p:cNvSpPr>
          <p:nvPr/>
        </p:nvSpPr>
        <p:spPr>
          <a:xfrm xmlns:a="http://schemas.openxmlformats.org/drawingml/2006/main">
            <a:off x="7905750" y="4191000"/>
            <a:ext cx="1657350" cy="1381125"/>
          </a:xfrm>
          <a:prstGeom xmlns:a="http://schemas.openxmlformats.org/drawingml/2006/main" prst="roundRect">
            <a:avLst>
              <a:gd name="adj" fmla="val 5517"/>
            </a:avLst>
          </a:prstGeom>
          <a:solidFill xmlns:a="http://schemas.openxmlformats.org/drawingml/2006/main">
            <a:srgbClr val="FFFFFF"/>
          </a:solidFill>
          <a:ln xmlns:a="http://schemas.openxmlformats.org/drawingml/2006/main" w="9525">
            <a:solidFill>
              <a:srgbClr val="CAD4DA"/>
            </a:solidFill>
            <a:prstDash val="solid"/>
          </a:ln>
        </p:spPr>
      </p:sp>
      <p:sp>
        <p:nvSpPr>
          <p:cNvPr id="18" name="">
            <a:extLst xmlns:a="http://schemas.openxmlformats.org/drawingml/2006/main">
              <a:ext uri="{FF2B5EF4-FFF2-40B4-BE49-F238E27FC236}">
                <a16:creationId xmlns:a16="http://schemas.microsoft.com/office/drawing/2014/main" id="{07F6FA88-8784-45A5-B9C1-8C6479799CD8}"/>
              </a:ext>
            </a:extLst>
          </p:cNvPr>
          <p:cNvSpPr>
            <a:spLocks xmlns:a="http://schemas.openxmlformats.org/drawingml/2006/main" noGrp="1"/>
          </p:cNvSpPr>
          <p:nvPr/>
        </p:nvSpPr>
        <p:spPr>
          <a:xfrm xmlns:a="http://schemas.openxmlformats.org/drawingml/2006/main">
            <a:off x="8048625" y="4324350"/>
            <a:ext cx="3238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425" b="1" i="0">
                <a:solidFill>
                  <a:srgbClr val="3A6EA5"/>
                </a:solidFill>
                <a:latin typeface="DejaVu Sans"/>
                <a:ea typeface="DejaVu Sans"/>
                <a:cs typeface="DejaVu Sans"/>
              </a:defRPr>
            </a:defPPr>
          </a:lstStyle>
          <a:p xmlns:a="http://schemas.openxmlformats.org/drawingml/2006/main">
            <a:pPr algn="l">
              <a:defRPr sz="1425" b="1" i="0">
                <a:solidFill>
                  <a:srgbClr val="3A6EA5"/>
                </a:solidFill>
                <a:latin typeface="DejaVu Sans"/>
                <a:ea typeface="DejaVu Sans"/>
                <a:cs typeface="DejaVu Sans"/>
              </a:defRPr>
            </a:pPr>
            <a:r>
              <a:rPr sz="1425" b="1" i="0">
                <a:solidFill>
                  <a:srgbClr val="3A6EA5"/>
                </a:solidFill>
                <a:latin typeface="DejaVu Sans"/>
                <a:ea typeface="DejaVu Sans"/>
                <a:cs typeface="DejaVu Sans"/>
              </a:rPr>
              <a:t>3</a:t>
            </a:r>
          </a:p>
        </p:txBody>
      </p:sp>
      <p:sp>
        <p:nvSpPr>
          <p:cNvPr id="19" name="">
            <a:extLst xmlns:a="http://schemas.openxmlformats.org/drawingml/2006/main">
              <a:ext uri="{FF2B5EF4-FFF2-40B4-BE49-F238E27FC236}">
                <a16:creationId xmlns:a16="http://schemas.microsoft.com/office/drawing/2014/main" id="{0229F95A-2034-43EA-A508-0DC055589CF8}"/>
              </a:ext>
            </a:extLst>
          </p:cNvPr>
          <p:cNvSpPr>
            <a:spLocks xmlns:a="http://schemas.openxmlformats.org/drawingml/2006/main" noGrp="1"/>
          </p:cNvSpPr>
          <p:nvPr/>
        </p:nvSpPr>
        <p:spPr>
          <a:xfrm xmlns:a="http://schemas.openxmlformats.org/drawingml/2006/main">
            <a:off x="8048625" y="4676775"/>
            <a:ext cx="1371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275" b="1" i="0">
                <a:solidFill>
                  <a:srgbClr val="0B1F33"/>
                </a:solidFill>
                <a:latin typeface="DejaVu Sans"/>
                <a:ea typeface="DejaVu Sans"/>
                <a:cs typeface="DejaVu Sans"/>
              </a:defRPr>
            </a:defPPr>
          </a:lstStyle>
          <a:p xmlns:a="http://schemas.openxmlformats.org/drawingml/2006/main">
            <a:pPr algn="ctr">
              <a:defRPr sz="1275" b="1" i="0">
                <a:solidFill>
                  <a:srgbClr val="0B1F33"/>
                </a:solidFill>
                <a:latin typeface="DejaVu Sans"/>
                <a:ea typeface="DejaVu Sans"/>
                <a:cs typeface="DejaVu Sans"/>
              </a:defRPr>
            </a:pPr>
            <a:r>
              <a:rPr sz="1275" b="1" i="0">
                <a:solidFill>
                  <a:srgbClr val="0B1F33"/>
                </a:solidFill>
                <a:latin typeface="DejaVu Sans"/>
                <a:ea typeface="DejaVu Sans"/>
                <a:cs typeface="DejaVu Sans"/>
              </a:rPr>
              <a:t>Append and refit</a:t>
            </a:r>
          </a:p>
        </p:txBody>
      </p:sp>
      <p:sp>
        <p:nvSpPr>
          <p:cNvPr id="20" name="">
            <a:extLst xmlns:a="http://schemas.openxmlformats.org/drawingml/2006/main">
              <a:ext uri="{FF2B5EF4-FFF2-40B4-BE49-F238E27FC236}">
                <a16:creationId xmlns:a16="http://schemas.microsoft.com/office/drawing/2014/main" id="{EF0F3A8A-8990-4696-9B5B-A9DB74C2F0A7}"/>
              </a:ext>
            </a:extLst>
          </p:cNvPr>
          <p:cNvSpPr>
            <a:spLocks xmlns:a="http://schemas.openxmlformats.org/drawingml/2006/main" noGrp="1"/>
          </p:cNvSpPr>
          <p:nvPr/>
        </p:nvSpPr>
        <p:spPr>
          <a:xfrm xmlns:a="http://schemas.openxmlformats.org/drawingml/2006/main">
            <a:off x="8048625" y="5067300"/>
            <a:ext cx="13716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975" b="0" i="0">
                <a:solidFill>
                  <a:srgbClr val="5E6A72"/>
                </a:solidFill>
                <a:latin typeface="DejaVu Sans"/>
                <a:ea typeface="DejaVu Sans"/>
                <a:cs typeface="DejaVu Sans"/>
              </a:defRPr>
            </a:defPPr>
          </a:lstStyle>
          <a:p xmlns:a="http://schemas.openxmlformats.org/drawingml/2006/main">
            <a:pPr algn="ctr">
              <a:defRPr sz="975" b="0" i="0">
                <a:solidFill>
                  <a:srgbClr val="5E6A72"/>
                </a:solidFill>
                <a:latin typeface="DejaVu Sans"/>
                <a:ea typeface="DejaVu Sans"/>
                <a:cs typeface="DejaVu Sans"/>
              </a:defRPr>
            </a:pPr>
            <a:r>
              <a:rPr sz="975" b="0" i="0">
                <a:solidFill>
                  <a:srgbClr val="5E6A72"/>
                </a:solidFill>
                <a:latin typeface="DejaVu Sans"/>
                <a:ea typeface="DejaVu Sans"/>
                <a:cs typeface="DejaVu Sans"/>
              </a:rPr>
              <a:t>Dt+1 = Dt ∪ {(78, 0.83)}</a:t>
            </a:r>
          </a:p>
        </p:txBody>
      </p:sp>
      <p:sp>
        <p:nvSpPr>
          <p:cNvPr id="22" name="">
            <a:extLst xmlns:a="http://schemas.openxmlformats.org/drawingml/2006/main">
              <a:ext uri="{FF2B5EF4-FFF2-40B4-BE49-F238E27FC236}">
                <a16:creationId xmlns:a16="http://schemas.microsoft.com/office/drawing/2014/main" id="{B89EB163-C043-4A21-8EBF-DD322A11F77F}"/>
              </a:ext>
            </a:extLst>
          </p:cNvPr>
          <p:cNvSpPr>
            <a:spLocks xmlns:a="http://schemas.openxmlformats.org/drawingml/2006/main" noGrp="1"/>
          </p:cNvSpPr>
          <p:nvPr/>
        </p:nvSpPr>
        <p:spPr>
          <a:xfrm xmlns:a="http://schemas.openxmlformats.org/drawingml/2006/main">
            <a:off x="9772650" y="4191000"/>
            <a:ext cx="1657350" cy="1381125"/>
          </a:xfrm>
          <a:prstGeom xmlns:a="http://schemas.openxmlformats.org/drawingml/2006/main" prst="roundRect">
            <a:avLst>
              <a:gd name="adj" fmla="val 5517"/>
            </a:avLst>
          </a:prstGeom>
          <a:solidFill xmlns:a="http://schemas.openxmlformats.org/drawingml/2006/main">
            <a:srgbClr val="FAEBDD"/>
          </a:solidFill>
          <a:ln xmlns:a="http://schemas.openxmlformats.org/drawingml/2006/main" w="9525">
            <a:solidFill>
              <a:srgbClr val="F4A261"/>
            </a:solidFill>
            <a:prstDash val="solid"/>
          </a:ln>
        </p:spPr>
      </p:sp>
      <p:sp>
        <p:nvSpPr>
          <p:cNvPr id="23" name="">
            <a:extLst xmlns:a="http://schemas.openxmlformats.org/drawingml/2006/main">
              <a:ext uri="{FF2B5EF4-FFF2-40B4-BE49-F238E27FC236}">
                <a16:creationId xmlns:a16="http://schemas.microsoft.com/office/drawing/2014/main" id="{6FD12627-0C40-4A3B-9668-38BAFF3799D2}"/>
              </a:ext>
            </a:extLst>
          </p:cNvPr>
          <p:cNvSpPr>
            <a:spLocks xmlns:a="http://schemas.openxmlformats.org/drawingml/2006/main" noGrp="1"/>
          </p:cNvSpPr>
          <p:nvPr/>
        </p:nvSpPr>
        <p:spPr>
          <a:xfrm xmlns:a="http://schemas.openxmlformats.org/drawingml/2006/main">
            <a:off x="9915525" y="4324350"/>
            <a:ext cx="3238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425" b="1" i="0">
                <a:solidFill>
                  <a:srgbClr val="F4A261"/>
                </a:solidFill>
                <a:latin typeface="DejaVu Sans"/>
                <a:ea typeface="DejaVu Sans"/>
                <a:cs typeface="DejaVu Sans"/>
              </a:defRPr>
            </a:defPPr>
          </a:lstStyle>
          <a:p xmlns:a="http://schemas.openxmlformats.org/drawingml/2006/main">
            <a:pPr algn="l">
              <a:defRPr sz="1425" b="1" i="0">
                <a:solidFill>
                  <a:srgbClr val="F4A261"/>
                </a:solidFill>
                <a:latin typeface="DejaVu Sans"/>
                <a:ea typeface="DejaVu Sans"/>
                <a:cs typeface="DejaVu Sans"/>
              </a:defRPr>
            </a:pPr>
            <a:r>
              <a:rPr sz="1425" b="1" i="0">
                <a:solidFill>
                  <a:srgbClr val="F4A261"/>
                </a:solidFill>
                <a:latin typeface="DejaVu Sans"/>
                <a:ea typeface="DejaVu Sans"/>
                <a:cs typeface="DejaVu Sans"/>
              </a:rPr>
              <a:t>4</a:t>
            </a:r>
          </a:p>
        </p:txBody>
      </p:sp>
      <p:sp>
        <p:nvSpPr>
          <p:cNvPr id="24" name="">
            <a:extLst xmlns:a="http://schemas.openxmlformats.org/drawingml/2006/main">
              <a:ext uri="{FF2B5EF4-FFF2-40B4-BE49-F238E27FC236}">
                <a16:creationId xmlns:a16="http://schemas.microsoft.com/office/drawing/2014/main" id="{E763E300-C130-4BFD-8528-8B87CFC6D55B}"/>
              </a:ext>
            </a:extLst>
          </p:cNvPr>
          <p:cNvSpPr>
            <a:spLocks xmlns:a="http://schemas.openxmlformats.org/drawingml/2006/main" noGrp="1"/>
          </p:cNvSpPr>
          <p:nvPr/>
        </p:nvSpPr>
        <p:spPr>
          <a:xfrm xmlns:a="http://schemas.openxmlformats.org/drawingml/2006/main">
            <a:off x="9915525" y="4676775"/>
            <a:ext cx="1371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275" b="1" i="0">
                <a:solidFill>
                  <a:srgbClr val="0B1F33"/>
                </a:solidFill>
                <a:latin typeface="DejaVu Sans"/>
                <a:ea typeface="DejaVu Sans"/>
                <a:cs typeface="DejaVu Sans"/>
              </a:defRPr>
            </a:defPPr>
          </a:lstStyle>
          <a:p xmlns:a="http://schemas.openxmlformats.org/drawingml/2006/main">
            <a:pPr algn="ctr">
              <a:defRPr sz="1275" b="1" i="0">
                <a:solidFill>
                  <a:srgbClr val="0B1F33"/>
                </a:solidFill>
                <a:latin typeface="DejaVu Sans"/>
                <a:ea typeface="DejaVu Sans"/>
                <a:cs typeface="DejaVu Sans"/>
              </a:defRPr>
            </a:pPr>
            <a:r>
              <a:rPr sz="1275" b="1" i="0">
                <a:solidFill>
                  <a:srgbClr val="0B1F33"/>
                </a:solidFill>
                <a:latin typeface="DejaVu Sans"/>
                <a:ea typeface="DejaVu Sans"/>
                <a:cs typeface="DejaVu Sans"/>
              </a:rPr>
              <a:t>Check stopping</a:t>
            </a:r>
          </a:p>
        </p:txBody>
      </p:sp>
      <p:sp>
        <p:nvSpPr>
          <p:cNvPr id="25" name="">
            <a:extLst xmlns:a="http://schemas.openxmlformats.org/drawingml/2006/main">
              <a:ext uri="{FF2B5EF4-FFF2-40B4-BE49-F238E27FC236}">
                <a16:creationId xmlns:a16="http://schemas.microsoft.com/office/drawing/2014/main" id="{911C42FE-EEFE-42CA-9BAC-C858B20111A5}"/>
              </a:ext>
            </a:extLst>
          </p:cNvPr>
          <p:cNvSpPr>
            <a:spLocks xmlns:a="http://schemas.openxmlformats.org/drawingml/2006/main" noGrp="1"/>
          </p:cNvSpPr>
          <p:nvPr/>
        </p:nvSpPr>
        <p:spPr>
          <a:xfrm xmlns:a="http://schemas.openxmlformats.org/drawingml/2006/main">
            <a:off x="9915525" y="5067300"/>
            <a:ext cx="13716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975" b="0" i="0">
                <a:solidFill>
                  <a:srgbClr val="5E6A72"/>
                </a:solidFill>
                <a:latin typeface="DejaVu Sans"/>
                <a:ea typeface="DejaVu Sans"/>
                <a:cs typeface="DejaVu Sans"/>
              </a:defRPr>
            </a:defPPr>
          </a:lstStyle>
          <a:p xmlns:a="http://schemas.openxmlformats.org/drawingml/2006/main">
            <a:pPr algn="ctr">
              <a:defRPr sz="975" b="0" i="0">
                <a:solidFill>
                  <a:srgbClr val="5E6A72"/>
                </a:solidFill>
                <a:latin typeface="DejaVu Sans"/>
                <a:ea typeface="DejaVu Sans"/>
                <a:cs typeface="DejaVu Sans"/>
              </a:defRPr>
            </a:pPr>
            <a:r>
              <a:rPr sz="975" b="0" i="0">
                <a:solidFill>
                  <a:srgbClr val="5E6A72"/>
                </a:solidFill>
                <a:latin typeface="DejaVu Sans"/>
                <a:ea typeface="DejaVu Sans"/>
                <a:cs typeface="DejaVu Sans"/>
              </a:rPr>
              <a:t>Continue unless the declared rule now fires</a:t>
            </a:r>
          </a:p>
        </p:txBody>
      </p:sp>
      <p:sp>
        <p:nvSpPr>
          <p:cNvPr id="27" name="">
            <a:extLst xmlns:a="http://schemas.openxmlformats.org/drawingml/2006/main">
              <a:ext uri="{FF2B5EF4-FFF2-40B4-BE49-F238E27FC236}">
                <a16:creationId xmlns:a16="http://schemas.microsoft.com/office/drawing/2014/main" id="{BCD95636-E3B9-49D2-B695-A76EB8F85D2E}"/>
              </a:ext>
            </a:extLst>
          </p:cNvPr>
          <p:cNvSpPr>
            <a:spLocks xmlns:a="http://schemas.openxmlformats.org/drawingml/2006/main" noGrp="1"/>
          </p:cNvSpPr>
          <p:nvPr/>
        </p:nvSpPr>
        <p:spPr>
          <a:xfrm xmlns:a="http://schemas.openxmlformats.org/drawingml/2006/main">
            <a:off x="1428750" y="5924550"/>
            <a:ext cx="9334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425" b="1" i="0">
                <a:solidFill>
                  <a:srgbClr val="132735"/>
                </a:solidFill>
                <a:latin typeface="DejaVu Sans"/>
                <a:ea typeface="DejaVu Sans"/>
                <a:cs typeface="DejaVu Sans"/>
              </a:defRPr>
            </a:defPPr>
          </a:lstStyle>
          <a:p xmlns:a="http://schemas.openxmlformats.org/drawingml/2006/main">
            <a:pPr algn="ctr">
              <a:defRPr sz="1425" b="1" i="0">
                <a:solidFill>
                  <a:srgbClr val="132735"/>
                </a:solidFill>
                <a:latin typeface="DejaVu Sans"/>
                <a:ea typeface="DejaVu Sans"/>
                <a:cs typeface="DejaVu Sans"/>
              </a:defRPr>
            </a:pPr>
            <a:r>
              <a:rPr sz="1425" b="1" i="0">
                <a:solidFill>
                  <a:srgbClr val="132735"/>
                </a:solidFill>
                <a:latin typeface="DejaVu Sans"/>
                <a:ea typeface="DejaVu Sans"/>
                <a:cs typeface="DejaVu Sans"/>
              </a:rPr>
              <a:t>The new observation changes both the fitted curve and its uncertainty. The next decision uses the updated posterior.</a:t>
            </a:r>
          </a:p>
        </p:txBody>
      </p:sp>
      <p:sp>
        <p:nvSpPr>
          <p:cNvPr id="28" name="">
            <a:extLst xmlns:a="http://schemas.openxmlformats.org/drawingml/2006/main">
              <a:ext uri="{FF2B5EF4-FFF2-40B4-BE49-F238E27FC236}">
                <a16:creationId xmlns:a16="http://schemas.microsoft.com/office/drawing/2014/main" id="{3A52C210-D132-4A76-8B6B-500B7D0E8CA2}"/>
              </a:ext>
            </a:extLst>
          </p:cNvPr>
          <p:cNvSpPr>
            <a:spLocks xmlns:a="http://schemas.openxmlformats.org/drawingml/2006/main" noGrp="1"/>
          </p:cNvSpPr>
          <p:nvPr/>
        </p:nvSpPr>
        <p:spPr>
          <a:xfrm xmlns:a="http://schemas.openxmlformats.org/drawingml/2006/main">
            <a:off x="685800" y="6477000"/>
            <a:ext cx="9810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675" b="0" i="0">
                <a:solidFill>
                  <a:srgbClr val="71808A"/>
                </a:solidFill>
                <a:latin typeface="DejaVu Sans"/>
                <a:ea typeface="DejaVu Sans"/>
                <a:cs typeface="DejaVu Sans"/>
              </a:defRPr>
            </a:defPPr>
          </a:lstStyle>
          <a:p xmlns:a="http://schemas.openxmlformats.org/drawingml/2006/main">
            <a:pPr algn="l">
              <a:defRPr sz="675" b="0" i="0">
                <a:solidFill>
                  <a:srgbClr val="71808A"/>
                </a:solidFill>
                <a:latin typeface="DejaVu Sans"/>
                <a:ea typeface="DejaVu Sans"/>
                <a:cs typeface="DejaVu Sans"/>
              </a:defRPr>
            </a:pPr>
            <a:r>
              <a:rPr sz="675" b="0" i="0">
                <a:solidFill>
                  <a:srgbClr val="71808A"/>
                </a:solidFill>
                <a:latin typeface="DejaVu Sans"/>
                <a:ea typeface="DejaVu Sans"/>
                <a:cs typeface="DejaVu Sans"/>
              </a:rPr>
              <a:t>Illustrative numbers from project learning notes</a:t>
            </a:r>
          </a:p>
        </p:txBody>
      </p:sp>
      <p:sp>
        <p:nvSpPr>
          <p:cNvPr id="29" name="">
            <a:extLst xmlns:a="http://schemas.openxmlformats.org/drawingml/2006/main">
              <a:ext uri="{FF2B5EF4-FFF2-40B4-BE49-F238E27FC236}">
                <a16:creationId xmlns:a16="http://schemas.microsoft.com/office/drawing/2014/main" id="{D8C14488-1149-4A6D-B4F7-361892083480}"/>
              </a:ext>
            </a:extLst>
          </p:cNvPr>
          <p:cNvSpPr>
            <a:spLocks xmlns:a="http://schemas.openxmlformats.org/drawingml/2006/main" noGrp="1"/>
          </p:cNvSpPr>
          <p:nvPr/>
        </p:nvSpPr>
        <p:spPr>
          <a:xfrm xmlns:a="http://schemas.openxmlformats.org/drawingml/2006/main">
            <a:off x="11001375" y="6429375"/>
            <a:ext cx="495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825" b="1" i="0">
                <a:solidFill>
                  <a:srgbClr val="71808A"/>
                </a:solidFill>
                <a:latin typeface="DejaVu Sans"/>
                <a:ea typeface="DejaVu Sans"/>
                <a:cs typeface="DejaVu Sans"/>
              </a:defRPr>
            </a:defPPr>
          </a:lstStyle>
          <a:p xmlns:a="http://schemas.openxmlformats.org/drawingml/2006/main">
            <a:pPr algn="r">
              <a:defRPr sz="825" b="1" i="0">
                <a:solidFill>
                  <a:srgbClr val="71808A"/>
                </a:solidFill>
                <a:latin typeface="DejaVu Sans"/>
                <a:ea typeface="DejaVu Sans"/>
                <a:cs typeface="DejaVu Sans"/>
              </a:defRPr>
            </a:pPr>
            <a:r>
              <a:rPr sz="825" b="1" i="0">
                <a:solidFill>
                  <a:srgbClr val="71808A"/>
                </a:solidFill>
                <a:latin typeface="DejaVu Sans"/>
                <a:ea typeface="DejaVu Sans"/>
                <a:cs typeface="DejaVu Sans"/>
              </a:rPr>
              <a:t>06</a:t>
            </a:r>
          </a:p>
        </p:txBody>
      </p:sp>
    </p:spTree>
    <p:extLst>
      <p:ext uri="{BB962C8B-B14F-4D97-AF65-F5344CB8AC3E}">
        <p14:creationId xmlns:p14="http://schemas.microsoft.com/office/powerpoint/2010/main" val="1213516977"/>
      </p:ext>
    </p:extLst>
  </p:cSld>
</p:sld>
</file>

<file path=ppt/slides/slide7.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22" name="slide-title">
            <a:extLst xmlns:a="http://schemas.openxmlformats.org/drawingml/2006/main">
              <a:ext uri="{FF2B5EF4-FFF2-40B4-BE49-F238E27FC236}">
                <a16:creationId xmlns:a16="http://schemas.microsoft.com/office/drawing/2014/main" id="{BD2CFD13-192A-4C41-A2DE-883950DA8BC8}"/>
              </a:ext>
            </a:extLst>
          </p:cNvPr>
          <p:cNvSpPr>
            <a:spLocks xmlns:a="http://schemas.openxmlformats.org/drawingml/2006/main" noGrp="1"/>
          </p:cNvSpPr>
          <p:nvPr/>
        </p:nvSpPr>
        <p:spPr>
          <a:xfrm xmlns:a="http://schemas.openxmlformats.org/drawingml/2006/main">
            <a:off x="685800" y="419100"/>
            <a:ext cx="10382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550" b="1" i="0">
                <a:solidFill>
                  <a:srgbClr val="0B1F33"/>
                </a:solidFill>
                <a:latin typeface="DejaVu Sans"/>
                <a:ea typeface="DejaVu Sans"/>
                <a:cs typeface="DejaVu Sans"/>
              </a:defRPr>
            </a:defPPr>
          </a:lstStyle>
          <a:p xmlns:a="http://schemas.openxmlformats.org/drawingml/2006/main">
            <a:pPr algn="l">
              <a:defRPr sz="2550" b="1" i="0">
                <a:solidFill>
                  <a:srgbClr val="0B1F33"/>
                </a:solidFill>
                <a:latin typeface="DejaVu Sans"/>
                <a:ea typeface="DejaVu Sans"/>
                <a:cs typeface="DejaVu Sans"/>
              </a:defRPr>
            </a:pPr>
            <a:r>
              <a:rPr sz="2550" b="1" i="0">
                <a:solidFill>
                  <a:srgbClr val="0B1F33"/>
                </a:solidFill>
                <a:latin typeface="DejaVu Sans"/>
                <a:ea typeface="DejaVu Sans"/>
                <a:cs typeface="DejaVu Sans"/>
              </a:rPr>
              <a:t>Everyday analogy: tuning an espresso recipe</a:t>
            </a:r>
          </a:p>
        </p:txBody>
      </p:sp>
      <p:sp>
        <p:nvSpPr>
          <p:cNvPr id="2" name="slide-subtitle">
            <a:extLst xmlns:a="http://schemas.openxmlformats.org/drawingml/2006/main">
              <a:ext uri="{FF2B5EF4-FFF2-40B4-BE49-F238E27FC236}">
                <a16:creationId xmlns:a16="http://schemas.microsoft.com/office/drawing/2014/main" id="{DA6F1D54-F8CB-4B02-A5BC-620A19F217EE}"/>
              </a:ext>
            </a:extLst>
          </p:cNvPr>
          <p:cNvSpPr>
            <a:spLocks xmlns:a="http://schemas.openxmlformats.org/drawingml/2006/main" noGrp="1"/>
          </p:cNvSpPr>
          <p:nvPr/>
        </p:nvSpPr>
        <p:spPr>
          <a:xfrm xmlns:a="http://schemas.openxmlformats.org/drawingml/2006/main">
            <a:off x="704850" y="990600"/>
            <a:ext cx="1028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275" b="0" i="0">
                <a:solidFill>
                  <a:srgbClr val="5E6A72"/>
                </a:solidFill>
                <a:latin typeface="DejaVu Sans"/>
                <a:ea typeface="DejaVu Sans"/>
                <a:cs typeface="DejaVu Sans"/>
              </a:defRPr>
            </a:defPPr>
          </a:lstStyle>
          <a:p xmlns:a="http://schemas.openxmlformats.org/drawingml/2006/main">
            <a:pPr algn="l">
              <a:defRPr sz="1275" b="0" i="0">
                <a:solidFill>
                  <a:srgbClr val="5E6A72"/>
                </a:solidFill>
                <a:latin typeface="DejaVu Sans"/>
                <a:ea typeface="DejaVu Sans"/>
                <a:cs typeface="DejaVu Sans"/>
              </a:defRPr>
            </a:pPr>
            <a:r>
              <a:rPr sz="1275" b="0" i="0">
                <a:solidFill>
                  <a:srgbClr val="5E6A72"/>
                </a:solidFill>
                <a:latin typeface="DejaVu Sans"/>
                <a:ea typeface="DejaVu Sans"/>
                <a:cs typeface="DejaVu Sans"/>
              </a:rPr>
              <a:t>Each cup is an evaluation, and the best recipe is the recommended x</a:t>
            </a:r>
          </a:p>
        </p:txBody>
      </p:sp>
      <p:sp>
        <p:nvSpPr>
          <p:cNvPr id="3" name="">
            <a:extLst xmlns:a="http://schemas.openxmlformats.org/drawingml/2006/main">
              <a:ext uri="{FF2B5EF4-FFF2-40B4-BE49-F238E27FC236}">
                <a16:creationId xmlns:a16="http://schemas.microsoft.com/office/drawing/2014/main" id="{C2C05FDD-214F-4A35-93D0-F69887B61EA6}"/>
              </a:ext>
            </a:extLst>
          </p:cNvPr>
          <p:cNvSpPr>
            <a:spLocks xmlns:a="http://schemas.openxmlformats.org/drawingml/2006/main" noGrp="1"/>
          </p:cNvSpPr>
          <p:nvPr/>
        </p:nvSpPr>
        <p:spPr>
          <a:xfrm xmlns:a="http://schemas.openxmlformats.org/drawingml/2006/main">
            <a:off x="742950" y="1524000"/>
            <a:ext cx="2476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350" b="1" i="0">
                <a:solidFill>
                  <a:srgbClr val="238A7A"/>
                </a:solidFill>
                <a:latin typeface="DejaVu Sans"/>
                <a:ea typeface="DejaVu Sans"/>
                <a:cs typeface="DejaVu Sans"/>
              </a:defRPr>
            </a:defPPr>
          </a:lstStyle>
          <a:p xmlns:a="http://schemas.openxmlformats.org/drawingml/2006/main">
            <a:pPr algn="l">
              <a:defRPr sz="1350" b="1" i="0">
                <a:solidFill>
                  <a:srgbClr val="238A7A"/>
                </a:solidFill>
                <a:latin typeface="DejaVu Sans"/>
                <a:ea typeface="DejaVu Sans"/>
                <a:cs typeface="DejaVu Sans"/>
              </a:defRPr>
            </a:pPr>
            <a:r>
              <a:rPr sz="1350" b="1" i="0">
                <a:solidFill>
                  <a:srgbClr val="238A7A"/>
                </a:solidFill>
                <a:latin typeface="DejaVu Sans"/>
                <a:ea typeface="DejaVu Sans"/>
                <a:cs typeface="DejaVu Sans"/>
              </a:rPr>
              <a:t>Controllable input x</a:t>
            </a:r>
          </a:p>
        </p:txBody>
      </p:sp>
      <p:sp>
        <p:nvSpPr>
          <p:cNvPr id="4" name="">
            <a:extLst xmlns:a="http://schemas.openxmlformats.org/drawingml/2006/main">
              <a:ext uri="{FF2B5EF4-FFF2-40B4-BE49-F238E27FC236}">
                <a16:creationId xmlns:a16="http://schemas.microsoft.com/office/drawing/2014/main" id="{6CFDE9EE-880E-4C86-94E0-49174BAF6BE1}"/>
              </a:ext>
            </a:extLst>
          </p:cNvPr>
          <p:cNvSpPr>
            <a:spLocks xmlns:a="http://schemas.openxmlformats.org/drawingml/2006/main" noGrp="1"/>
          </p:cNvSpPr>
          <p:nvPr/>
        </p:nvSpPr>
        <p:spPr>
          <a:xfrm xmlns:a="http://schemas.openxmlformats.org/drawingml/2006/main">
            <a:off x="838200" y="1952625"/>
            <a:ext cx="2286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875" b="1" i="0">
                <a:solidFill>
                  <a:srgbClr val="0B1F33"/>
                </a:solidFill>
                <a:latin typeface="DejaVu Sans"/>
                <a:ea typeface="DejaVu Sans"/>
                <a:cs typeface="DejaVu Sans"/>
              </a:defRPr>
            </a:defPPr>
          </a:lstStyle>
          <a:p xmlns:a="http://schemas.openxmlformats.org/drawingml/2006/main">
            <a:pPr algn="ctr">
              <a:defRPr sz="1875" b="1" i="0">
                <a:solidFill>
                  <a:srgbClr val="0B1F33"/>
                </a:solidFill>
                <a:latin typeface="DejaVu Sans"/>
                <a:ea typeface="DejaVu Sans"/>
                <a:cs typeface="DejaVu Sans"/>
              </a:defRPr>
            </a:pPr>
            <a:r>
              <a:rPr sz="1875" b="1" i="0">
                <a:solidFill>
                  <a:srgbClr val="0B1F33"/>
                </a:solidFill>
                <a:latin typeface="DejaVu Sans"/>
                <a:ea typeface="DejaVu Sans"/>
                <a:cs typeface="DejaVu Sans"/>
              </a:rPr>
              <a:t>Water temperature</a:t>
            </a:r>
          </a:p>
          <a:p xmlns:a="http://schemas.openxmlformats.org/drawingml/2006/main">
            <a:pPr algn="ctr">
              <a:defRPr sz="1875" b="1" i="0">
                <a:solidFill>
                  <a:srgbClr val="0B1F33"/>
                </a:solidFill>
                <a:latin typeface="DejaVu Sans"/>
                <a:ea typeface="DejaVu Sans"/>
                <a:cs typeface="DejaVu Sans"/>
              </a:defRPr>
            </a:pPr>
            <a:r>
              <a:rPr sz="1875" b="1" i="0">
                <a:solidFill>
                  <a:srgbClr val="0B1F33"/>
                </a:solidFill>
                <a:latin typeface="DejaVu Sans"/>
                <a:ea typeface="DejaVu Sans"/>
                <a:cs typeface="DejaVu Sans"/>
              </a:rPr>
              <a:t>Grind size</a:t>
            </a:r>
          </a:p>
        </p:txBody>
      </p:sp>
      <p:sp>
        <p:nvSpPr>
          <p:cNvPr id="5" name="">
            <a:extLst xmlns:a="http://schemas.openxmlformats.org/drawingml/2006/main">
              <a:ext uri="{FF2B5EF4-FFF2-40B4-BE49-F238E27FC236}">
                <a16:creationId xmlns:a16="http://schemas.microsoft.com/office/drawing/2014/main" id="{436E11F4-5205-4C39-A991-33DFEE20D86B}"/>
              </a:ext>
            </a:extLst>
          </p:cNvPr>
          <p:cNvSpPr>
            <a:spLocks xmlns:a="http://schemas.openxmlformats.org/drawingml/2006/main" noGrp="1"/>
          </p:cNvSpPr>
          <p:nvPr/>
        </p:nvSpPr>
        <p:spPr>
          <a:xfrm xmlns:a="http://schemas.openxmlformats.org/drawingml/2006/main">
            <a:off x="3571875" y="1524000"/>
            <a:ext cx="2476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350" b="1" i="0">
                <a:solidFill>
                  <a:srgbClr val="238A7A"/>
                </a:solidFill>
                <a:latin typeface="DejaVu Sans"/>
                <a:ea typeface="DejaVu Sans"/>
                <a:cs typeface="DejaVu Sans"/>
              </a:defRPr>
            </a:defPPr>
          </a:lstStyle>
          <a:p xmlns:a="http://schemas.openxmlformats.org/drawingml/2006/main">
            <a:pPr algn="l">
              <a:defRPr sz="1350" b="1" i="0">
                <a:solidFill>
                  <a:srgbClr val="238A7A"/>
                </a:solidFill>
                <a:latin typeface="DejaVu Sans"/>
                <a:ea typeface="DejaVu Sans"/>
                <a:cs typeface="DejaVu Sans"/>
              </a:defRPr>
            </a:pPr>
            <a:r>
              <a:rPr sz="1350" b="1" i="0">
                <a:solidFill>
                  <a:srgbClr val="238A7A"/>
                </a:solidFill>
                <a:latin typeface="DejaVu Sans"/>
                <a:ea typeface="DejaVu Sans"/>
                <a:cs typeface="DejaVu Sans"/>
              </a:rPr>
              <a:t>Observed outcome y</a:t>
            </a:r>
          </a:p>
        </p:txBody>
      </p:sp>
      <p:sp>
        <p:nvSpPr>
          <p:cNvPr id="6" name="">
            <a:extLst xmlns:a="http://schemas.openxmlformats.org/drawingml/2006/main">
              <a:ext uri="{FF2B5EF4-FFF2-40B4-BE49-F238E27FC236}">
                <a16:creationId xmlns:a16="http://schemas.microsoft.com/office/drawing/2014/main" id="{DDED3211-2458-45CA-97BC-E75400D57D18}"/>
              </a:ext>
            </a:extLst>
          </p:cNvPr>
          <p:cNvSpPr>
            <a:spLocks xmlns:a="http://schemas.openxmlformats.org/drawingml/2006/main" noGrp="1"/>
          </p:cNvSpPr>
          <p:nvPr/>
        </p:nvSpPr>
        <p:spPr>
          <a:xfrm xmlns:a="http://schemas.openxmlformats.org/drawingml/2006/main">
            <a:off x="3667125" y="1952625"/>
            <a:ext cx="2286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875" b="1" i="0">
                <a:solidFill>
                  <a:srgbClr val="0B1F33"/>
                </a:solidFill>
                <a:latin typeface="DejaVu Sans"/>
                <a:ea typeface="DejaVu Sans"/>
                <a:cs typeface="DejaVu Sans"/>
              </a:defRPr>
            </a:defPPr>
          </a:lstStyle>
          <a:p xmlns:a="http://schemas.openxmlformats.org/drawingml/2006/main">
            <a:pPr algn="ctr">
              <a:defRPr sz="1875" b="1" i="0">
                <a:solidFill>
                  <a:srgbClr val="0B1F33"/>
                </a:solidFill>
                <a:latin typeface="DejaVu Sans"/>
                <a:ea typeface="DejaVu Sans"/>
                <a:cs typeface="DejaVu Sans"/>
              </a:defRPr>
            </a:pPr>
            <a:r>
              <a:rPr sz="1875" b="1" i="0">
                <a:solidFill>
                  <a:srgbClr val="0B1F33"/>
                </a:solidFill>
                <a:latin typeface="DejaVu Sans"/>
                <a:ea typeface="DejaVu Sans"/>
                <a:cs typeface="DejaVu Sans"/>
              </a:rPr>
              <a:t>Taste score</a:t>
            </a:r>
          </a:p>
          <a:p xmlns:a="http://schemas.openxmlformats.org/drawingml/2006/main">
            <a:pPr algn="ctr">
              <a:defRPr sz="1875" b="1" i="0">
                <a:solidFill>
                  <a:srgbClr val="0B1F33"/>
                </a:solidFill>
                <a:latin typeface="DejaVu Sans"/>
                <a:ea typeface="DejaVu Sans"/>
                <a:cs typeface="DejaVu Sans"/>
              </a:defRPr>
            </a:pPr>
            <a:r>
              <a:rPr sz="1875" b="1" i="0">
                <a:solidFill>
                  <a:srgbClr val="0B1F33"/>
                </a:solidFill>
                <a:latin typeface="DejaVu Sans"/>
                <a:ea typeface="DejaVu Sans"/>
                <a:cs typeface="DejaVu Sans"/>
              </a:rPr>
              <a:t>from one cup</a:t>
            </a:r>
          </a:p>
        </p:txBody>
      </p:sp>
      <p:sp>
        <p:nvSpPr>
          <p:cNvPr id="7" name="">
            <a:extLst xmlns:a="http://schemas.openxmlformats.org/drawingml/2006/main">
              <a:ext uri="{FF2B5EF4-FFF2-40B4-BE49-F238E27FC236}">
                <a16:creationId xmlns:a16="http://schemas.microsoft.com/office/drawing/2014/main" id="{3AC9B20C-AD06-46CE-B4FE-E2F67247578B}"/>
              </a:ext>
            </a:extLst>
          </p:cNvPr>
          <p:cNvSpPr>
            <a:spLocks xmlns:a="http://schemas.openxmlformats.org/drawingml/2006/main" noGrp="1"/>
          </p:cNvSpPr>
          <p:nvPr/>
        </p:nvSpPr>
        <p:spPr>
          <a:xfrm xmlns:a="http://schemas.openxmlformats.org/drawingml/2006/main">
            <a:off x="6400800" y="1524000"/>
            <a:ext cx="2190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350" b="1" i="0">
                <a:solidFill>
                  <a:srgbClr val="238A7A"/>
                </a:solidFill>
                <a:latin typeface="DejaVu Sans"/>
                <a:ea typeface="DejaVu Sans"/>
                <a:cs typeface="DejaVu Sans"/>
              </a:defRPr>
            </a:defPPr>
          </a:lstStyle>
          <a:p xmlns:a="http://schemas.openxmlformats.org/drawingml/2006/main">
            <a:pPr algn="l">
              <a:defRPr sz="1350" b="1" i="0">
                <a:solidFill>
                  <a:srgbClr val="238A7A"/>
                </a:solidFill>
                <a:latin typeface="DejaVu Sans"/>
                <a:ea typeface="DejaVu Sans"/>
                <a:cs typeface="DejaVu Sans"/>
              </a:defRPr>
            </a:pPr>
            <a:r>
              <a:rPr sz="1350" b="1" i="0">
                <a:solidFill>
                  <a:srgbClr val="238A7A"/>
                </a:solidFill>
                <a:latin typeface="DejaVu Sans"/>
                <a:ea typeface="DejaVu Sans"/>
                <a:cs typeface="DejaVu Sans"/>
              </a:rPr>
              <a:t>Noise ε</a:t>
            </a:r>
          </a:p>
        </p:txBody>
      </p:sp>
      <p:sp>
        <p:nvSpPr>
          <p:cNvPr id="8" name="">
            <a:extLst xmlns:a="http://schemas.openxmlformats.org/drawingml/2006/main">
              <a:ext uri="{FF2B5EF4-FFF2-40B4-BE49-F238E27FC236}">
                <a16:creationId xmlns:a16="http://schemas.microsoft.com/office/drawing/2014/main" id="{07428636-A506-442F-BD70-CA6E36AF512C}"/>
              </a:ext>
            </a:extLst>
          </p:cNvPr>
          <p:cNvSpPr>
            <a:spLocks xmlns:a="http://schemas.openxmlformats.org/drawingml/2006/main" noGrp="1"/>
          </p:cNvSpPr>
          <p:nvPr/>
        </p:nvSpPr>
        <p:spPr>
          <a:xfrm xmlns:a="http://schemas.openxmlformats.org/drawingml/2006/main">
            <a:off x="6400800" y="1952625"/>
            <a:ext cx="21907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725" b="1" i="0">
                <a:solidFill>
                  <a:srgbClr val="0B1F33"/>
                </a:solidFill>
                <a:latin typeface="DejaVu Sans"/>
                <a:ea typeface="DejaVu Sans"/>
                <a:cs typeface="DejaVu Sans"/>
              </a:defRPr>
            </a:defPPr>
          </a:lstStyle>
          <a:p xmlns:a="http://schemas.openxmlformats.org/drawingml/2006/main">
            <a:pPr algn="ctr">
              <a:defRPr sz="1725" b="1" i="0">
                <a:solidFill>
                  <a:srgbClr val="0B1F33"/>
                </a:solidFill>
                <a:latin typeface="DejaVu Sans"/>
                <a:ea typeface="DejaVu Sans"/>
                <a:cs typeface="DejaVu Sans"/>
              </a:defRPr>
            </a:pPr>
            <a:r>
              <a:rPr sz="1725" b="1" i="0">
                <a:solidFill>
                  <a:srgbClr val="0B1F33"/>
                </a:solidFill>
                <a:latin typeface="DejaVu Sans"/>
                <a:ea typeface="DejaVu Sans"/>
                <a:cs typeface="DejaVu Sans"/>
              </a:rPr>
              <a:t>Taster variation</a:t>
            </a:r>
          </a:p>
          <a:p xmlns:a="http://schemas.openxmlformats.org/drawingml/2006/main">
            <a:pPr algn="ctr">
              <a:defRPr sz="1725" b="1" i="0">
                <a:solidFill>
                  <a:srgbClr val="0B1F33"/>
                </a:solidFill>
                <a:latin typeface="DejaVu Sans"/>
                <a:ea typeface="DejaVu Sans"/>
                <a:cs typeface="DejaVu Sans"/>
              </a:defRPr>
            </a:pPr>
            <a:r>
              <a:rPr sz="1725" b="1" i="0">
                <a:solidFill>
                  <a:srgbClr val="0B1F33"/>
                </a:solidFill>
                <a:latin typeface="DejaVu Sans"/>
                <a:ea typeface="DejaVu Sans"/>
                <a:cs typeface="DejaVu Sans"/>
              </a:rPr>
              <a:t>and small brewing changes</a:t>
            </a:r>
          </a:p>
        </p:txBody>
      </p:sp>
      <p:sp>
        <p:nvSpPr>
          <p:cNvPr id="9" name="">
            <a:extLst xmlns:a="http://schemas.openxmlformats.org/drawingml/2006/main">
              <a:ext uri="{FF2B5EF4-FFF2-40B4-BE49-F238E27FC236}">
                <a16:creationId xmlns:a16="http://schemas.microsoft.com/office/drawing/2014/main" id="{CD18795D-355A-49F9-A99E-85C1B3CC78C9}"/>
              </a:ext>
            </a:extLst>
          </p:cNvPr>
          <p:cNvSpPr>
            <a:spLocks xmlns:a="http://schemas.openxmlformats.org/drawingml/2006/main" noGrp="1"/>
          </p:cNvSpPr>
          <p:nvPr/>
        </p:nvSpPr>
        <p:spPr>
          <a:xfrm xmlns:a="http://schemas.openxmlformats.org/drawingml/2006/main">
            <a:off x="9191625" y="1524000"/>
            <a:ext cx="2190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350" b="1" i="0">
                <a:solidFill>
                  <a:srgbClr val="238A7A"/>
                </a:solidFill>
                <a:latin typeface="DejaVu Sans"/>
                <a:ea typeface="DejaVu Sans"/>
                <a:cs typeface="DejaVu Sans"/>
              </a:defRPr>
            </a:defPPr>
          </a:lstStyle>
          <a:p xmlns:a="http://schemas.openxmlformats.org/drawingml/2006/main">
            <a:pPr algn="l">
              <a:defRPr sz="1350" b="1" i="0">
                <a:solidFill>
                  <a:srgbClr val="238A7A"/>
                </a:solidFill>
                <a:latin typeface="DejaVu Sans"/>
                <a:ea typeface="DejaVu Sans"/>
                <a:cs typeface="DejaVu Sans"/>
              </a:defRPr>
            </a:pPr>
            <a:r>
              <a:rPr sz="1350" b="1" i="0">
                <a:solidFill>
                  <a:srgbClr val="238A7A"/>
                </a:solidFill>
                <a:latin typeface="DejaVu Sans"/>
                <a:ea typeface="DejaVu Sans"/>
                <a:cs typeface="DejaVu Sans"/>
              </a:rPr>
              <a:t>Goal</a:t>
            </a:r>
          </a:p>
        </p:txBody>
      </p:sp>
      <p:sp>
        <p:nvSpPr>
          <p:cNvPr id="10" name="">
            <a:extLst xmlns:a="http://schemas.openxmlformats.org/drawingml/2006/main">
              <a:ext uri="{FF2B5EF4-FFF2-40B4-BE49-F238E27FC236}">
                <a16:creationId xmlns:a16="http://schemas.microsoft.com/office/drawing/2014/main" id="{F15CC435-48ED-48C1-896B-41D8525A7931}"/>
              </a:ext>
            </a:extLst>
          </p:cNvPr>
          <p:cNvSpPr>
            <a:spLocks xmlns:a="http://schemas.openxmlformats.org/drawingml/2006/main" noGrp="1"/>
          </p:cNvSpPr>
          <p:nvPr/>
        </p:nvSpPr>
        <p:spPr>
          <a:xfrm xmlns:a="http://schemas.openxmlformats.org/drawingml/2006/main">
            <a:off x="9144000" y="1952625"/>
            <a:ext cx="2286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725" b="1" i="0">
                <a:solidFill>
                  <a:srgbClr val="0B1F33"/>
                </a:solidFill>
                <a:latin typeface="DejaVu Sans"/>
                <a:ea typeface="DejaVu Sans"/>
                <a:cs typeface="DejaVu Sans"/>
              </a:defRPr>
            </a:defPPr>
          </a:lstStyle>
          <a:p xmlns:a="http://schemas.openxmlformats.org/drawingml/2006/main">
            <a:pPr algn="ctr">
              <a:defRPr sz="1725" b="1" i="0">
                <a:solidFill>
                  <a:srgbClr val="0B1F33"/>
                </a:solidFill>
                <a:latin typeface="DejaVu Sans"/>
                <a:ea typeface="DejaVu Sans"/>
                <a:cs typeface="DejaVu Sans"/>
              </a:defRPr>
            </a:pPr>
            <a:r>
              <a:rPr sz="1725" b="1" i="0">
                <a:solidFill>
                  <a:srgbClr val="0B1F33"/>
                </a:solidFill>
                <a:latin typeface="DejaVu Sans"/>
                <a:ea typeface="DejaVu Sans"/>
                <a:cs typeface="DejaVu Sans"/>
              </a:rPr>
              <a:t>Find a recipe worth</a:t>
            </a:r>
          </a:p>
          <a:p xmlns:a="http://schemas.openxmlformats.org/drawingml/2006/main">
            <a:pPr algn="ctr">
              <a:defRPr sz="1725" b="1" i="0">
                <a:solidFill>
                  <a:srgbClr val="0B1F33"/>
                </a:solidFill>
                <a:latin typeface="DejaVu Sans"/>
                <a:ea typeface="DejaVu Sans"/>
                <a:cs typeface="DejaVu Sans"/>
              </a:defRPr>
            </a:pPr>
            <a:r>
              <a:rPr sz="1725" b="1" i="0">
                <a:solidFill>
                  <a:srgbClr val="0B1F33"/>
                </a:solidFill>
                <a:latin typeface="DejaVu Sans"/>
                <a:ea typeface="DejaVu Sans"/>
                <a:cs typeface="DejaVu Sans"/>
              </a:rPr>
              <a:t>saving and repeating</a:t>
            </a:r>
          </a:p>
        </p:txBody>
      </p:sp>
      <p:sp>
        <p:nvSpPr>
          <p:cNvPr id="11" name="">
            <a:extLst xmlns:a="http://schemas.openxmlformats.org/drawingml/2006/main">
              <a:ext uri="{FF2B5EF4-FFF2-40B4-BE49-F238E27FC236}">
                <a16:creationId xmlns:a16="http://schemas.microsoft.com/office/drawing/2014/main" id="{0AF46AFC-55C7-43F7-B6D5-2E07711A4428}"/>
              </a:ext>
            </a:extLst>
          </p:cNvPr>
          <p:cNvSpPr>
            <a:spLocks xmlns:a="http://schemas.openxmlformats.org/drawingml/2006/main" noGrp="1"/>
          </p:cNvSpPr>
          <p:nvPr/>
        </p:nvSpPr>
        <p:spPr>
          <a:xfrm xmlns:a="http://schemas.openxmlformats.org/drawingml/2006/main">
            <a:off x="666750" y="3143250"/>
            <a:ext cx="10763250" cy="0"/>
          </a:xfrm>
          <a:prstGeom xmlns:a="http://schemas.openxmlformats.org/drawingml/2006/main" prst="line">
            <a:avLst/>
          </a:prstGeom>
          <a:noFill xmlns:a="http://schemas.openxmlformats.org/drawingml/2006/main"/>
          <a:ln xmlns:a="http://schemas.openxmlformats.org/drawingml/2006/main" w="19050">
            <a:solidFill>
              <a:srgbClr val="CAD4DA"/>
            </a:solidFill>
            <a:prstDash val="solid"/>
          </a:ln>
        </p:spPr>
      </p:sp>
      <p:sp>
        <p:nvSpPr>
          <p:cNvPr id="12" name="">
            <a:extLst xmlns:a="http://schemas.openxmlformats.org/drawingml/2006/main">
              <a:ext uri="{FF2B5EF4-FFF2-40B4-BE49-F238E27FC236}">
                <a16:creationId xmlns:a16="http://schemas.microsoft.com/office/drawing/2014/main" id="{CFFAAA87-87C0-4AAA-A18E-4BBA334535D6}"/>
              </a:ext>
            </a:extLst>
          </p:cNvPr>
          <p:cNvSpPr>
            <a:spLocks xmlns:a="http://schemas.openxmlformats.org/drawingml/2006/main" noGrp="1"/>
          </p:cNvSpPr>
          <p:nvPr/>
        </p:nvSpPr>
        <p:spPr>
          <a:xfrm xmlns:a="http://schemas.openxmlformats.org/drawingml/2006/main">
            <a:off x="838200" y="3543300"/>
            <a:ext cx="1714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800" b="1" i="0">
                <a:solidFill>
                  <a:srgbClr val="3A6EA5"/>
                </a:solidFill>
                <a:latin typeface="DejaVu Sans"/>
                <a:ea typeface="DejaVu Sans"/>
                <a:cs typeface="DejaVu Sans"/>
              </a:defRPr>
            </a:defPPr>
          </a:lstStyle>
          <a:p xmlns:a="http://schemas.openxmlformats.org/drawingml/2006/main">
            <a:pPr algn="ctr">
              <a:defRPr sz="1800" b="1" i="0">
                <a:solidFill>
                  <a:srgbClr val="3A6EA5"/>
                </a:solidFill>
                <a:latin typeface="DejaVu Sans"/>
                <a:ea typeface="DejaVu Sans"/>
                <a:cs typeface="DejaVu Sans"/>
              </a:defRPr>
            </a:pPr>
            <a:r>
              <a:rPr sz="1800" b="1" i="0">
                <a:solidFill>
                  <a:srgbClr val="3A6EA5"/>
                </a:solidFill>
                <a:latin typeface="DejaVu Sans"/>
                <a:ea typeface="DejaVu Sans"/>
                <a:cs typeface="DejaVu Sans"/>
              </a:rPr>
              <a:t>GP</a:t>
            </a:r>
          </a:p>
        </p:txBody>
      </p:sp>
      <p:sp>
        <p:nvSpPr>
          <p:cNvPr id="13" name="">
            <a:extLst xmlns:a="http://schemas.openxmlformats.org/drawingml/2006/main">
              <a:ext uri="{FF2B5EF4-FFF2-40B4-BE49-F238E27FC236}">
                <a16:creationId xmlns:a16="http://schemas.microsoft.com/office/drawing/2014/main" id="{4B3C1CE4-5BF1-45B9-BD0A-3CFAAA08ED2D}"/>
              </a:ext>
            </a:extLst>
          </p:cNvPr>
          <p:cNvSpPr>
            <a:spLocks xmlns:a="http://schemas.openxmlformats.org/drawingml/2006/main" noGrp="1"/>
          </p:cNvSpPr>
          <p:nvPr/>
        </p:nvSpPr>
        <p:spPr>
          <a:xfrm xmlns:a="http://schemas.openxmlformats.org/drawingml/2006/main">
            <a:off x="609600" y="4019550"/>
            <a:ext cx="21907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350" b="0" i="0">
                <a:solidFill>
                  <a:srgbClr val="5E6A72"/>
                </a:solidFill>
                <a:latin typeface="DejaVu Sans"/>
                <a:ea typeface="DejaVu Sans"/>
                <a:cs typeface="DejaVu Sans"/>
              </a:defRPr>
            </a:defPPr>
          </a:lstStyle>
          <a:p xmlns:a="http://schemas.openxmlformats.org/drawingml/2006/main">
            <a:pPr algn="ctr">
              <a:defRPr sz="1350" b="0" i="0">
                <a:solidFill>
                  <a:srgbClr val="5E6A72"/>
                </a:solidFill>
                <a:latin typeface="DejaVu Sans"/>
                <a:ea typeface="DejaVu Sans"/>
                <a:cs typeface="DejaVu Sans"/>
              </a:defRPr>
            </a:pPr>
            <a:r>
              <a:rPr sz="1350" b="0" i="0">
                <a:solidFill>
                  <a:srgbClr val="5E6A72"/>
                </a:solidFill>
                <a:latin typeface="DejaVu Sans"/>
                <a:ea typeface="DejaVu Sans"/>
                <a:cs typeface="DejaVu Sans"/>
              </a:rPr>
              <a:t>A map of which recipes might taste good and where the uncertainty is high</a:t>
            </a:r>
          </a:p>
        </p:txBody>
      </p:sp>
      <p:sp>
        <p:nvSpPr>
          <p:cNvPr id="14" name="">
            <a:extLst xmlns:a="http://schemas.openxmlformats.org/drawingml/2006/main">
              <a:ext uri="{FF2B5EF4-FFF2-40B4-BE49-F238E27FC236}">
                <a16:creationId xmlns:a16="http://schemas.microsoft.com/office/drawing/2014/main" id="{620C2418-3D73-40B1-946C-5E443E471729}"/>
              </a:ext>
            </a:extLst>
          </p:cNvPr>
          <p:cNvSpPr>
            <a:spLocks xmlns:a="http://schemas.openxmlformats.org/drawingml/2006/main" noGrp="1"/>
          </p:cNvSpPr>
          <p:nvPr/>
        </p:nvSpPr>
        <p:spPr>
          <a:xfrm xmlns:a="http://schemas.openxmlformats.org/drawingml/2006/main">
            <a:off x="3381375" y="3543300"/>
            <a:ext cx="2095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800" b="1" i="0">
                <a:solidFill>
                  <a:srgbClr val="3A6EA5"/>
                </a:solidFill>
                <a:latin typeface="DejaVu Sans"/>
                <a:ea typeface="DejaVu Sans"/>
                <a:cs typeface="DejaVu Sans"/>
              </a:defRPr>
            </a:defPPr>
          </a:lstStyle>
          <a:p xmlns:a="http://schemas.openxmlformats.org/drawingml/2006/main">
            <a:pPr algn="ctr">
              <a:defRPr sz="1800" b="1" i="0">
                <a:solidFill>
                  <a:srgbClr val="3A6EA5"/>
                </a:solidFill>
                <a:latin typeface="DejaVu Sans"/>
                <a:ea typeface="DejaVu Sans"/>
                <a:cs typeface="DejaVu Sans"/>
              </a:defRPr>
            </a:pPr>
            <a:r>
              <a:rPr sz="1800" b="1" i="0">
                <a:solidFill>
                  <a:srgbClr val="3A6EA5"/>
                </a:solidFill>
                <a:latin typeface="DejaVu Sans"/>
                <a:ea typeface="DejaVu Sans"/>
                <a:cs typeface="DejaVu Sans"/>
              </a:rPr>
              <a:t>Acquisition</a:t>
            </a:r>
          </a:p>
        </p:txBody>
      </p:sp>
      <p:sp>
        <p:nvSpPr>
          <p:cNvPr id="15" name="">
            <a:extLst xmlns:a="http://schemas.openxmlformats.org/drawingml/2006/main">
              <a:ext uri="{FF2B5EF4-FFF2-40B4-BE49-F238E27FC236}">
                <a16:creationId xmlns:a16="http://schemas.microsoft.com/office/drawing/2014/main" id="{6438E0A2-00A9-4213-8D40-E1B311EBC1FF}"/>
              </a:ext>
            </a:extLst>
          </p:cNvPr>
          <p:cNvSpPr>
            <a:spLocks xmlns:a="http://schemas.openxmlformats.org/drawingml/2006/main" noGrp="1"/>
          </p:cNvSpPr>
          <p:nvPr/>
        </p:nvSpPr>
        <p:spPr>
          <a:xfrm xmlns:a="http://schemas.openxmlformats.org/drawingml/2006/main">
            <a:off x="3286125" y="4019550"/>
            <a:ext cx="22860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350" b="0" i="0">
                <a:solidFill>
                  <a:srgbClr val="5E6A72"/>
                </a:solidFill>
                <a:latin typeface="DejaVu Sans"/>
                <a:ea typeface="DejaVu Sans"/>
                <a:cs typeface="DejaVu Sans"/>
              </a:defRPr>
            </a:defPPr>
          </a:lstStyle>
          <a:p xmlns:a="http://schemas.openxmlformats.org/drawingml/2006/main">
            <a:pPr algn="ctr">
              <a:defRPr sz="1350" b="0" i="0">
                <a:solidFill>
                  <a:srgbClr val="5E6A72"/>
                </a:solidFill>
                <a:latin typeface="DejaVu Sans"/>
                <a:ea typeface="DejaVu Sans"/>
                <a:cs typeface="DejaVu Sans"/>
              </a:defRPr>
            </a:pPr>
            <a:r>
              <a:rPr sz="1350" b="0" i="0">
                <a:solidFill>
                  <a:srgbClr val="5E6A72"/>
                </a:solidFill>
                <a:latin typeface="DejaVu Sans"/>
                <a:ea typeface="DejaVu Sans"/>
                <a:cs typeface="DejaVu Sans"/>
              </a:rPr>
              <a:t>Choose the next cup that best balances a promising score and useful information</a:t>
            </a:r>
          </a:p>
        </p:txBody>
      </p:sp>
      <p:sp>
        <p:nvSpPr>
          <p:cNvPr id="16" name="">
            <a:extLst xmlns:a="http://schemas.openxmlformats.org/drawingml/2006/main">
              <a:ext uri="{FF2B5EF4-FFF2-40B4-BE49-F238E27FC236}">
                <a16:creationId xmlns:a16="http://schemas.microsoft.com/office/drawing/2014/main" id="{BC44A356-0AEE-4711-BCB8-8CB02290C3CA}"/>
              </a:ext>
            </a:extLst>
          </p:cNvPr>
          <p:cNvSpPr>
            <a:spLocks xmlns:a="http://schemas.openxmlformats.org/drawingml/2006/main" noGrp="1"/>
          </p:cNvSpPr>
          <p:nvPr/>
        </p:nvSpPr>
        <p:spPr>
          <a:xfrm xmlns:a="http://schemas.openxmlformats.org/drawingml/2006/main">
            <a:off x="6191250" y="3543300"/>
            <a:ext cx="1905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800" b="1" i="0">
                <a:solidFill>
                  <a:srgbClr val="F4A261"/>
                </a:solidFill>
                <a:latin typeface="DejaVu Sans"/>
                <a:ea typeface="DejaVu Sans"/>
                <a:cs typeface="DejaVu Sans"/>
              </a:defRPr>
            </a:defPPr>
          </a:lstStyle>
          <a:p xmlns:a="http://schemas.openxmlformats.org/drawingml/2006/main">
            <a:pPr algn="ctr">
              <a:defRPr sz="1800" b="1" i="0">
                <a:solidFill>
                  <a:srgbClr val="F4A261"/>
                </a:solidFill>
                <a:latin typeface="DejaVu Sans"/>
                <a:ea typeface="DejaVu Sans"/>
                <a:cs typeface="DejaVu Sans"/>
              </a:defRPr>
            </a:pPr>
            <a:r>
              <a:rPr sz="1800" b="1" i="0">
                <a:solidFill>
                  <a:srgbClr val="F4A261"/>
                </a:solidFill>
                <a:latin typeface="DejaVu Sans"/>
                <a:ea typeface="DejaVu Sans"/>
                <a:cs typeface="DejaVu Sans"/>
              </a:rPr>
              <a:t>Stopping</a:t>
            </a:r>
          </a:p>
        </p:txBody>
      </p:sp>
      <p:sp>
        <p:nvSpPr>
          <p:cNvPr id="17" name="">
            <a:extLst xmlns:a="http://schemas.openxmlformats.org/drawingml/2006/main">
              <a:ext uri="{FF2B5EF4-FFF2-40B4-BE49-F238E27FC236}">
                <a16:creationId xmlns:a16="http://schemas.microsoft.com/office/drawing/2014/main" id="{12D5C394-6253-4E76-B3A5-0EAE19749879}"/>
              </a:ext>
            </a:extLst>
          </p:cNvPr>
          <p:cNvSpPr>
            <a:spLocks xmlns:a="http://schemas.openxmlformats.org/drawingml/2006/main" noGrp="1"/>
          </p:cNvSpPr>
          <p:nvPr/>
        </p:nvSpPr>
        <p:spPr>
          <a:xfrm xmlns:a="http://schemas.openxmlformats.org/drawingml/2006/main">
            <a:off x="6019800" y="4019550"/>
            <a:ext cx="22860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350" b="0" i="0">
                <a:solidFill>
                  <a:srgbClr val="5E6A72"/>
                </a:solidFill>
                <a:latin typeface="DejaVu Sans"/>
                <a:ea typeface="DejaVu Sans"/>
                <a:cs typeface="DejaVu Sans"/>
              </a:defRPr>
            </a:defPPr>
          </a:lstStyle>
          <a:p xmlns:a="http://schemas.openxmlformats.org/drawingml/2006/main">
            <a:pPr algn="ctr">
              <a:defRPr sz="1350" b="0" i="0">
                <a:solidFill>
                  <a:srgbClr val="5E6A72"/>
                </a:solidFill>
                <a:latin typeface="DejaVu Sans"/>
                <a:ea typeface="DejaVu Sans"/>
                <a:cs typeface="DejaVu Sans"/>
              </a:defRPr>
            </a:pPr>
            <a:r>
              <a:rPr sz="1350" b="0" i="0">
                <a:solidFill>
                  <a:srgbClr val="5E6A72"/>
                </a:solidFill>
                <a:latin typeface="DejaVu Sans"/>
                <a:ea typeface="DejaVu Sans"/>
                <a:cs typeface="DejaVu Sans"/>
              </a:rPr>
              <a:t>Decide whether another cup is likely to improve the final choice enough to justify its cost</a:t>
            </a:r>
          </a:p>
        </p:txBody>
      </p:sp>
      <p:sp>
        <p:nvSpPr>
          <p:cNvPr id="18" name="">
            <a:extLst xmlns:a="http://schemas.openxmlformats.org/drawingml/2006/main">
              <a:ext uri="{FF2B5EF4-FFF2-40B4-BE49-F238E27FC236}">
                <a16:creationId xmlns:a16="http://schemas.microsoft.com/office/drawing/2014/main" id="{C2D0D7F3-3F9D-42DE-82EF-8D234F8F05A3}"/>
              </a:ext>
            </a:extLst>
          </p:cNvPr>
          <p:cNvSpPr>
            <a:spLocks xmlns:a="http://schemas.openxmlformats.org/drawingml/2006/main" noGrp="1"/>
          </p:cNvSpPr>
          <p:nvPr/>
        </p:nvSpPr>
        <p:spPr>
          <a:xfrm xmlns:a="http://schemas.openxmlformats.org/drawingml/2006/main">
            <a:off x="8620125" y="3543300"/>
            <a:ext cx="2762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500" b="1" i="0">
                <a:solidFill>
                  <a:srgbClr val="238A7A"/>
                </a:solidFill>
                <a:latin typeface="DejaVu Sans"/>
                <a:ea typeface="DejaVu Sans"/>
                <a:cs typeface="DejaVu Sans"/>
              </a:defRPr>
            </a:defPPr>
          </a:lstStyle>
          <a:p xmlns:a="http://schemas.openxmlformats.org/drawingml/2006/main">
            <a:pPr algn="ctr">
              <a:defRPr sz="1500" b="1" i="0">
                <a:solidFill>
                  <a:srgbClr val="238A7A"/>
                </a:solidFill>
                <a:latin typeface="DejaVu Sans"/>
                <a:ea typeface="DejaVu Sans"/>
                <a:cs typeface="DejaVu Sans"/>
              </a:defRPr>
            </a:pPr>
            <a:r>
              <a:rPr sz="1500" b="1" i="0">
                <a:solidFill>
                  <a:srgbClr val="238A7A"/>
                </a:solidFill>
                <a:latin typeface="DejaVu Sans"/>
                <a:ea typeface="DejaVu Sans"/>
                <a:cs typeface="DejaVu Sans"/>
              </a:rPr>
              <a:t>Recommendation</a:t>
            </a:r>
          </a:p>
        </p:txBody>
      </p:sp>
      <p:sp>
        <p:nvSpPr>
          <p:cNvPr id="19" name="">
            <a:extLst xmlns:a="http://schemas.openxmlformats.org/drawingml/2006/main">
              <a:ext uri="{FF2B5EF4-FFF2-40B4-BE49-F238E27FC236}">
                <a16:creationId xmlns:a16="http://schemas.microsoft.com/office/drawing/2014/main" id="{1C91E6EC-E5FF-4356-BC0C-E5427B4F8CC3}"/>
              </a:ext>
            </a:extLst>
          </p:cNvPr>
          <p:cNvSpPr>
            <a:spLocks xmlns:a="http://schemas.openxmlformats.org/drawingml/2006/main" noGrp="1"/>
          </p:cNvSpPr>
          <p:nvPr/>
        </p:nvSpPr>
        <p:spPr>
          <a:xfrm xmlns:a="http://schemas.openxmlformats.org/drawingml/2006/main">
            <a:off x="8810625" y="4019550"/>
            <a:ext cx="24765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350" b="0" i="0">
                <a:solidFill>
                  <a:srgbClr val="5E6A72"/>
                </a:solidFill>
                <a:latin typeface="DejaVu Sans"/>
                <a:ea typeface="DejaVu Sans"/>
                <a:cs typeface="DejaVu Sans"/>
              </a:defRPr>
            </a:defPPr>
          </a:lstStyle>
          <a:p xmlns:a="http://schemas.openxmlformats.org/drawingml/2006/main">
            <a:pPr algn="ctr">
              <a:defRPr sz="1350" b="0" i="0">
                <a:solidFill>
                  <a:srgbClr val="5E6A72"/>
                </a:solidFill>
                <a:latin typeface="DejaVu Sans"/>
                <a:ea typeface="DejaVu Sans"/>
                <a:cs typeface="DejaVu Sans"/>
              </a:defRPr>
            </a:pPr>
            <a:r>
              <a:rPr sz="1350" b="0" i="0">
                <a:solidFill>
                  <a:srgbClr val="5E6A72"/>
                </a:solidFill>
                <a:latin typeface="DejaVu Sans"/>
                <a:ea typeface="DejaVu Sans"/>
                <a:cs typeface="DejaVu Sans"/>
              </a:rPr>
              <a:t>Save one temperature and grind setting as the final recipe</a:t>
            </a:r>
          </a:p>
        </p:txBody>
      </p:sp>
      <p:sp>
        <p:nvSpPr>
          <p:cNvPr id="20" name="">
            <a:extLst xmlns:a="http://schemas.openxmlformats.org/drawingml/2006/main">
              <a:ext uri="{FF2B5EF4-FFF2-40B4-BE49-F238E27FC236}">
                <a16:creationId xmlns:a16="http://schemas.microsoft.com/office/drawing/2014/main" id="{7CF0401D-9534-4A30-AEC1-DE305083A9DD}"/>
              </a:ext>
            </a:extLst>
          </p:cNvPr>
          <p:cNvSpPr>
            <a:spLocks xmlns:a="http://schemas.openxmlformats.org/drawingml/2006/main" noGrp="1"/>
          </p:cNvSpPr>
          <p:nvPr/>
        </p:nvSpPr>
        <p:spPr>
          <a:xfrm xmlns:a="http://schemas.openxmlformats.org/drawingml/2006/main">
            <a:off x="1143000" y="5619750"/>
            <a:ext cx="9906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650" b="1" i="0">
                <a:solidFill>
                  <a:srgbClr val="132735"/>
                </a:solidFill>
                <a:latin typeface="DejaVu Sans"/>
                <a:ea typeface="DejaVu Sans"/>
                <a:cs typeface="DejaVu Sans"/>
              </a:defRPr>
            </a:defPPr>
          </a:lstStyle>
          <a:p xmlns:a="http://schemas.openxmlformats.org/drawingml/2006/main">
            <a:pPr algn="ctr">
              <a:defRPr sz="1650" b="1" i="0">
                <a:solidFill>
                  <a:srgbClr val="132735"/>
                </a:solidFill>
                <a:latin typeface="DejaVu Sans"/>
                <a:ea typeface="DejaVu Sans"/>
                <a:cs typeface="DejaVu Sans"/>
              </a:defRPr>
            </a:pPr>
            <a:r>
              <a:rPr sz="1650" b="1" i="0">
                <a:solidFill>
                  <a:srgbClr val="132735"/>
                </a:solidFill>
                <a:latin typeface="DejaVu Sans"/>
                <a:ea typeface="DejaVu Sans"/>
                <a:cs typeface="DejaVu Sans"/>
              </a:rPr>
              <a:t>The analogy is simple, but the project adds a strict question: how much risk of choosing the wrong recipe is acceptable?</a:t>
            </a:r>
          </a:p>
        </p:txBody>
      </p:sp>
      <p:sp>
        <p:nvSpPr>
          <p:cNvPr id="21" name="">
            <a:extLst xmlns:a="http://schemas.openxmlformats.org/drawingml/2006/main">
              <a:ext uri="{FF2B5EF4-FFF2-40B4-BE49-F238E27FC236}">
                <a16:creationId xmlns:a16="http://schemas.microsoft.com/office/drawing/2014/main" id="{A561710D-D9C8-4611-B266-EDFC40BF4EFF}"/>
              </a:ext>
            </a:extLst>
          </p:cNvPr>
          <p:cNvSpPr>
            <a:spLocks xmlns:a="http://schemas.openxmlformats.org/drawingml/2006/main" noGrp="1"/>
          </p:cNvSpPr>
          <p:nvPr/>
        </p:nvSpPr>
        <p:spPr>
          <a:xfrm xmlns:a="http://schemas.openxmlformats.org/drawingml/2006/main">
            <a:off x="11001375" y="6429375"/>
            <a:ext cx="495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825" b="1" i="0">
                <a:solidFill>
                  <a:srgbClr val="71808A"/>
                </a:solidFill>
                <a:latin typeface="DejaVu Sans"/>
                <a:ea typeface="DejaVu Sans"/>
                <a:cs typeface="DejaVu Sans"/>
              </a:defRPr>
            </a:defPPr>
          </a:lstStyle>
          <a:p xmlns:a="http://schemas.openxmlformats.org/drawingml/2006/main">
            <a:pPr algn="r">
              <a:defRPr sz="825" b="1" i="0">
                <a:solidFill>
                  <a:srgbClr val="71808A"/>
                </a:solidFill>
                <a:latin typeface="DejaVu Sans"/>
                <a:ea typeface="DejaVu Sans"/>
                <a:cs typeface="DejaVu Sans"/>
              </a:defRPr>
            </a:pPr>
            <a:r>
              <a:rPr sz="825" b="1" i="0">
                <a:solidFill>
                  <a:srgbClr val="71808A"/>
                </a:solidFill>
                <a:latin typeface="DejaVu Sans"/>
                <a:ea typeface="DejaVu Sans"/>
                <a:cs typeface="DejaVu Sans"/>
              </a:rPr>
              <a:t>07</a:t>
            </a:r>
          </a:p>
        </p:txBody>
      </p:sp>
    </p:spTree>
    <p:extLst>
      <p:ext uri="{BB962C8B-B14F-4D97-AF65-F5344CB8AC3E}">
        <p14:creationId xmlns:p14="http://schemas.microsoft.com/office/powerpoint/2010/main" val="1592312627"/>
      </p:ext>
    </p:extLst>
  </p:cSld>
</p:sld>
</file>

<file path=ppt/slides/slide8.xml><?xml version="1.0" encoding="utf-8"?>
<p:sld xmlns:p="http://schemas.openxmlformats.org/presentationml/2006/main">
  <p:cSld>
    <p:bg>
      <p:bgPr>
        <a:solidFill xmlns:a="http://schemas.openxmlformats.org/drawingml/2006/main">
          <a:srgbClr val="0B1F33"/>
        </a:solidFill>
      </p:bgPr>
    </p:bg>
    <p:spTree>
      <p:nvGrpSpPr>
        <p:cNvPr id="1" name=""/>
        <p:cNvGrpSpPr/>
        <p:nvPr/>
      </p:nvGrpSpPr>
      <p:grpSpPr>
        <a:xfrm xmlns:a="http://schemas.openxmlformats.org/drawingml/2006/main"/>
      </p:grpSpPr>
      <p:sp>
        <p:nvSpPr>
          <p:cNvPr id="20" name="slide-title">
            <a:extLst xmlns:a="http://schemas.openxmlformats.org/drawingml/2006/main">
              <a:ext uri="{FF2B5EF4-FFF2-40B4-BE49-F238E27FC236}">
                <a16:creationId xmlns:a16="http://schemas.microsoft.com/office/drawing/2014/main" id="{8BAF4B9D-C8EE-4543-9396-90DD7ACF9696}"/>
              </a:ext>
            </a:extLst>
          </p:cNvPr>
          <p:cNvSpPr>
            <a:spLocks xmlns:a="http://schemas.openxmlformats.org/drawingml/2006/main" noGrp="1"/>
          </p:cNvSpPr>
          <p:nvPr/>
        </p:nvSpPr>
        <p:spPr>
          <a:xfrm xmlns:a="http://schemas.openxmlformats.org/drawingml/2006/main">
            <a:off x="685800" y="419100"/>
            <a:ext cx="10382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550" b="1" i="0">
                <a:solidFill>
                  <a:srgbClr val="FFFFFF"/>
                </a:solidFill>
                <a:latin typeface="DejaVu Sans"/>
                <a:ea typeface="DejaVu Sans"/>
                <a:cs typeface="DejaVu Sans"/>
              </a:defRPr>
            </a:defPPr>
          </a:lstStyle>
          <a:p xmlns:a="http://schemas.openxmlformats.org/drawingml/2006/main">
            <a:pPr algn="l">
              <a:defRPr sz="2550" b="1" i="0">
                <a:solidFill>
                  <a:srgbClr val="FFFFFF"/>
                </a:solidFill>
                <a:latin typeface="DejaVu Sans"/>
                <a:ea typeface="DejaVu Sans"/>
                <a:cs typeface="DejaVu Sans"/>
              </a:defRPr>
            </a:pPr>
            <a:r>
              <a:rPr sz="2550" b="1" i="0">
                <a:solidFill>
                  <a:srgbClr val="FFFFFF"/>
                </a:solidFill>
                <a:latin typeface="DejaVu Sans"/>
                <a:ea typeface="DejaVu Sans"/>
                <a:cs typeface="DejaVu Sans"/>
              </a:rPr>
              <a:t>A minimal BoTorch implementation</a:t>
            </a:r>
          </a:p>
        </p:txBody>
      </p:sp>
      <p:sp>
        <p:nvSpPr>
          <p:cNvPr id="2" name="slide-subtitle">
            <a:extLst xmlns:a="http://schemas.openxmlformats.org/drawingml/2006/main">
              <a:ext uri="{FF2B5EF4-FFF2-40B4-BE49-F238E27FC236}">
                <a16:creationId xmlns:a16="http://schemas.microsoft.com/office/drawing/2014/main" id="{23978FBA-2600-4D06-8C3D-94664BAAF30B}"/>
              </a:ext>
            </a:extLst>
          </p:cNvPr>
          <p:cNvSpPr>
            <a:spLocks xmlns:a="http://schemas.openxmlformats.org/drawingml/2006/main" noGrp="1"/>
          </p:cNvSpPr>
          <p:nvPr/>
        </p:nvSpPr>
        <p:spPr>
          <a:xfrm xmlns:a="http://schemas.openxmlformats.org/drawingml/2006/main">
            <a:off x="704850" y="990600"/>
            <a:ext cx="1028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275" b="0" i="0">
                <a:solidFill>
                  <a:srgbClr val="C8D7E3"/>
                </a:solidFill>
                <a:latin typeface="DejaVu Sans"/>
                <a:ea typeface="DejaVu Sans"/>
                <a:cs typeface="DejaVu Sans"/>
              </a:defRPr>
            </a:defPPr>
          </a:lstStyle>
          <a:p xmlns:a="http://schemas.openxmlformats.org/drawingml/2006/main">
            <a:pPr algn="l">
              <a:defRPr sz="1275" b="0" i="0">
                <a:solidFill>
                  <a:srgbClr val="C8D7E3"/>
                </a:solidFill>
                <a:latin typeface="DejaVu Sans"/>
                <a:ea typeface="DejaVu Sans"/>
                <a:cs typeface="DejaVu Sans"/>
              </a:defRPr>
            </a:pPr>
            <a:r>
              <a:rPr sz="1275" b="0" i="0">
                <a:solidFill>
                  <a:srgbClr val="C8D7E3"/>
                </a:solidFill>
                <a:latin typeface="DejaVu Sans"/>
                <a:ea typeface="DejaVu Sans"/>
                <a:cs typeface="DejaVu Sans"/>
              </a:rPr>
              <a:t>The library handles modeling and acquisition. The project supplies stopping and evaluation</a:t>
            </a:r>
          </a:p>
        </p:txBody>
      </p:sp>
      <p:sp>
        <p:nvSpPr>
          <p:cNvPr id="3" name="">
            <a:extLst xmlns:a="http://schemas.openxmlformats.org/drawingml/2006/main">
              <a:ext uri="{FF2B5EF4-FFF2-40B4-BE49-F238E27FC236}">
                <a16:creationId xmlns:a16="http://schemas.microsoft.com/office/drawing/2014/main" id="{D19192E4-8213-44CC-AD2D-C054B614098C}"/>
              </a:ext>
            </a:extLst>
          </p:cNvPr>
          <p:cNvSpPr>
            <a:spLocks xmlns:a="http://schemas.openxmlformats.org/drawingml/2006/main" noGrp="1"/>
          </p:cNvSpPr>
          <p:nvPr/>
        </p:nvSpPr>
        <p:spPr>
          <a:xfrm xmlns:a="http://schemas.openxmlformats.org/drawingml/2006/main">
            <a:off x="609600" y="1476375"/>
            <a:ext cx="6905625" cy="4400550"/>
          </a:xfrm>
          <a:prstGeom xmlns:a="http://schemas.openxmlformats.org/drawingml/2006/main" prst="roundRect">
            <a:avLst>
              <a:gd name="adj" fmla="val 1732"/>
            </a:avLst>
          </a:prstGeom>
          <a:solidFill xmlns:a="http://schemas.openxmlformats.org/drawingml/2006/main">
            <a:srgbClr val="102A3D"/>
          </a:solidFill>
          <a:ln xmlns:a="http://schemas.openxmlformats.org/drawingml/2006/main" w="9525">
            <a:solidFill>
              <a:srgbClr val="365061"/>
            </a:solidFill>
            <a:prstDash val="solid"/>
          </a:ln>
        </p:spPr>
      </p:sp>
      <p:sp>
        <p:nvSpPr>
          <p:cNvPr id="4" name="">
            <a:extLst xmlns:a="http://schemas.openxmlformats.org/drawingml/2006/main">
              <a:ext uri="{FF2B5EF4-FFF2-40B4-BE49-F238E27FC236}">
                <a16:creationId xmlns:a16="http://schemas.microsoft.com/office/drawing/2014/main" id="{A06383F9-406A-4590-A1EE-EE59A03FD9CD}"/>
              </a:ext>
            </a:extLst>
          </p:cNvPr>
          <p:cNvSpPr>
            <a:spLocks xmlns:a="http://schemas.openxmlformats.org/drawingml/2006/main" noGrp="1"/>
          </p:cNvSpPr>
          <p:nvPr/>
        </p:nvSpPr>
        <p:spPr>
          <a:xfrm xmlns:a="http://schemas.openxmlformats.org/drawingml/2006/main">
            <a:off x="876300" y="1733550"/>
            <a:ext cx="6334125" cy="3905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350" b="0" i="0">
                <a:solidFill>
                  <a:srgbClr val="E7EEF3"/>
                </a:solidFill>
                <a:latin typeface="DejaVu Sans Mono"/>
                <a:ea typeface="DejaVu Sans Mono"/>
                <a:cs typeface="DejaVu Sans Mono"/>
              </a:defRPr>
            </a:defPPr>
          </a:lstStyle>
          <a:p xmlns:a="http://schemas.openxmlformats.org/drawingml/2006/main">
            <a:pPr algn="l">
              <a:defRPr sz="1350" b="0" i="0">
                <a:solidFill>
                  <a:srgbClr val="E7EEF3"/>
                </a:solidFill>
                <a:latin typeface="DejaVu Sans Mono"/>
                <a:ea typeface="DejaVu Sans Mono"/>
                <a:cs typeface="DejaVu Sans Mono"/>
              </a:defRPr>
            </a:pPr>
            <a:r>
              <a:rPr sz="1350" b="0" i="0">
                <a:solidFill>
                  <a:srgbClr val="E7EEF3"/>
                </a:solidFill>
                <a:latin typeface="DejaVu Sans Mono"/>
                <a:ea typeface="DejaVu Sans Mono"/>
                <a:cs typeface="DejaVu Sans Mono"/>
              </a:rPr>
              <a:t>model = SingleTaskGP(train_X, train_Y,</a:t>
            </a:r>
          </a:p>
          <a:p xmlns:a="http://schemas.openxmlformats.org/drawingml/2006/main">
            <a:pPr algn="l">
              <a:defRPr sz="1350" b="0" i="0">
                <a:solidFill>
                  <a:srgbClr val="E7EEF3"/>
                </a:solidFill>
                <a:latin typeface="DejaVu Sans Mono"/>
                <a:ea typeface="DejaVu Sans Mono"/>
                <a:cs typeface="DejaVu Sans Mono"/>
              </a:defRPr>
            </a:pPr>
            <a:r>
              <a:rPr sz="1350" b="0" i="0">
                <a:solidFill>
                  <a:srgbClr val="E7EEF3"/>
                </a:solidFill>
                <a:latin typeface="DejaVu Sans Mono"/>
                <a:ea typeface="DejaVu Sans Mono"/>
                <a:cs typeface="DejaVu Sans Mono"/>
              </a:rPr>
              <a:t>    outcome_transform=Standardize(m=1))</a:t>
            </a:r>
          </a:p>
          <a:p xmlns:a="http://schemas.openxmlformats.org/drawingml/2006/main">
            <a:r>
              <a:t/>
            </a:r>
          </a:p>
          <a:p xmlns:a="http://schemas.openxmlformats.org/drawingml/2006/main">
            <a:pPr algn="l">
              <a:defRPr sz="1350" b="0" i="0">
                <a:solidFill>
                  <a:srgbClr val="E7EEF3"/>
                </a:solidFill>
                <a:latin typeface="DejaVu Sans Mono"/>
                <a:ea typeface="DejaVu Sans Mono"/>
                <a:cs typeface="DejaVu Sans Mono"/>
              </a:defRPr>
            </a:pPr>
            <a:r>
              <a:rPr sz="1350" b="0" i="0">
                <a:solidFill>
                  <a:srgbClr val="E7EEF3"/>
                </a:solidFill>
                <a:latin typeface="DejaVu Sans Mono"/>
                <a:ea typeface="DejaVu Sans Mono"/>
                <a:cs typeface="DejaVu Sans Mono"/>
              </a:rPr>
              <a:t>mll = ExactMarginalLogLikelihood(</a:t>
            </a:r>
          </a:p>
          <a:p xmlns:a="http://schemas.openxmlformats.org/drawingml/2006/main">
            <a:pPr algn="l">
              <a:defRPr sz="1350" b="0" i="0">
                <a:solidFill>
                  <a:srgbClr val="E7EEF3"/>
                </a:solidFill>
                <a:latin typeface="DejaVu Sans Mono"/>
                <a:ea typeface="DejaVu Sans Mono"/>
                <a:cs typeface="DejaVu Sans Mono"/>
              </a:defRPr>
            </a:pPr>
            <a:r>
              <a:rPr sz="1350" b="0" i="0">
                <a:solidFill>
                  <a:srgbClr val="E7EEF3"/>
                </a:solidFill>
                <a:latin typeface="DejaVu Sans Mono"/>
                <a:ea typeface="DejaVu Sans Mono"/>
                <a:cs typeface="DejaVu Sans Mono"/>
              </a:rPr>
              <a:t>    model.likelihood, model)</a:t>
            </a:r>
          </a:p>
          <a:p xmlns:a="http://schemas.openxmlformats.org/drawingml/2006/main">
            <a:pPr algn="l">
              <a:defRPr sz="1350" b="0" i="0">
                <a:solidFill>
                  <a:srgbClr val="E7EEF3"/>
                </a:solidFill>
                <a:latin typeface="DejaVu Sans Mono"/>
                <a:ea typeface="DejaVu Sans Mono"/>
                <a:cs typeface="DejaVu Sans Mono"/>
              </a:defRPr>
            </a:pPr>
            <a:r>
              <a:rPr sz="1350" b="0" i="0">
                <a:solidFill>
                  <a:srgbClr val="E7EEF3"/>
                </a:solidFill>
                <a:latin typeface="DejaVu Sans Mono"/>
                <a:ea typeface="DejaVu Sans Mono"/>
                <a:cs typeface="DejaVu Sans Mono"/>
              </a:rPr>
              <a:t>fit_gpytorch_mll(mll)</a:t>
            </a:r>
          </a:p>
          <a:p xmlns:a="http://schemas.openxmlformats.org/drawingml/2006/main">
            <a:r>
              <a:t/>
            </a:r>
          </a:p>
          <a:p xmlns:a="http://schemas.openxmlformats.org/drawingml/2006/main">
            <a:pPr algn="l">
              <a:defRPr sz="1350" b="0" i="0">
                <a:solidFill>
                  <a:srgbClr val="E7EEF3"/>
                </a:solidFill>
                <a:latin typeface="DejaVu Sans Mono"/>
                <a:ea typeface="DejaVu Sans Mono"/>
                <a:cs typeface="DejaVu Sans Mono"/>
              </a:defRPr>
            </a:pPr>
            <a:r>
              <a:rPr sz="1350" b="0" i="0">
                <a:solidFill>
                  <a:srgbClr val="E7EEF3"/>
                </a:solidFill>
                <a:latin typeface="DejaVu Sans Mono"/>
                <a:ea typeface="DejaVu Sans Mono"/>
                <a:cs typeface="DejaVu Sans Mono"/>
              </a:rPr>
              <a:t>acq = LogExpectedImprovement(</a:t>
            </a:r>
          </a:p>
          <a:p xmlns:a="http://schemas.openxmlformats.org/drawingml/2006/main">
            <a:pPr algn="l">
              <a:defRPr sz="1350" b="0" i="0">
                <a:solidFill>
                  <a:srgbClr val="E7EEF3"/>
                </a:solidFill>
                <a:latin typeface="DejaVu Sans Mono"/>
                <a:ea typeface="DejaVu Sans Mono"/>
                <a:cs typeface="DejaVu Sans Mono"/>
              </a:defRPr>
            </a:pPr>
            <a:r>
              <a:rPr sz="1350" b="0" i="0">
                <a:solidFill>
                  <a:srgbClr val="E7EEF3"/>
                </a:solidFill>
                <a:latin typeface="DejaVu Sans Mono"/>
                <a:ea typeface="DejaVu Sans Mono"/>
                <a:cs typeface="DejaVu Sans Mono"/>
              </a:rPr>
              <a:t>    model=model, best_f=train_Y.max())</a:t>
            </a:r>
          </a:p>
          <a:p xmlns:a="http://schemas.openxmlformats.org/drawingml/2006/main">
            <a:r>
              <a:t/>
            </a:r>
          </a:p>
          <a:p xmlns:a="http://schemas.openxmlformats.org/drawingml/2006/main">
            <a:pPr algn="l">
              <a:defRPr sz="1350" b="0" i="0">
                <a:solidFill>
                  <a:srgbClr val="E7EEF3"/>
                </a:solidFill>
                <a:latin typeface="DejaVu Sans Mono"/>
                <a:ea typeface="DejaVu Sans Mono"/>
                <a:cs typeface="DejaVu Sans Mono"/>
              </a:defRPr>
            </a:pPr>
            <a:r>
              <a:rPr sz="1350" b="0" i="0">
                <a:solidFill>
                  <a:srgbClr val="E7EEF3"/>
                </a:solidFill>
                <a:latin typeface="DejaVu Sans Mono"/>
                <a:ea typeface="DejaVu Sans Mono"/>
                <a:cs typeface="DejaVu Sans Mono"/>
              </a:rPr>
              <a:t>x_next, _ = optimize_acqf(</a:t>
            </a:r>
          </a:p>
          <a:p xmlns:a="http://schemas.openxmlformats.org/drawingml/2006/main">
            <a:pPr algn="l">
              <a:defRPr sz="1350" b="0" i="0">
                <a:solidFill>
                  <a:srgbClr val="E7EEF3"/>
                </a:solidFill>
                <a:latin typeface="DejaVu Sans Mono"/>
                <a:ea typeface="DejaVu Sans Mono"/>
                <a:cs typeface="DejaVu Sans Mono"/>
              </a:defRPr>
            </a:pPr>
            <a:r>
              <a:rPr sz="1350" b="0" i="0">
                <a:solidFill>
                  <a:srgbClr val="E7EEF3"/>
                </a:solidFill>
                <a:latin typeface="DejaVu Sans Mono"/>
                <a:ea typeface="DejaVu Sans Mono"/>
                <a:cs typeface="DejaVu Sans Mono"/>
              </a:rPr>
              <a:t>    acq, bounds, q=1,</a:t>
            </a:r>
          </a:p>
          <a:p xmlns:a="http://schemas.openxmlformats.org/drawingml/2006/main">
            <a:pPr algn="l">
              <a:defRPr sz="1350" b="0" i="0">
                <a:solidFill>
                  <a:srgbClr val="E7EEF3"/>
                </a:solidFill>
                <a:latin typeface="DejaVu Sans Mono"/>
                <a:ea typeface="DejaVu Sans Mono"/>
                <a:cs typeface="DejaVu Sans Mono"/>
              </a:defRPr>
            </a:pPr>
            <a:r>
              <a:rPr sz="1350" b="0" i="0">
                <a:solidFill>
                  <a:srgbClr val="E7EEF3"/>
                </a:solidFill>
                <a:latin typeface="DejaVu Sans Mono"/>
                <a:ea typeface="DejaVu Sans Mono"/>
                <a:cs typeface="DejaVu Sans Mono"/>
              </a:rPr>
              <a:t>    num_restarts=12, raw_samples=256)</a:t>
            </a:r>
          </a:p>
        </p:txBody>
      </p:sp>
      <p:sp>
        <p:nvSpPr>
          <p:cNvPr id="5" name="">
            <a:extLst xmlns:a="http://schemas.openxmlformats.org/drawingml/2006/main">
              <a:ext uri="{FF2B5EF4-FFF2-40B4-BE49-F238E27FC236}">
                <a16:creationId xmlns:a16="http://schemas.microsoft.com/office/drawing/2014/main" id="{2D967B9F-9665-4D31-A02A-D2CA62ACCC50}"/>
              </a:ext>
            </a:extLst>
          </p:cNvPr>
          <p:cNvSpPr>
            <a:spLocks xmlns:a="http://schemas.openxmlformats.org/drawingml/2006/main" noGrp="1"/>
          </p:cNvSpPr>
          <p:nvPr/>
        </p:nvSpPr>
        <p:spPr>
          <a:xfrm xmlns:a="http://schemas.openxmlformats.org/drawingml/2006/main">
            <a:off x="7953375" y="1495425"/>
            <a:ext cx="3143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275" b="1" i="0">
                <a:solidFill>
                  <a:srgbClr val="5BC0BE"/>
                </a:solidFill>
                <a:latin typeface="DejaVu Sans"/>
                <a:ea typeface="DejaVu Sans"/>
                <a:cs typeface="DejaVu Sans"/>
              </a:defRPr>
            </a:defPPr>
          </a:lstStyle>
          <a:p xmlns:a="http://schemas.openxmlformats.org/drawingml/2006/main">
            <a:pPr algn="l">
              <a:defRPr sz="1275" b="1" i="0">
                <a:solidFill>
                  <a:srgbClr val="5BC0BE"/>
                </a:solidFill>
                <a:latin typeface="DejaVu Sans"/>
                <a:ea typeface="DejaVu Sans"/>
                <a:cs typeface="DejaVu Sans"/>
              </a:defRPr>
            </a:pPr>
            <a:r>
              <a:rPr sz="1275" b="1" i="0">
                <a:solidFill>
                  <a:srgbClr val="5BC0BE"/>
                </a:solidFill>
                <a:latin typeface="DejaVu Sans"/>
                <a:ea typeface="DejaVu Sans"/>
                <a:cs typeface="DejaVu Sans"/>
              </a:rPr>
              <a:t>1  Build the GP</a:t>
            </a:r>
          </a:p>
        </p:txBody>
      </p:sp>
      <p:sp>
        <p:nvSpPr>
          <p:cNvPr id="6" name="">
            <a:extLst xmlns:a="http://schemas.openxmlformats.org/drawingml/2006/main">
              <a:ext uri="{FF2B5EF4-FFF2-40B4-BE49-F238E27FC236}">
                <a16:creationId xmlns:a16="http://schemas.microsoft.com/office/drawing/2014/main" id="{BC28D76B-8C0C-4CB6-BCD6-C60D6F8D8753}"/>
              </a:ext>
            </a:extLst>
          </p:cNvPr>
          <p:cNvSpPr>
            <a:spLocks xmlns:a="http://schemas.openxmlformats.org/drawingml/2006/main" noGrp="1"/>
          </p:cNvSpPr>
          <p:nvPr/>
        </p:nvSpPr>
        <p:spPr>
          <a:xfrm xmlns:a="http://schemas.openxmlformats.org/drawingml/2006/main">
            <a:off x="7953375" y="1790700"/>
            <a:ext cx="3238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050" b="0" i="0">
                <a:solidFill>
                  <a:srgbClr val="D0DCE4"/>
                </a:solidFill>
                <a:latin typeface="DejaVu Sans"/>
                <a:ea typeface="DejaVu Sans"/>
                <a:cs typeface="DejaVu Sans"/>
              </a:defRPr>
            </a:defPPr>
          </a:lstStyle>
          <a:p xmlns:a="http://schemas.openxmlformats.org/drawingml/2006/main">
            <a:pPr algn="l">
              <a:defRPr sz="1050" b="0" i="0">
                <a:solidFill>
                  <a:srgbClr val="D0DCE4"/>
                </a:solidFill>
                <a:latin typeface="DejaVu Sans"/>
                <a:ea typeface="DejaVu Sans"/>
                <a:cs typeface="DejaVu Sans"/>
              </a:defRPr>
            </a:pPr>
            <a:r>
              <a:rPr sz="1050" b="0" i="0">
                <a:solidFill>
                  <a:srgbClr val="D0DCE4"/>
                </a:solidFill>
                <a:latin typeface="DejaVu Sans"/>
                <a:ea typeface="DejaVu Sans"/>
                <a:cs typeface="DejaVu Sans"/>
              </a:rPr>
              <a:t>SingleTaskGP connects the observations to a probabilistic surrogate.</a:t>
            </a:r>
          </a:p>
        </p:txBody>
      </p:sp>
      <p:sp>
        <p:nvSpPr>
          <p:cNvPr id="7" name="">
            <a:extLst xmlns:a="http://schemas.openxmlformats.org/drawingml/2006/main">
              <a:ext uri="{FF2B5EF4-FFF2-40B4-BE49-F238E27FC236}">
                <a16:creationId xmlns:a16="http://schemas.microsoft.com/office/drawing/2014/main" id="{C1FD4EE4-C0EB-4498-8838-8CF32337AB54}"/>
              </a:ext>
            </a:extLst>
          </p:cNvPr>
          <p:cNvSpPr>
            <a:spLocks xmlns:a="http://schemas.openxmlformats.org/drawingml/2006/main" noGrp="1"/>
          </p:cNvSpPr>
          <p:nvPr/>
        </p:nvSpPr>
        <p:spPr>
          <a:xfrm xmlns:a="http://schemas.openxmlformats.org/drawingml/2006/main">
            <a:off x="7953375" y="2257425"/>
            <a:ext cx="3143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275" b="1" i="0">
                <a:solidFill>
                  <a:srgbClr val="5BC0BE"/>
                </a:solidFill>
                <a:latin typeface="DejaVu Sans"/>
                <a:ea typeface="DejaVu Sans"/>
                <a:cs typeface="DejaVu Sans"/>
              </a:defRPr>
            </a:defPPr>
          </a:lstStyle>
          <a:p xmlns:a="http://schemas.openxmlformats.org/drawingml/2006/main">
            <a:pPr algn="l">
              <a:defRPr sz="1275" b="1" i="0">
                <a:solidFill>
                  <a:srgbClr val="5BC0BE"/>
                </a:solidFill>
                <a:latin typeface="DejaVu Sans"/>
                <a:ea typeface="DejaVu Sans"/>
                <a:cs typeface="DejaVu Sans"/>
              </a:defRPr>
            </a:pPr>
            <a:r>
              <a:rPr sz="1275" b="1" i="0">
                <a:solidFill>
                  <a:srgbClr val="5BC0BE"/>
                </a:solidFill>
                <a:latin typeface="DejaVu Sans"/>
                <a:ea typeface="DejaVu Sans"/>
                <a:cs typeface="DejaVu Sans"/>
              </a:rPr>
              <a:t>2  Fit parameters</a:t>
            </a:r>
          </a:p>
        </p:txBody>
      </p:sp>
      <p:sp>
        <p:nvSpPr>
          <p:cNvPr id="8" name="">
            <a:extLst xmlns:a="http://schemas.openxmlformats.org/drawingml/2006/main">
              <a:ext uri="{FF2B5EF4-FFF2-40B4-BE49-F238E27FC236}">
                <a16:creationId xmlns:a16="http://schemas.microsoft.com/office/drawing/2014/main" id="{0F2F4968-EB18-48FF-8990-5E9B2CD7EF52}"/>
              </a:ext>
            </a:extLst>
          </p:cNvPr>
          <p:cNvSpPr>
            <a:spLocks xmlns:a="http://schemas.openxmlformats.org/drawingml/2006/main" noGrp="1"/>
          </p:cNvSpPr>
          <p:nvPr/>
        </p:nvSpPr>
        <p:spPr>
          <a:xfrm xmlns:a="http://schemas.openxmlformats.org/drawingml/2006/main">
            <a:off x="7953375" y="2552700"/>
            <a:ext cx="3238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050" b="0" i="0">
                <a:solidFill>
                  <a:srgbClr val="D0DCE4"/>
                </a:solidFill>
                <a:latin typeface="DejaVu Sans"/>
                <a:ea typeface="DejaVu Sans"/>
                <a:cs typeface="DejaVu Sans"/>
              </a:defRPr>
            </a:defPPr>
          </a:lstStyle>
          <a:p xmlns:a="http://schemas.openxmlformats.org/drawingml/2006/main">
            <a:pPr algn="l">
              <a:defRPr sz="1050" b="0" i="0">
                <a:solidFill>
                  <a:srgbClr val="D0DCE4"/>
                </a:solidFill>
                <a:latin typeface="DejaVu Sans"/>
                <a:ea typeface="DejaVu Sans"/>
                <a:cs typeface="DejaVu Sans"/>
              </a:defRPr>
            </a:pPr>
            <a:r>
              <a:rPr sz="1050" b="0" i="0">
                <a:solidFill>
                  <a:srgbClr val="D0DCE4"/>
                </a:solidFill>
                <a:latin typeface="DejaVu Sans"/>
                <a:ea typeface="DejaVu Sans"/>
                <a:cs typeface="DejaVu Sans"/>
              </a:rPr>
              <a:t>Marginal likelihood estimates length scale, output scale, noise, and mean.</a:t>
            </a:r>
          </a:p>
        </p:txBody>
      </p:sp>
      <p:sp>
        <p:nvSpPr>
          <p:cNvPr id="9" name="">
            <a:extLst xmlns:a="http://schemas.openxmlformats.org/drawingml/2006/main">
              <a:ext uri="{FF2B5EF4-FFF2-40B4-BE49-F238E27FC236}">
                <a16:creationId xmlns:a16="http://schemas.microsoft.com/office/drawing/2014/main" id="{6FB8D786-0119-4B85-B585-D92F81F650FB}"/>
              </a:ext>
            </a:extLst>
          </p:cNvPr>
          <p:cNvSpPr>
            <a:spLocks xmlns:a="http://schemas.openxmlformats.org/drawingml/2006/main" noGrp="1"/>
          </p:cNvSpPr>
          <p:nvPr/>
        </p:nvSpPr>
        <p:spPr>
          <a:xfrm xmlns:a="http://schemas.openxmlformats.org/drawingml/2006/main">
            <a:off x="7953375" y="3019425"/>
            <a:ext cx="3143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275" b="1" i="0">
                <a:solidFill>
                  <a:srgbClr val="5BC0BE"/>
                </a:solidFill>
                <a:latin typeface="DejaVu Sans"/>
                <a:ea typeface="DejaVu Sans"/>
                <a:cs typeface="DejaVu Sans"/>
              </a:defRPr>
            </a:defPPr>
          </a:lstStyle>
          <a:p xmlns:a="http://schemas.openxmlformats.org/drawingml/2006/main">
            <a:pPr algn="l">
              <a:defRPr sz="1275" b="1" i="0">
                <a:solidFill>
                  <a:srgbClr val="5BC0BE"/>
                </a:solidFill>
                <a:latin typeface="DejaVu Sans"/>
                <a:ea typeface="DejaVu Sans"/>
                <a:cs typeface="DejaVu Sans"/>
              </a:defRPr>
            </a:pPr>
            <a:r>
              <a:rPr sz="1275" b="1" i="0">
                <a:solidFill>
                  <a:srgbClr val="5BC0BE"/>
                </a:solidFill>
                <a:latin typeface="DejaVu Sans"/>
                <a:ea typeface="DejaVu Sans"/>
                <a:cs typeface="DejaVu Sans"/>
              </a:rPr>
              <a:t>3  Create acquisition</a:t>
            </a:r>
          </a:p>
        </p:txBody>
      </p:sp>
      <p:sp>
        <p:nvSpPr>
          <p:cNvPr id="10" name="">
            <a:extLst xmlns:a="http://schemas.openxmlformats.org/drawingml/2006/main">
              <a:ext uri="{FF2B5EF4-FFF2-40B4-BE49-F238E27FC236}">
                <a16:creationId xmlns:a16="http://schemas.microsoft.com/office/drawing/2014/main" id="{C1DD993D-3A36-4BB0-A75D-356E4CD9D0DA}"/>
              </a:ext>
            </a:extLst>
          </p:cNvPr>
          <p:cNvSpPr>
            <a:spLocks xmlns:a="http://schemas.openxmlformats.org/drawingml/2006/main" noGrp="1"/>
          </p:cNvSpPr>
          <p:nvPr/>
        </p:nvSpPr>
        <p:spPr>
          <a:xfrm xmlns:a="http://schemas.openxmlformats.org/drawingml/2006/main">
            <a:off x="7953375" y="3314700"/>
            <a:ext cx="3238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050" b="0" i="0">
                <a:solidFill>
                  <a:srgbClr val="D0DCE4"/>
                </a:solidFill>
                <a:latin typeface="DejaVu Sans"/>
                <a:ea typeface="DejaVu Sans"/>
                <a:cs typeface="DejaVu Sans"/>
              </a:defRPr>
            </a:defPPr>
          </a:lstStyle>
          <a:p xmlns:a="http://schemas.openxmlformats.org/drawingml/2006/main">
            <a:pPr algn="l">
              <a:defRPr sz="1050" b="0" i="0">
                <a:solidFill>
                  <a:srgbClr val="D0DCE4"/>
                </a:solidFill>
                <a:latin typeface="DejaVu Sans"/>
                <a:ea typeface="DejaVu Sans"/>
                <a:cs typeface="DejaVu Sans"/>
              </a:defRPr>
            </a:pPr>
            <a:r>
              <a:rPr sz="1050" b="0" i="0">
                <a:solidFill>
                  <a:srgbClr val="D0DCE4"/>
                </a:solidFill>
                <a:latin typeface="DejaVu Sans"/>
                <a:ea typeface="DejaVu Sans"/>
                <a:cs typeface="DejaVu Sans"/>
              </a:rPr>
              <a:t>LogEI ranks candidate inputs without running the real experiment.</a:t>
            </a:r>
          </a:p>
        </p:txBody>
      </p:sp>
      <p:sp>
        <p:nvSpPr>
          <p:cNvPr id="11" name="">
            <a:extLst xmlns:a="http://schemas.openxmlformats.org/drawingml/2006/main">
              <a:ext uri="{FF2B5EF4-FFF2-40B4-BE49-F238E27FC236}">
                <a16:creationId xmlns:a16="http://schemas.microsoft.com/office/drawing/2014/main" id="{57A75CBA-F987-4FB3-97F6-7D0D9658B9C6}"/>
              </a:ext>
            </a:extLst>
          </p:cNvPr>
          <p:cNvSpPr>
            <a:spLocks xmlns:a="http://schemas.openxmlformats.org/drawingml/2006/main" noGrp="1"/>
          </p:cNvSpPr>
          <p:nvPr/>
        </p:nvSpPr>
        <p:spPr>
          <a:xfrm xmlns:a="http://schemas.openxmlformats.org/drawingml/2006/main">
            <a:off x="7953375" y="3781425"/>
            <a:ext cx="3143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275" b="1" i="0">
                <a:solidFill>
                  <a:srgbClr val="5BC0BE"/>
                </a:solidFill>
                <a:latin typeface="DejaVu Sans"/>
                <a:ea typeface="DejaVu Sans"/>
                <a:cs typeface="DejaVu Sans"/>
              </a:defRPr>
            </a:defPPr>
          </a:lstStyle>
          <a:p xmlns:a="http://schemas.openxmlformats.org/drawingml/2006/main">
            <a:pPr algn="l">
              <a:defRPr sz="1275" b="1" i="0">
                <a:solidFill>
                  <a:srgbClr val="5BC0BE"/>
                </a:solidFill>
                <a:latin typeface="DejaVu Sans"/>
                <a:ea typeface="DejaVu Sans"/>
                <a:cs typeface="DejaVu Sans"/>
              </a:defRPr>
            </a:pPr>
            <a:r>
              <a:rPr sz="1275" b="1" i="0">
                <a:solidFill>
                  <a:srgbClr val="5BC0BE"/>
                </a:solidFill>
                <a:latin typeface="DejaVu Sans"/>
                <a:ea typeface="DejaVu Sans"/>
                <a:cs typeface="DejaVu Sans"/>
              </a:rPr>
              <a:t>4  Optimize acquisition</a:t>
            </a:r>
          </a:p>
        </p:txBody>
      </p:sp>
      <p:sp>
        <p:nvSpPr>
          <p:cNvPr id="12" name="">
            <a:extLst xmlns:a="http://schemas.openxmlformats.org/drawingml/2006/main">
              <a:ext uri="{FF2B5EF4-FFF2-40B4-BE49-F238E27FC236}">
                <a16:creationId xmlns:a16="http://schemas.microsoft.com/office/drawing/2014/main" id="{6552A230-7FEB-4BDD-A08D-3CC0ED2B88DE}"/>
              </a:ext>
            </a:extLst>
          </p:cNvPr>
          <p:cNvSpPr>
            <a:spLocks xmlns:a="http://schemas.openxmlformats.org/drawingml/2006/main" noGrp="1"/>
          </p:cNvSpPr>
          <p:nvPr/>
        </p:nvSpPr>
        <p:spPr>
          <a:xfrm xmlns:a="http://schemas.openxmlformats.org/drawingml/2006/main">
            <a:off x="7953375" y="4076700"/>
            <a:ext cx="3238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050" b="0" i="0">
                <a:solidFill>
                  <a:srgbClr val="D0DCE4"/>
                </a:solidFill>
                <a:latin typeface="DejaVu Sans"/>
                <a:ea typeface="DejaVu Sans"/>
                <a:cs typeface="DejaVu Sans"/>
              </a:defRPr>
            </a:defPPr>
          </a:lstStyle>
          <a:p xmlns:a="http://schemas.openxmlformats.org/drawingml/2006/main">
            <a:pPr algn="l">
              <a:defRPr sz="1050" b="0" i="0">
                <a:solidFill>
                  <a:srgbClr val="D0DCE4"/>
                </a:solidFill>
                <a:latin typeface="DejaVu Sans"/>
                <a:ea typeface="DejaVu Sans"/>
                <a:cs typeface="DejaVu Sans"/>
              </a:defRPr>
            </a:pPr>
            <a:r>
              <a:rPr sz="1050" b="0" i="0">
                <a:solidFill>
                  <a:srgbClr val="D0DCE4"/>
                </a:solidFill>
                <a:latin typeface="DejaVu Sans"/>
                <a:ea typeface="DejaVu Sans"/>
                <a:cs typeface="DejaVu Sans"/>
              </a:rPr>
              <a:t>Restarts and raw samples reduce the risk of a poor local solution.</a:t>
            </a:r>
          </a:p>
        </p:txBody>
      </p:sp>
      <p:sp>
        <p:nvSpPr>
          <p:cNvPr id="13" name="">
            <a:extLst xmlns:a="http://schemas.openxmlformats.org/drawingml/2006/main">
              <a:ext uri="{FF2B5EF4-FFF2-40B4-BE49-F238E27FC236}">
                <a16:creationId xmlns:a16="http://schemas.microsoft.com/office/drawing/2014/main" id="{7256D03E-49CD-4089-A316-3659E63541BC}"/>
              </a:ext>
            </a:extLst>
          </p:cNvPr>
          <p:cNvSpPr>
            <a:spLocks xmlns:a="http://schemas.openxmlformats.org/drawingml/2006/main" noGrp="1"/>
          </p:cNvSpPr>
          <p:nvPr/>
        </p:nvSpPr>
        <p:spPr>
          <a:xfrm xmlns:a="http://schemas.openxmlformats.org/drawingml/2006/main">
            <a:off x="7953375" y="4543425"/>
            <a:ext cx="3143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275" b="1" i="0">
                <a:solidFill>
                  <a:srgbClr val="5BC0BE"/>
                </a:solidFill>
                <a:latin typeface="DejaVu Sans"/>
                <a:ea typeface="DejaVu Sans"/>
                <a:cs typeface="DejaVu Sans"/>
              </a:defRPr>
            </a:defPPr>
          </a:lstStyle>
          <a:p xmlns:a="http://schemas.openxmlformats.org/drawingml/2006/main">
            <a:pPr algn="l">
              <a:defRPr sz="1275" b="1" i="0">
                <a:solidFill>
                  <a:srgbClr val="5BC0BE"/>
                </a:solidFill>
                <a:latin typeface="DejaVu Sans"/>
                <a:ea typeface="DejaVu Sans"/>
                <a:cs typeface="DejaVu Sans"/>
              </a:defRPr>
            </a:pPr>
            <a:r>
              <a:rPr sz="1275" b="1" i="0">
                <a:solidFill>
                  <a:srgbClr val="5BC0BE"/>
                </a:solidFill>
                <a:latin typeface="DejaVu Sans"/>
                <a:ea typeface="DejaVu Sans"/>
                <a:cs typeface="DejaVu Sans"/>
              </a:rPr>
              <a:t>5  Evaluate and append</a:t>
            </a:r>
          </a:p>
        </p:txBody>
      </p:sp>
      <p:sp>
        <p:nvSpPr>
          <p:cNvPr id="14" name="">
            <a:extLst xmlns:a="http://schemas.openxmlformats.org/drawingml/2006/main">
              <a:ext uri="{FF2B5EF4-FFF2-40B4-BE49-F238E27FC236}">
                <a16:creationId xmlns:a16="http://schemas.microsoft.com/office/drawing/2014/main" id="{4C805BAE-F215-4EFE-8F2C-A5EC7B25285A}"/>
              </a:ext>
            </a:extLst>
          </p:cNvPr>
          <p:cNvSpPr>
            <a:spLocks xmlns:a="http://schemas.openxmlformats.org/drawingml/2006/main" noGrp="1"/>
          </p:cNvSpPr>
          <p:nvPr/>
        </p:nvSpPr>
        <p:spPr>
          <a:xfrm xmlns:a="http://schemas.openxmlformats.org/drawingml/2006/main">
            <a:off x="7953375" y="4838700"/>
            <a:ext cx="3238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050" b="0" i="0">
                <a:solidFill>
                  <a:srgbClr val="D0DCE4"/>
                </a:solidFill>
                <a:latin typeface="DejaVu Sans"/>
                <a:ea typeface="DejaVu Sans"/>
                <a:cs typeface="DejaVu Sans"/>
              </a:defRPr>
            </a:defPPr>
          </a:lstStyle>
          <a:p xmlns:a="http://schemas.openxmlformats.org/drawingml/2006/main">
            <a:pPr algn="l">
              <a:defRPr sz="1050" b="0" i="0">
                <a:solidFill>
                  <a:srgbClr val="D0DCE4"/>
                </a:solidFill>
                <a:latin typeface="DejaVu Sans"/>
                <a:ea typeface="DejaVu Sans"/>
                <a:cs typeface="DejaVu Sans"/>
              </a:defRPr>
            </a:pPr>
            <a:r>
              <a:rPr sz="1050" b="0" i="0">
                <a:solidFill>
                  <a:srgbClr val="D0DCE4"/>
                </a:solidFill>
                <a:latin typeface="DejaVu Sans"/>
                <a:ea typeface="DejaVu Sans"/>
                <a:cs typeface="DejaVu Sans"/>
              </a:rPr>
              <a:t>Run the expensive objective once, add the new point, and refit.</a:t>
            </a:r>
          </a:p>
        </p:txBody>
      </p:sp>
      <p:sp>
        <p:nvSpPr>
          <p:cNvPr id="15" name="">
            <a:extLst xmlns:a="http://schemas.openxmlformats.org/drawingml/2006/main">
              <a:ext uri="{FF2B5EF4-FFF2-40B4-BE49-F238E27FC236}">
                <a16:creationId xmlns:a16="http://schemas.microsoft.com/office/drawing/2014/main" id="{293ABD95-EF59-4A51-B1A1-16B2EFB519CD}"/>
              </a:ext>
            </a:extLst>
          </p:cNvPr>
          <p:cNvSpPr>
            <a:spLocks xmlns:a="http://schemas.openxmlformats.org/drawingml/2006/main" noGrp="1"/>
          </p:cNvSpPr>
          <p:nvPr/>
        </p:nvSpPr>
        <p:spPr>
          <a:xfrm xmlns:a="http://schemas.openxmlformats.org/drawingml/2006/main">
            <a:off x="7953375" y="5305425"/>
            <a:ext cx="3143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275" b="1" i="0">
                <a:solidFill>
                  <a:srgbClr val="F4A261"/>
                </a:solidFill>
                <a:latin typeface="DejaVu Sans"/>
                <a:ea typeface="DejaVu Sans"/>
                <a:cs typeface="DejaVu Sans"/>
              </a:defRPr>
            </a:defPPr>
          </a:lstStyle>
          <a:p xmlns:a="http://schemas.openxmlformats.org/drawingml/2006/main">
            <a:pPr algn="l">
              <a:defRPr sz="1275" b="1" i="0">
                <a:solidFill>
                  <a:srgbClr val="F4A261"/>
                </a:solidFill>
                <a:latin typeface="DejaVu Sans"/>
                <a:ea typeface="DejaVu Sans"/>
                <a:cs typeface="DejaVu Sans"/>
              </a:defRPr>
            </a:pPr>
            <a:r>
              <a:rPr sz="1275" b="1" i="0">
                <a:solidFill>
                  <a:srgbClr val="F4A261"/>
                </a:solidFill>
                <a:latin typeface="DejaVu Sans"/>
                <a:ea typeface="DejaVu Sans"/>
                <a:cs typeface="DejaVu Sans"/>
              </a:rPr>
              <a:t>6  Apply our observer</a:t>
            </a:r>
          </a:p>
        </p:txBody>
      </p:sp>
      <p:sp>
        <p:nvSpPr>
          <p:cNvPr id="16" name="">
            <a:extLst xmlns:a="http://schemas.openxmlformats.org/drawingml/2006/main">
              <a:ext uri="{FF2B5EF4-FFF2-40B4-BE49-F238E27FC236}">
                <a16:creationId xmlns:a16="http://schemas.microsoft.com/office/drawing/2014/main" id="{43685606-EB53-4DEF-B49E-4E94F1335B98}"/>
              </a:ext>
            </a:extLst>
          </p:cNvPr>
          <p:cNvSpPr>
            <a:spLocks xmlns:a="http://schemas.openxmlformats.org/drawingml/2006/main" noGrp="1"/>
          </p:cNvSpPr>
          <p:nvPr/>
        </p:nvSpPr>
        <p:spPr>
          <a:xfrm xmlns:a="http://schemas.openxmlformats.org/drawingml/2006/main">
            <a:off x="7953375" y="5600700"/>
            <a:ext cx="3238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050" b="0" i="0">
                <a:solidFill>
                  <a:srgbClr val="D0DCE4"/>
                </a:solidFill>
                <a:latin typeface="DejaVu Sans"/>
                <a:ea typeface="DejaVu Sans"/>
                <a:cs typeface="DejaVu Sans"/>
              </a:defRPr>
            </a:defPPr>
          </a:lstStyle>
          <a:p xmlns:a="http://schemas.openxmlformats.org/drawingml/2006/main">
            <a:pPr algn="l">
              <a:defRPr sz="1050" b="0" i="0">
                <a:solidFill>
                  <a:srgbClr val="D0DCE4"/>
                </a:solidFill>
                <a:latin typeface="DejaVu Sans"/>
                <a:ea typeface="DejaVu Sans"/>
                <a:cs typeface="DejaVu Sans"/>
              </a:defRPr>
            </a:pPr>
            <a:r>
              <a:rPr sz="1050" b="0" i="0">
                <a:solidFill>
                  <a:srgbClr val="D0DCE4"/>
                </a:solidFill>
                <a:latin typeface="DejaVu Sans"/>
                <a:ea typeface="DejaVu Sans"/>
                <a:cs typeface="DejaVu Sans"/>
              </a:rPr>
              <a:t>Stopping logic and final recommendation remain explicit project code.</a:t>
            </a:r>
          </a:p>
        </p:txBody>
      </p:sp>
      <p:sp>
        <p:nvSpPr>
          <p:cNvPr id="17" name="">
            <a:extLst xmlns:a="http://schemas.openxmlformats.org/drawingml/2006/main">
              <a:ext uri="{FF2B5EF4-FFF2-40B4-BE49-F238E27FC236}">
                <a16:creationId xmlns:a16="http://schemas.microsoft.com/office/drawing/2014/main" id="{87DDF847-4EE3-4BF8-8A54-22CFAF47707B}"/>
              </a:ext>
            </a:extLst>
          </p:cNvPr>
          <p:cNvSpPr>
            <a:spLocks xmlns:a="http://schemas.openxmlformats.org/drawingml/2006/main" noGrp="1"/>
          </p:cNvSpPr>
          <p:nvPr/>
        </p:nvSpPr>
        <p:spPr>
          <a:xfrm xmlns:a="http://schemas.openxmlformats.org/drawingml/2006/main">
            <a:off x="1047750" y="6115050"/>
            <a:ext cx="10001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275" b="1" i="0">
                <a:solidFill>
                  <a:srgbClr val="FFFFFF"/>
                </a:solidFill>
                <a:latin typeface="DejaVu Sans"/>
                <a:ea typeface="DejaVu Sans"/>
                <a:cs typeface="DejaVu Sans"/>
              </a:defRPr>
            </a:defPPr>
          </a:lstStyle>
          <a:p xmlns:a="http://schemas.openxmlformats.org/drawingml/2006/main">
            <a:pPr algn="ctr">
              <a:defRPr sz="1275" b="1" i="0">
                <a:solidFill>
                  <a:srgbClr val="FFFFFF"/>
                </a:solidFill>
                <a:latin typeface="DejaVu Sans"/>
                <a:ea typeface="DejaVu Sans"/>
                <a:cs typeface="DejaVu Sans"/>
              </a:defRPr>
            </a:pPr>
            <a:r>
              <a:rPr sz="1275" b="1" i="0">
                <a:solidFill>
                  <a:srgbClr val="FFFFFF"/>
                </a:solidFill>
                <a:latin typeface="DejaVu Sans"/>
                <a:ea typeface="DejaVu Sans"/>
                <a:cs typeface="DejaVu Sans"/>
              </a:rPr>
              <a:t>Dense plots of the true function are allowed for benchmark evaluation, but the optimizer must never use them to choose x next.</a:t>
            </a:r>
          </a:p>
        </p:txBody>
      </p:sp>
      <p:sp>
        <p:nvSpPr>
          <p:cNvPr id="18" name="">
            <a:extLst xmlns:a="http://schemas.openxmlformats.org/drawingml/2006/main">
              <a:ext uri="{FF2B5EF4-FFF2-40B4-BE49-F238E27FC236}">
                <a16:creationId xmlns:a16="http://schemas.microsoft.com/office/drawing/2014/main" id="{605FB685-DFA3-4D3D-BF8D-F09500F95D9C}"/>
              </a:ext>
            </a:extLst>
          </p:cNvPr>
          <p:cNvSpPr>
            <a:spLocks xmlns:a="http://schemas.openxmlformats.org/drawingml/2006/main" noGrp="1"/>
          </p:cNvSpPr>
          <p:nvPr/>
        </p:nvSpPr>
        <p:spPr>
          <a:xfrm xmlns:a="http://schemas.openxmlformats.org/drawingml/2006/main">
            <a:off x="685800" y="6477000"/>
            <a:ext cx="9810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675" b="0" i="0">
                <a:solidFill>
                  <a:srgbClr val="9EB1BE"/>
                </a:solidFill>
                <a:latin typeface="DejaVu Sans"/>
                <a:ea typeface="DejaVu Sans"/>
                <a:cs typeface="DejaVu Sans"/>
              </a:defRPr>
            </a:defPPr>
          </a:lstStyle>
          <a:p xmlns:a="http://schemas.openxmlformats.org/drawingml/2006/main">
            <a:pPr algn="l">
              <a:defRPr sz="675" b="0" i="0">
                <a:solidFill>
                  <a:srgbClr val="9EB1BE"/>
                </a:solidFill>
                <a:latin typeface="DejaVu Sans"/>
                <a:ea typeface="DejaVu Sans"/>
                <a:cs typeface="DejaVu Sans"/>
              </a:defRPr>
            </a:pPr>
            <a:r>
              <a:rPr sz="675" b="0" i="0">
                <a:solidFill>
                  <a:srgbClr val="9EB1BE"/>
                </a:solidFill>
                <a:latin typeface="DejaVu Sans"/>
                <a:ea typeface="DejaVu Sans"/>
                <a:cs typeface="DejaVu Sans"/>
              </a:rPr>
              <a:t>Balandat et al. 2020; Ament et al. 2023; project examples/bo_intro.py</a:t>
            </a:r>
          </a:p>
        </p:txBody>
      </p:sp>
      <p:sp>
        <p:nvSpPr>
          <p:cNvPr id="19" name="">
            <a:extLst xmlns:a="http://schemas.openxmlformats.org/drawingml/2006/main">
              <a:ext uri="{FF2B5EF4-FFF2-40B4-BE49-F238E27FC236}">
                <a16:creationId xmlns:a16="http://schemas.microsoft.com/office/drawing/2014/main" id="{1124F80F-946D-4CBF-A771-E4F7316A04B9}"/>
              </a:ext>
            </a:extLst>
          </p:cNvPr>
          <p:cNvSpPr>
            <a:spLocks xmlns:a="http://schemas.openxmlformats.org/drawingml/2006/main" noGrp="1"/>
          </p:cNvSpPr>
          <p:nvPr/>
        </p:nvSpPr>
        <p:spPr>
          <a:xfrm xmlns:a="http://schemas.openxmlformats.org/drawingml/2006/main">
            <a:off x="11001375" y="6429375"/>
            <a:ext cx="495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825" b="1" i="0">
                <a:solidFill>
                  <a:srgbClr val="9EB1BE"/>
                </a:solidFill>
                <a:latin typeface="DejaVu Sans"/>
                <a:ea typeface="DejaVu Sans"/>
                <a:cs typeface="DejaVu Sans"/>
              </a:defRPr>
            </a:defPPr>
          </a:lstStyle>
          <a:p xmlns:a="http://schemas.openxmlformats.org/drawingml/2006/main">
            <a:pPr algn="r">
              <a:defRPr sz="825" b="1" i="0">
                <a:solidFill>
                  <a:srgbClr val="9EB1BE"/>
                </a:solidFill>
                <a:latin typeface="DejaVu Sans"/>
                <a:ea typeface="DejaVu Sans"/>
                <a:cs typeface="DejaVu Sans"/>
              </a:defRPr>
            </a:pPr>
            <a:r>
              <a:rPr sz="825" b="1" i="0">
                <a:solidFill>
                  <a:srgbClr val="9EB1BE"/>
                </a:solidFill>
                <a:latin typeface="DejaVu Sans"/>
                <a:ea typeface="DejaVu Sans"/>
                <a:cs typeface="DejaVu Sans"/>
              </a:rPr>
              <a:t>08</a:t>
            </a:r>
          </a:p>
        </p:txBody>
      </p:sp>
    </p:spTree>
    <p:extLst>
      <p:ext uri="{BB962C8B-B14F-4D97-AF65-F5344CB8AC3E}">
        <p14:creationId xmlns:p14="http://schemas.microsoft.com/office/powerpoint/2010/main" val="899802949"/>
      </p:ext>
    </p:extLst>
  </p:cSld>
</p:sld>
</file>

<file path=ppt/slides/slide9.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42" name="slide-title">
            <a:extLst xmlns:a="http://schemas.openxmlformats.org/drawingml/2006/main">
              <a:ext uri="{FF2B5EF4-FFF2-40B4-BE49-F238E27FC236}">
                <a16:creationId xmlns:a16="http://schemas.microsoft.com/office/drawing/2014/main" id="{556889CC-B9D7-4FED-885C-F3814FEC5506}"/>
              </a:ext>
            </a:extLst>
          </p:cNvPr>
          <p:cNvSpPr>
            <a:spLocks xmlns:a="http://schemas.openxmlformats.org/drawingml/2006/main" noGrp="1"/>
          </p:cNvSpPr>
          <p:nvPr/>
        </p:nvSpPr>
        <p:spPr>
          <a:xfrm xmlns:a="http://schemas.openxmlformats.org/drawingml/2006/main">
            <a:off x="685800" y="419100"/>
            <a:ext cx="10382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550" b="1" i="0">
                <a:solidFill>
                  <a:srgbClr val="0B1F33"/>
                </a:solidFill>
                <a:latin typeface="DejaVu Sans"/>
                <a:ea typeface="DejaVu Sans"/>
                <a:cs typeface="DejaVu Sans"/>
              </a:defRPr>
            </a:defPPr>
          </a:lstStyle>
          <a:p xmlns:a="http://schemas.openxmlformats.org/drawingml/2006/main">
            <a:pPr algn="l">
              <a:defRPr sz="2550" b="1" i="0">
                <a:solidFill>
                  <a:srgbClr val="0B1F33"/>
                </a:solidFill>
                <a:latin typeface="DejaVu Sans"/>
                <a:ea typeface="DejaVu Sans"/>
                <a:cs typeface="DejaVu Sans"/>
              </a:defRPr>
            </a:pPr>
            <a:r>
              <a:rPr sz="2550" b="1" i="0">
                <a:solidFill>
                  <a:srgbClr val="0B1F33"/>
                </a:solidFill>
                <a:latin typeface="DejaVu Sans"/>
                <a:ea typeface="DejaVu Sans"/>
                <a:cs typeface="DejaVu Sans"/>
              </a:rPr>
              <a:t>How GP hyperparameters change the decision</a:t>
            </a:r>
          </a:p>
        </p:txBody>
      </p:sp>
      <p:sp>
        <p:nvSpPr>
          <p:cNvPr id="2" name="slide-subtitle">
            <a:extLst xmlns:a="http://schemas.openxmlformats.org/drawingml/2006/main">
              <a:ext uri="{FF2B5EF4-FFF2-40B4-BE49-F238E27FC236}">
                <a16:creationId xmlns:a16="http://schemas.microsoft.com/office/drawing/2014/main" id="{0144828B-D64D-436E-81CF-39D8CEEB873E}"/>
              </a:ext>
            </a:extLst>
          </p:cNvPr>
          <p:cNvSpPr>
            <a:spLocks xmlns:a="http://schemas.openxmlformats.org/drawingml/2006/main" noGrp="1"/>
          </p:cNvSpPr>
          <p:nvPr/>
        </p:nvSpPr>
        <p:spPr>
          <a:xfrm xmlns:a="http://schemas.openxmlformats.org/drawingml/2006/main">
            <a:off x="704850" y="990600"/>
            <a:ext cx="1028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275" b="0" i="0">
                <a:solidFill>
                  <a:srgbClr val="5E6A72"/>
                </a:solidFill>
                <a:latin typeface="DejaVu Sans"/>
                <a:ea typeface="DejaVu Sans"/>
                <a:cs typeface="DejaVu Sans"/>
              </a:defRPr>
            </a:defPPr>
          </a:lstStyle>
          <a:p xmlns:a="http://schemas.openxmlformats.org/drawingml/2006/main">
            <a:pPr algn="l">
              <a:defRPr sz="1275" b="0" i="0">
                <a:solidFill>
                  <a:srgbClr val="5E6A72"/>
                </a:solidFill>
                <a:latin typeface="DejaVu Sans"/>
                <a:ea typeface="DejaVu Sans"/>
                <a:cs typeface="DejaVu Sans"/>
              </a:defRPr>
            </a:pPr>
            <a:r>
              <a:rPr sz="1275" b="0" i="0">
                <a:solidFill>
                  <a:srgbClr val="5E6A72"/>
                </a:solidFill>
                <a:latin typeface="DejaVu Sans"/>
                <a:ea typeface="DejaVu Sans"/>
                <a:cs typeface="DejaVu Sans"/>
              </a:rPr>
              <a:t>They alter the posterior before acquisition or stopping is applied</a:t>
            </a:r>
          </a:p>
        </p:txBody>
      </p:sp>
      <p:sp>
        <p:nvSpPr>
          <p:cNvPr id="3" name="">
            <a:extLst xmlns:a="http://schemas.openxmlformats.org/drawingml/2006/main">
              <a:ext uri="{FF2B5EF4-FFF2-40B4-BE49-F238E27FC236}">
                <a16:creationId xmlns:a16="http://schemas.microsoft.com/office/drawing/2014/main" id="{D92264D6-9C0A-42D1-B976-69FB426C83E8}"/>
              </a:ext>
            </a:extLst>
          </p:cNvPr>
          <p:cNvSpPr>
            <a:spLocks xmlns:a="http://schemas.openxmlformats.org/drawingml/2006/main" noGrp="1"/>
          </p:cNvSpPr>
          <p:nvPr/>
        </p:nvSpPr>
        <p:spPr>
          <a:xfrm xmlns:a="http://schemas.openxmlformats.org/drawingml/2006/main">
            <a:off x="723900" y="1381125"/>
            <a:ext cx="1714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125" b="1" i="0">
                <a:solidFill>
                  <a:srgbClr val="238A7A"/>
                </a:solidFill>
                <a:latin typeface="DejaVu Sans"/>
                <a:ea typeface="DejaVu Sans"/>
                <a:cs typeface="DejaVu Sans"/>
              </a:defRPr>
            </a:defPPr>
          </a:lstStyle>
          <a:p xmlns:a="http://schemas.openxmlformats.org/drawingml/2006/main">
            <a:pPr algn="l">
              <a:defRPr sz="1125" b="1" i="0">
                <a:solidFill>
                  <a:srgbClr val="238A7A"/>
                </a:solidFill>
                <a:latin typeface="DejaVu Sans"/>
                <a:ea typeface="DejaVu Sans"/>
                <a:cs typeface="DejaVu Sans"/>
              </a:defRPr>
            </a:pPr>
            <a:r>
              <a:rPr sz="1125" b="1" i="0">
                <a:solidFill>
                  <a:srgbClr val="238A7A"/>
                </a:solidFill>
                <a:latin typeface="DejaVu Sans"/>
                <a:ea typeface="DejaVu Sans"/>
                <a:cs typeface="DejaVu Sans"/>
              </a:rPr>
              <a:t>RBF kernel</a:t>
            </a:r>
          </a:p>
        </p:txBody>
      </p:sp>
      <p:sp>
        <p:nvSpPr>
          <p:cNvPr id="4" name="">
            <a:extLst xmlns:a="http://schemas.openxmlformats.org/drawingml/2006/main">
              <a:ext uri="{FF2B5EF4-FFF2-40B4-BE49-F238E27FC236}">
                <a16:creationId xmlns:a16="http://schemas.microsoft.com/office/drawing/2014/main" id="{1828A279-9BF5-4CC8-A74D-33D2FB9022CD}"/>
              </a:ext>
            </a:extLst>
          </p:cNvPr>
          <p:cNvSpPr>
            <a:spLocks xmlns:a="http://schemas.openxmlformats.org/drawingml/2006/main" noGrp="1"/>
          </p:cNvSpPr>
          <p:nvPr/>
        </p:nvSpPr>
        <p:spPr>
          <a:xfrm xmlns:a="http://schemas.openxmlformats.org/drawingml/2006/main">
            <a:off x="723900" y="1695450"/>
            <a:ext cx="6477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650" b="1" i="0">
                <a:solidFill>
                  <a:srgbClr val="0B1F33"/>
                </a:solidFill>
                <a:latin typeface="DejaVu Sans"/>
                <a:ea typeface="DejaVu Sans"/>
                <a:cs typeface="DejaVu Sans"/>
              </a:defRPr>
            </a:defPPr>
          </a:lstStyle>
          <a:p xmlns:a="http://schemas.openxmlformats.org/drawingml/2006/main">
            <a:pPr algn="l">
              <a:defRPr sz="1650" b="1" i="0">
                <a:solidFill>
                  <a:srgbClr val="0B1F33"/>
                </a:solidFill>
                <a:latin typeface="DejaVu Sans"/>
                <a:ea typeface="DejaVu Sans"/>
                <a:cs typeface="DejaVu Sans"/>
              </a:defRPr>
            </a:pPr>
            <a:r>
              <a:rPr sz="1650" b="1" i="0">
                <a:solidFill>
                  <a:srgbClr val="0B1F33"/>
                </a:solidFill>
                <a:latin typeface="DejaVu Sans"/>
                <a:ea typeface="DejaVu Sans"/>
                <a:cs typeface="DejaVu Sans"/>
              </a:rPr>
              <a:t>k(x,x′) = σf² exp[−½ Σj (xj−x′j)² / ℓj²]</a:t>
            </a:r>
          </a:p>
        </p:txBody>
      </p:sp>
      <p:sp>
        <p:nvSpPr>
          <p:cNvPr id="5" name="">
            <a:extLst xmlns:a="http://schemas.openxmlformats.org/drawingml/2006/main">
              <a:ext uri="{FF2B5EF4-FFF2-40B4-BE49-F238E27FC236}">
                <a16:creationId xmlns:a16="http://schemas.microsoft.com/office/drawing/2014/main" id="{CD8E60E0-1963-4394-AB37-C9703139AC5C}"/>
              </a:ext>
            </a:extLst>
          </p:cNvPr>
          <p:cNvSpPr>
            <a:spLocks xmlns:a="http://schemas.openxmlformats.org/drawingml/2006/main" noGrp="1"/>
          </p:cNvSpPr>
          <p:nvPr/>
        </p:nvSpPr>
        <p:spPr>
          <a:xfrm xmlns:a="http://schemas.openxmlformats.org/drawingml/2006/main">
            <a:off x="7810500" y="1381125"/>
            <a:ext cx="2000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125" b="1" i="0">
                <a:solidFill>
                  <a:srgbClr val="238A7A"/>
                </a:solidFill>
                <a:latin typeface="DejaVu Sans"/>
                <a:ea typeface="DejaVu Sans"/>
                <a:cs typeface="DejaVu Sans"/>
              </a:defRPr>
            </a:defPPr>
          </a:lstStyle>
          <a:p xmlns:a="http://schemas.openxmlformats.org/drawingml/2006/main">
            <a:pPr algn="l">
              <a:defRPr sz="1125" b="1" i="0">
                <a:solidFill>
                  <a:srgbClr val="238A7A"/>
                </a:solidFill>
                <a:latin typeface="DejaVu Sans"/>
                <a:ea typeface="DejaVu Sans"/>
                <a:cs typeface="DejaVu Sans"/>
              </a:defRPr>
            </a:pPr>
            <a:r>
              <a:rPr sz="1125" b="1" i="0">
                <a:solidFill>
                  <a:srgbClr val="238A7A"/>
                </a:solidFill>
                <a:latin typeface="DejaVu Sans"/>
                <a:ea typeface="DejaVu Sans"/>
                <a:cs typeface="DejaVu Sans"/>
              </a:rPr>
              <a:t>Training covariance</a:t>
            </a:r>
          </a:p>
        </p:txBody>
      </p:sp>
      <p:sp>
        <p:nvSpPr>
          <p:cNvPr id="6" name="">
            <a:extLst xmlns:a="http://schemas.openxmlformats.org/drawingml/2006/main">
              <a:ext uri="{FF2B5EF4-FFF2-40B4-BE49-F238E27FC236}">
                <a16:creationId xmlns:a16="http://schemas.microsoft.com/office/drawing/2014/main" id="{29E14E62-3DAD-4795-AD45-3DD34B378EBD}"/>
              </a:ext>
            </a:extLst>
          </p:cNvPr>
          <p:cNvSpPr>
            <a:spLocks xmlns:a="http://schemas.openxmlformats.org/drawingml/2006/main" noGrp="1"/>
          </p:cNvSpPr>
          <p:nvPr/>
        </p:nvSpPr>
        <p:spPr>
          <a:xfrm xmlns:a="http://schemas.openxmlformats.org/drawingml/2006/main">
            <a:off x="7810500" y="1695450"/>
            <a:ext cx="3238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800" b="1" i="0">
                <a:solidFill>
                  <a:srgbClr val="0B1F33"/>
                </a:solidFill>
                <a:latin typeface="DejaVu Sans"/>
                <a:ea typeface="DejaVu Sans"/>
                <a:cs typeface="DejaVu Sans"/>
              </a:defRPr>
            </a:defPPr>
          </a:lstStyle>
          <a:p xmlns:a="http://schemas.openxmlformats.org/drawingml/2006/main">
            <a:pPr algn="l">
              <a:defRPr sz="1800" b="1" i="0">
                <a:solidFill>
                  <a:srgbClr val="0B1F33"/>
                </a:solidFill>
                <a:latin typeface="DejaVu Sans"/>
                <a:ea typeface="DejaVu Sans"/>
                <a:cs typeface="DejaVu Sans"/>
              </a:defRPr>
            </a:pPr>
            <a:r>
              <a:rPr sz="1800" b="1" i="0">
                <a:solidFill>
                  <a:srgbClr val="0B1F33"/>
                </a:solidFill>
                <a:latin typeface="DejaVu Sans"/>
                <a:ea typeface="DejaVu Sans"/>
                <a:cs typeface="DejaVu Sans"/>
              </a:rPr>
              <a:t>Cθ = Kθ + σn²I</a:t>
            </a:r>
          </a:p>
        </p:txBody>
      </p:sp>
      <p:sp>
        <p:nvSpPr>
          <p:cNvPr id="7" name="">
            <a:extLst xmlns:a="http://schemas.openxmlformats.org/drawingml/2006/main">
              <a:ext uri="{FF2B5EF4-FFF2-40B4-BE49-F238E27FC236}">
                <a16:creationId xmlns:a16="http://schemas.microsoft.com/office/drawing/2014/main" id="{F8F472C8-A8FF-49A3-BE86-676BB9B895A2}"/>
              </a:ext>
            </a:extLst>
          </p:cNvPr>
          <p:cNvSpPr>
            <a:spLocks xmlns:a="http://schemas.openxmlformats.org/drawingml/2006/main" noGrp="1"/>
          </p:cNvSpPr>
          <p:nvPr/>
        </p:nvSpPr>
        <p:spPr>
          <a:xfrm xmlns:a="http://schemas.openxmlformats.org/drawingml/2006/main">
            <a:off x="628650" y="2324100"/>
            <a:ext cx="1714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125" b="1" i="0">
                <a:solidFill>
                  <a:srgbClr val="5E6A72"/>
                </a:solidFill>
                <a:latin typeface="DejaVu Sans"/>
                <a:ea typeface="DejaVu Sans"/>
                <a:cs typeface="DejaVu Sans"/>
              </a:defRPr>
            </a:defPPr>
          </a:lstStyle>
          <a:p xmlns:a="http://schemas.openxmlformats.org/drawingml/2006/main">
            <a:pPr algn="l">
              <a:defRPr sz="1125" b="1" i="0">
                <a:solidFill>
                  <a:srgbClr val="5E6A72"/>
                </a:solidFill>
                <a:latin typeface="DejaVu Sans"/>
                <a:ea typeface="DejaVu Sans"/>
                <a:cs typeface="DejaVu Sans"/>
              </a:defRPr>
            </a:pPr>
            <a:r>
              <a:rPr sz="1125" b="1" i="0">
                <a:solidFill>
                  <a:srgbClr val="5E6A72"/>
                </a:solidFill>
                <a:latin typeface="DejaVu Sans"/>
                <a:ea typeface="DejaVu Sans"/>
                <a:cs typeface="DejaVu Sans"/>
              </a:rPr>
              <a:t>Quantity</a:t>
            </a:r>
          </a:p>
        </p:txBody>
      </p:sp>
      <p:sp>
        <p:nvSpPr>
          <p:cNvPr id="8" name="">
            <a:extLst xmlns:a="http://schemas.openxmlformats.org/drawingml/2006/main">
              <a:ext uri="{FF2B5EF4-FFF2-40B4-BE49-F238E27FC236}">
                <a16:creationId xmlns:a16="http://schemas.microsoft.com/office/drawing/2014/main" id="{28ADC020-AB87-4B02-9A60-AA2975A33E53}"/>
              </a:ext>
            </a:extLst>
          </p:cNvPr>
          <p:cNvSpPr>
            <a:spLocks xmlns:a="http://schemas.openxmlformats.org/drawingml/2006/main" noGrp="1"/>
          </p:cNvSpPr>
          <p:nvPr/>
        </p:nvSpPr>
        <p:spPr>
          <a:xfrm xmlns:a="http://schemas.openxmlformats.org/drawingml/2006/main">
            <a:off x="2476500" y="2324100"/>
            <a:ext cx="26098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125" b="1" i="0">
                <a:solidFill>
                  <a:srgbClr val="5E6A72"/>
                </a:solidFill>
                <a:latin typeface="DejaVu Sans"/>
                <a:ea typeface="DejaVu Sans"/>
                <a:cs typeface="DejaVu Sans"/>
              </a:defRPr>
            </a:defPPr>
          </a:lstStyle>
          <a:p xmlns:a="http://schemas.openxmlformats.org/drawingml/2006/main">
            <a:pPr algn="l">
              <a:defRPr sz="1125" b="1" i="0">
                <a:solidFill>
                  <a:srgbClr val="5E6A72"/>
                </a:solidFill>
                <a:latin typeface="DejaVu Sans"/>
                <a:ea typeface="DejaVu Sans"/>
                <a:cs typeface="DejaVu Sans"/>
              </a:defRPr>
            </a:pPr>
            <a:r>
              <a:rPr sz="1125" b="1" i="0">
                <a:solidFill>
                  <a:srgbClr val="5E6A72"/>
                </a:solidFill>
                <a:latin typeface="DejaVu Sans"/>
                <a:ea typeface="DejaVu Sans"/>
                <a:cs typeface="DejaVu Sans"/>
              </a:rPr>
              <a:t>Where it appears</a:t>
            </a:r>
          </a:p>
        </p:txBody>
      </p:sp>
      <p:sp>
        <p:nvSpPr>
          <p:cNvPr id="9" name="">
            <a:extLst xmlns:a="http://schemas.openxmlformats.org/drawingml/2006/main">
              <a:ext uri="{FF2B5EF4-FFF2-40B4-BE49-F238E27FC236}">
                <a16:creationId xmlns:a16="http://schemas.microsoft.com/office/drawing/2014/main" id="{5C1315F6-364B-41D2-A94D-D1D658865B50}"/>
              </a:ext>
            </a:extLst>
          </p:cNvPr>
          <p:cNvSpPr>
            <a:spLocks xmlns:a="http://schemas.openxmlformats.org/drawingml/2006/main" noGrp="1"/>
          </p:cNvSpPr>
          <p:nvPr/>
        </p:nvSpPr>
        <p:spPr>
          <a:xfrm xmlns:a="http://schemas.openxmlformats.org/drawingml/2006/main">
            <a:off x="5219700" y="2324100"/>
            <a:ext cx="2971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125" b="1" i="0">
                <a:solidFill>
                  <a:srgbClr val="5E6A72"/>
                </a:solidFill>
                <a:latin typeface="DejaVu Sans"/>
                <a:ea typeface="DejaVu Sans"/>
                <a:cs typeface="DejaVu Sans"/>
              </a:defRPr>
            </a:defPPr>
          </a:lstStyle>
          <a:p xmlns:a="http://schemas.openxmlformats.org/drawingml/2006/main">
            <a:pPr algn="l">
              <a:defRPr sz="1125" b="1" i="0">
                <a:solidFill>
                  <a:srgbClr val="5E6A72"/>
                </a:solidFill>
                <a:latin typeface="DejaVu Sans"/>
                <a:ea typeface="DejaVu Sans"/>
                <a:cs typeface="DejaVu Sans"/>
              </a:defRPr>
            </a:pPr>
            <a:r>
              <a:rPr sz="1125" b="1" i="0">
                <a:solidFill>
                  <a:srgbClr val="5E6A72"/>
                </a:solidFill>
                <a:latin typeface="DejaVu Sans"/>
                <a:ea typeface="DejaVu Sans"/>
                <a:cs typeface="DejaVu Sans"/>
              </a:rPr>
              <a:t>If it is too small</a:t>
            </a:r>
          </a:p>
        </p:txBody>
      </p:sp>
      <p:sp>
        <p:nvSpPr>
          <p:cNvPr id="10" name="">
            <a:extLst xmlns:a="http://schemas.openxmlformats.org/drawingml/2006/main">
              <a:ext uri="{FF2B5EF4-FFF2-40B4-BE49-F238E27FC236}">
                <a16:creationId xmlns:a16="http://schemas.microsoft.com/office/drawing/2014/main" id="{1DC7FC3B-F3EC-4A5D-86F6-DB2E55D2B933}"/>
              </a:ext>
            </a:extLst>
          </p:cNvPr>
          <p:cNvSpPr>
            <a:spLocks xmlns:a="http://schemas.openxmlformats.org/drawingml/2006/main" noGrp="1"/>
          </p:cNvSpPr>
          <p:nvPr/>
        </p:nvSpPr>
        <p:spPr>
          <a:xfrm xmlns:a="http://schemas.openxmlformats.org/drawingml/2006/main">
            <a:off x="8334375" y="2324100"/>
            <a:ext cx="3143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125" b="1" i="0">
                <a:solidFill>
                  <a:srgbClr val="5E6A72"/>
                </a:solidFill>
                <a:latin typeface="DejaVu Sans"/>
                <a:ea typeface="DejaVu Sans"/>
                <a:cs typeface="DejaVu Sans"/>
              </a:defRPr>
            </a:defPPr>
          </a:lstStyle>
          <a:p xmlns:a="http://schemas.openxmlformats.org/drawingml/2006/main">
            <a:pPr algn="l">
              <a:defRPr sz="1125" b="1" i="0">
                <a:solidFill>
                  <a:srgbClr val="5E6A72"/>
                </a:solidFill>
                <a:latin typeface="DejaVu Sans"/>
                <a:ea typeface="DejaVu Sans"/>
                <a:cs typeface="DejaVu Sans"/>
              </a:defRPr>
            </a:pPr>
            <a:r>
              <a:rPr sz="1125" b="1" i="0">
                <a:solidFill>
                  <a:srgbClr val="5E6A72"/>
                </a:solidFill>
                <a:latin typeface="DejaVu Sans"/>
                <a:ea typeface="DejaVu Sans"/>
                <a:cs typeface="DejaVu Sans"/>
              </a:rPr>
              <a:t>If it is too large or mismatched</a:t>
            </a:r>
          </a:p>
        </p:txBody>
      </p:sp>
      <p:sp>
        <p:nvSpPr>
          <p:cNvPr id="11" name="">
            <a:extLst xmlns:a="http://schemas.openxmlformats.org/drawingml/2006/main">
              <a:ext uri="{FF2B5EF4-FFF2-40B4-BE49-F238E27FC236}">
                <a16:creationId xmlns:a16="http://schemas.microsoft.com/office/drawing/2014/main" id="{4E62F9AA-8A1E-4E66-A745-9B0708B0EE7A}"/>
              </a:ext>
            </a:extLst>
          </p:cNvPr>
          <p:cNvSpPr>
            <a:spLocks xmlns:a="http://schemas.openxmlformats.org/drawingml/2006/main" noGrp="1"/>
          </p:cNvSpPr>
          <p:nvPr/>
        </p:nvSpPr>
        <p:spPr>
          <a:xfrm xmlns:a="http://schemas.openxmlformats.org/drawingml/2006/main">
            <a:off x="571500" y="2762250"/>
            <a:ext cx="10953750" cy="0"/>
          </a:xfrm>
          <a:prstGeom xmlns:a="http://schemas.openxmlformats.org/drawingml/2006/main" prst="line">
            <a:avLst/>
          </a:prstGeom>
          <a:noFill xmlns:a="http://schemas.openxmlformats.org/drawingml/2006/main"/>
          <a:ln xmlns:a="http://schemas.openxmlformats.org/drawingml/2006/main" w="19050">
            <a:solidFill>
              <a:srgbClr val="CAD4DA"/>
            </a:solidFill>
            <a:prstDash val="solid"/>
          </a:ln>
        </p:spPr>
      </p:sp>
      <p:sp>
        <p:nvSpPr>
          <p:cNvPr id="12" name="">
            <a:extLst xmlns:a="http://schemas.openxmlformats.org/drawingml/2006/main">
              <a:ext uri="{FF2B5EF4-FFF2-40B4-BE49-F238E27FC236}">
                <a16:creationId xmlns:a16="http://schemas.microsoft.com/office/drawing/2014/main" id="{188C4128-B88C-4A5A-A450-4CCA774C1158}"/>
              </a:ext>
            </a:extLst>
          </p:cNvPr>
          <p:cNvSpPr>
            <a:spLocks xmlns:a="http://schemas.openxmlformats.org/drawingml/2006/main" noGrp="1"/>
          </p:cNvSpPr>
          <p:nvPr/>
        </p:nvSpPr>
        <p:spPr>
          <a:xfrm xmlns:a="http://schemas.openxmlformats.org/drawingml/2006/main">
            <a:off x="628650" y="2886075"/>
            <a:ext cx="1714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050" b="1" i="0">
                <a:solidFill>
                  <a:srgbClr val="132735"/>
                </a:solidFill>
                <a:latin typeface="DejaVu Sans"/>
                <a:ea typeface="DejaVu Sans"/>
                <a:cs typeface="DejaVu Sans"/>
              </a:defRPr>
            </a:defPPr>
          </a:lstStyle>
          <a:p xmlns:a="http://schemas.openxmlformats.org/drawingml/2006/main">
            <a:pPr algn="l">
              <a:defRPr sz="1050" b="1" i="0">
                <a:solidFill>
                  <a:srgbClr val="132735"/>
                </a:solidFill>
                <a:latin typeface="DejaVu Sans"/>
                <a:ea typeface="DejaVu Sans"/>
                <a:cs typeface="DejaVu Sans"/>
              </a:defRPr>
            </a:pPr>
            <a:r>
              <a:rPr sz="1050" b="1" i="0">
                <a:solidFill>
                  <a:srgbClr val="132735"/>
                </a:solidFill>
                <a:latin typeface="DejaVu Sans"/>
                <a:ea typeface="DejaVu Sans"/>
                <a:cs typeface="DejaVu Sans"/>
              </a:rPr>
              <a:t>Kernel family</a:t>
            </a:r>
          </a:p>
        </p:txBody>
      </p:sp>
      <p:sp>
        <p:nvSpPr>
          <p:cNvPr id="13" name="">
            <a:extLst xmlns:a="http://schemas.openxmlformats.org/drawingml/2006/main">
              <a:ext uri="{FF2B5EF4-FFF2-40B4-BE49-F238E27FC236}">
                <a16:creationId xmlns:a16="http://schemas.microsoft.com/office/drawing/2014/main" id="{35FB713D-E1E5-421A-828E-EB8B36D0E650}"/>
              </a:ext>
            </a:extLst>
          </p:cNvPr>
          <p:cNvSpPr>
            <a:spLocks xmlns:a="http://schemas.openxmlformats.org/drawingml/2006/main" noGrp="1"/>
          </p:cNvSpPr>
          <p:nvPr/>
        </p:nvSpPr>
        <p:spPr>
          <a:xfrm xmlns:a="http://schemas.openxmlformats.org/drawingml/2006/main">
            <a:off x="2476500" y="2886075"/>
            <a:ext cx="26098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050" b="0" i="0">
                <a:solidFill>
                  <a:srgbClr val="132735"/>
                </a:solidFill>
                <a:latin typeface="DejaVu Sans"/>
                <a:ea typeface="DejaVu Sans"/>
                <a:cs typeface="DejaVu Sans"/>
              </a:defRPr>
            </a:defPPr>
          </a:lstStyle>
          <a:p xmlns:a="http://schemas.openxmlformats.org/drawingml/2006/main">
            <a:pPr algn="l">
              <a:defRPr sz="1050" b="0" i="0">
                <a:solidFill>
                  <a:srgbClr val="132735"/>
                </a:solidFill>
                <a:latin typeface="DejaVu Sans"/>
                <a:ea typeface="DejaVu Sans"/>
                <a:cs typeface="DejaVu Sans"/>
              </a:defRPr>
            </a:pPr>
            <a:r>
              <a:rPr sz="1050" b="0" i="0">
                <a:solidFill>
                  <a:srgbClr val="132735"/>
                </a:solidFill>
                <a:latin typeface="DejaVu Sans"/>
                <a:ea typeface="DejaVu Sans"/>
                <a:cs typeface="DejaVu Sans"/>
              </a:rPr>
              <a:t>Shape of k(x,x′)</a:t>
            </a:r>
          </a:p>
        </p:txBody>
      </p:sp>
      <p:sp>
        <p:nvSpPr>
          <p:cNvPr id="14" name="">
            <a:extLst xmlns:a="http://schemas.openxmlformats.org/drawingml/2006/main">
              <a:ext uri="{FF2B5EF4-FFF2-40B4-BE49-F238E27FC236}">
                <a16:creationId xmlns:a16="http://schemas.microsoft.com/office/drawing/2014/main" id="{82A745E3-547F-4889-8831-E78C21A068A6}"/>
              </a:ext>
            </a:extLst>
          </p:cNvPr>
          <p:cNvSpPr>
            <a:spLocks xmlns:a="http://schemas.openxmlformats.org/drawingml/2006/main" noGrp="1"/>
          </p:cNvSpPr>
          <p:nvPr/>
        </p:nvSpPr>
        <p:spPr>
          <a:xfrm xmlns:a="http://schemas.openxmlformats.org/drawingml/2006/main">
            <a:off x="5219700" y="2886075"/>
            <a:ext cx="29718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050" b="0" i="0">
                <a:solidFill>
                  <a:srgbClr val="132735"/>
                </a:solidFill>
                <a:latin typeface="DejaVu Sans"/>
                <a:ea typeface="DejaVu Sans"/>
                <a:cs typeface="DejaVu Sans"/>
              </a:defRPr>
            </a:defPPr>
          </a:lstStyle>
          <a:p xmlns:a="http://schemas.openxmlformats.org/drawingml/2006/main">
            <a:pPr algn="l">
              <a:defRPr sz="1050" b="0" i="0">
                <a:solidFill>
                  <a:srgbClr val="132735"/>
                </a:solidFill>
                <a:latin typeface="DejaVu Sans"/>
                <a:ea typeface="DejaVu Sans"/>
                <a:cs typeface="DejaVu Sans"/>
              </a:defRPr>
            </a:pPr>
            <a:r>
              <a:rPr sz="1050" b="0" i="0">
                <a:solidFill>
                  <a:srgbClr val="132735"/>
                </a:solidFill>
                <a:latin typeface="DejaVu Sans"/>
                <a:ea typeface="DejaVu Sans"/>
                <a:cs typeface="DejaVu Sans"/>
              </a:rPr>
              <a:t>May allow rough fits</a:t>
            </a:r>
          </a:p>
        </p:txBody>
      </p:sp>
      <p:sp>
        <p:nvSpPr>
          <p:cNvPr id="15" name="">
            <a:extLst xmlns:a="http://schemas.openxmlformats.org/drawingml/2006/main">
              <a:ext uri="{FF2B5EF4-FFF2-40B4-BE49-F238E27FC236}">
                <a16:creationId xmlns:a16="http://schemas.microsoft.com/office/drawing/2014/main" id="{388B0562-D15A-4649-8EA5-94D5A9855723}"/>
              </a:ext>
            </a:extLst>
          </p:cNvPr>
          <p:cNvSpPr>
            <a:spLocks xmlns:a="http://schemas.openxmlformats.org/drawingml/2006/main" noGrp="1"/>
          </p:cNvSpPr>
          <p:nvPr/>
        </p:nvSpPr>
        <p:spPr>
          <a:xfrm xmlns:a="http://schemas.openxmlformats.org/drawingml/2006/main">
            <a:off x="8334375" y="2886075"/>
            <a:ext cx="3143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050" b="0" i="0">
                <a:solidFill>
                  <a:srgbClr val="132735"/>
                </a:solidFill>
                <a:latin typeface="DejaVu Sans"/>
                <a:ea typeface="DejaVu Sans"/>
                <a:cs typeface="DejaVu Sans"/>
              </a:defRPr>
            </a:defPPr>
          </a:lstStyle>
          <a:p xmlns:a="http://schemas.openxmlformats.org/drawingml/2006/main">
            <a:pPr algn="l">
              <a:defRPr sz="1050" b="0" i="0">
                <a:solidFill>
                  <a:srgbClr val="132735"/>
                </a:solidFill>
                <a:latin typeface="DejaVu Sans"/>
                <a:ea typeface="DejaVu Sans"/>
                <a:cs typeface="DejaVu Sans"/>
              </a:defRPr>
            </a:pPr>
            <a:r>
              <a:rPr sz="1050" b="0" i="0">
                <a:solidFill>
                  <a:srgbClr val="132735"/>
                </a:solidFill>
                <a:latin typeface="DejaVu Sans"/>
                <a:ea typeface="DejaVu Sans"/>
                <a:cs typeface="DejaVu Sans"/>
              </a:rPr>
              <a:t>Smooth mismatch can hide narrow peaks</a:t>
            </a:r>
          </a:p>
        </p:txBody>
      </p:sp>
      <p:sp>
        <p:nvSpPr>
          <p:cNvPr id="16" name="">
            <a:extLst xmlns:a="http://schemas.openxmlformats.org/drawingml/2006/main">
              <a:ext uri="{FF2B5EF4-FFF2-40B4-BE49-F238E27FC236}">
                <a16:creationId xmlns:a16="http://schemas.microsoft.com/office/drawing/2014/main" id="{FEC4B9CE-6A99-432E-93B5-BC2E9032D1C4}"/>
              </a:ext>
            </a:extLst>
          </p:cNvPr>
          <p:cNvSpPr>
            <a:spLocks xmlns:a="http://schemas.openxmlformats.org/drawingml/2006/main" noGrp="1"/>
          </p:cNvSpPr>
          <p:nvPr/>
        </p:nvSpPr>
        <p:spPr>
          <a:xfrm xmlns:a="http://schemas.openxmlformats.org/drawingml/2006/main">
            <a:off x="571500" y="3314700"/>
            <a:ext cx="10953750" cy="0"/>
          </a:xfrm>
          <a:prstGeom xmlns:a="http://schemas.openxmlformats.org/drawingml/2006/main" prst="line">
            <a:avLst/>
          </a:prstGeom>
          <a:noFill xmlns:a="http://schemas.openxmlformats.org/drawingml/2006/main"/>
          <a:ln xmlns:a="http://schemas.openxmlformats.org/drawingml/2006/main" w="9525">
            <a:solidFill>
              <a:srgbClr val="CAD4DA"/>
            </a:solidFill>
            <a:prstDash val="solid"/>
          </a:ln>
        </p:spPr>
      </p:sp>
      <p:sp>
        <p:nvSpPr>
          <p:cNvPr id="17" name="">
            <a:extLst xmlns:a="http://schemas.openxmlformats.org/drawingml/2006/main">
              <a:ext uri="{FF2B5EF4-FFF2-40B4-BE49-F238E27FC236}">
                <a16:creationId xmlns:a16="http://schemas.microsoft.com/office/drawing/2014/main" id="{582BAA38-232F-4A83-B56A-D9433BFC8500}"/>
              </a:ext>
            </a:extLst>
          </p:cNvPr>
          <p:cNvSpPr>
            <a:spLocks xmlns:a="http://schemas.openxmlformats.org/drawingml/2006/main" noGrp="1"/>
          </p:cNvSpPr>
          <p:nvPr/>
        </p:nvSpPr>
        <p:spPr>
          <a:xfrm xmlns:a="http://schemas.openxmlformats.org/drawingml/2006/main">
            <a:off x="552450" y="3333750"/>
            <a:ext cx="11029950" cy="466725"/>
          </a:xfrm>
          <a:prstGeom xmlns:a="http://schemas.openxmlformats.org/drawingml/2006/main" prst="rect">
            <a:avLst/>
          </a:prstGeom>
          <a:solidFill xmlns:a="http://schemas.openxmlformats.org/drawingml/2006/main">
            <a:srgbClr val="FAEBDD"/>
          </a:solidFill>
          <a:ln xmlns:a="http://schemas.openxmlformats.org/drawingml/2006/main" w="9525">
            <a:solidFill>
              <a:srgbClr val="FAEBDD"/>
            </a:solidFill>
            <a:prstDash val="solid"/>
          </a:ln>
        </p:spPr>
      </p:sp>
      <p:sp>
        <p:nvSpPr>
          <p:cNvPr id="18" name="">
            <a:extLst xmlns:a="http://schemas.openxmlformats.org/drawingml/2006/main">
              <a:ext uri="{FF2B5EF4-FFF2-40B4-BE49-F238E27FC236}">
                <a16:creationId xmlns:a16="http://schemas.microsoft.com/office/drawing/2014/main" id="{07251830-FF46-418E-91B4-4A0B863FA3F2}"/>
              </a:ext>
            </a:extLst>
          </p:cNvPr>
          <p:cNvSpPr>
            <a:spLocks xmlns:a="http://schemas.openxmlformats.org/drawingml/2006/main" noGrp="1"/>
          </p:cNvSpPr>
          <p:nvPr/>
        </p:nvSpPr>
        <p:spPr>
          <a:xfrm xmlns:a="http://schemas.openxmlformats.org/drawingml/2006/main">
            <a:off x="628650" y="3381375"/>
            <a:ext cx="1714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125" b="1" i="0">
                <a:solidFill>
                  <a:srgbClr val="132735"/>
                </a:solidFill>
                <a:latin typeface="DejaVu Sans"/>
                <a:ea typeface="DejaVu Sans"/>
                <a:cs typeface="DejaVu Sans"/>
              </a:defRPr>
            </a:defPPr>
          </a:lstStyle>
          <a:p xmlns:a="http://schemas.openxmlformats.org/drawingml/2006/main">
            <a:pPr algn="l">
              <a:defRPr sz="1125" b="1" i="0">
                <a:solidFill>
                  <a:srgbClr val="132735"/>
                </a:solidFill>
                <a:latin typeface="DejaVu Sans"/>
                <a:ea typeface="DejaVu Sans"/>
                <a:cs typeface="DejaVu Sans"/>
              </a:defRPr>
            </a:pPr>
            <a:r>
              <a:rPr sz="1125" b="1" i="0">
                <a:solidFill>
                  <a:srgbClr val="132735"/>
                </a:solidFill>
                <a:latin typeface="DejaVu Sans"/>
                <a:ea typeface="DejaVu Sans"/>
                <a:cs typeface="DejaVu Sans"/>
              </a:rPr>
              <a:t>Length scale ℓj</a:t>
            </a:r>
          </a:p>
        </p:txBody>
      </p:sp>
      <p:sp>
        <p:nvSpPr>
          <p:cNvPr id="19" name="">
            <a:extLst xmlns:a="http://schemas.openxmlformats.org/drawingml/2006/main">
              <a:ext uri="{FF2B5EF4-FFF2-40B4-BE49-F238E27FC236}">
                <a16:creationId xmlns:a16="http://schemas.microsoft.com/office/drawing/2014/main" id="{25E476B8-99F3-4463-8C5C-A12C8A2DAA3F}"/>
              </a:ext>
            </a:extLst>
          </p:cNvPr>
          <p:cNvSpPr>
            <a:spLocks xmlns:a="http://schemas.openxmlformats.org/drawingml/2006/main" noGrp="1"/>
          </p:cNvSpPr>
          <p:nvPr/>
        </p:nvSpPr>
        <p:spPr>
          <a:xfrm xmlns:a="http://schemas.openxmlformats.org/drawingml/2006/main">
            <a:off x="2476500" y="3381375"/>
            <a:ext cx="26098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125" b="1" i="0">
                <a:solidFill>
                  <a:srgbClr val="132735"/>
                </a:solidFill>
                <a:latin typeface="DejaVu Sans"/>
                <a:ea typeface="DejaVu Sans"/>
                <a:cs typeface="DejaVu Sans"/>
              </a:defRPr>
            </a:defPPr>
          </a:lstStyle>
          <a:p xmlns:a="http://schemas.openxmlformats.org/drawingml/2006/main">
            <a:pPr algn="l">
              <a:defRPr sz="1125" b="1" i="0">
                <a:solidFill>
                  <a:srgbClr val="132735"/>
                </a:solidFill>
                <a:latin typeface="DejaVu Sans"/>
                <a:ea typeface="DejaVu Sans"/>
                <a:cs typeface="DejaVu Sans"/>
              </a:defRPr>
            </a:pPr>
            <a:r>
              <a:rPr sz="1125" b="1" i="0">
                <a:solidFill>
                  <a:srgbClr val="132735"/>
                </a:solidFill>
                <a:latin typeface="DejaVu Sans"/>
                <a:ea typeface="DejaVu Sans"/>
                <a:cs typeface="DejaVu Sans"/>
              </a:rPr>
              <a:t>Distance divided by ℓj</a:t>
            </a:r>
          </a:p>
        </p:txBody>
      </p:sp>
      <p:sp>
        <p:nvSpPr>
          <p:cNvPr id="20" name="">
            <a:extLst xmlns:a="http://schemas.openxmlformats.org/drawingml/2006/main">
              <a:ext uri="{FF2B5EF4-FFF2-40B4-BE49-F238E27FC236}">
                <a16:creationId xmlns:a16="http://schemas.microsoft.com/office/drawing/2014/main" id="{806C983B-3400-421B-9298-816F87EC74AE}"/>
              </a:ext>
            </a:extLst>
          </p:cNvPr>
          <p:cNvSpPr>
            <a:spLocks xmlns:a="http://schemas.openxmlformats.org/drawingml/2006/main" noGrp="1"/>
          </p:cNvSpPr>
          <p:nvPr/>
        </p:nvSpPr>
        <p:spPr>
          <a:xfrm xmlns:a="http://schemas.openxmlformats.org/drawingml/2006/main">
            <a:off x="5219700" y="3381375"/>
            <a:ext cx="29718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125" b="1" i="0">
                <a:solidFill>
                  <a:srgbClr val="132735"/>
                </a:solidFill>
                <a:latin typeface="DejaVu Sans"/>
                <a:ea typeface="DejaVu Sans"/>
                <a:cs typeface="DejaVu Sans"/>
              </a:defRPr>
            </a:defPPr>
          </a:lstStyle>
          <a:p xmlns:a="http://schemas.openxmlformats.org/drawingml/2006/main">
            <a:pPr algn="l">
              <a:defRPr sz="1125" b="1" i="0">
                <a:solidFill>
                  <a:srgbClr val="132735"/>
                </a:solidFill>
                <a:latin typeface="DejaVu Sans"/>
                <a:ea typeface="DejaVu Sans"/>
                <a:cs typeface="DejaVu Sans"/>
              </a:defRPr>
            </a:pPr>
            <a:r>
              <a:rPr sz="1125" b="1" i="0">
                <a:solidFill>
                  <a:srgbClr val="132735"/>
                </a:solidFill>
                <a:latin typeface="DejaVu Sans"/>
                <a:ea typeface="DejaVu Sans"/>
                <a:cs typeface="DejaVu Sans"/>
              </a:rPr>
              <a:t>Local influence and more exploration</a:t>
            </a:r>
          </a:p>
        </p:txBody>
      </p:sp>
      <p:sp>
        <p:nvSpPr>
          <p:cNvPr id="21" name="">
            <a:extLst xmlns:a="http://schemas.openxmlformats.org/drawingml/2006/main">
              <a:ext uri="{FF2B5EF4-FFF2-40B4-BE49-F238E27FC236}">
                <a16:creationId xmlns:a16="http://schemas.microsoft.com/office/drawing/2014/main" id="{4CD8D703-43AF-45F6-8E91-BACFBAA28D2C}"/>
              </a:ext>
            </a:extLst>
          </p:cNvPr>
          <p:cNvSpPr>
            <a:spLocks xmlns:a="http://schemas.openxmlformats.org/drawingml/2006/main" noGrp="1"/>
          </p:cNvSpPr>
          <p:nvPr/>
        </p:nvSpPr>
        <p:spPr>
          <a:xfrm xmlns:a="http://schemas.openxmlformats.org/drawingml/2006/main">
            <a:off x="8334375" y="3381375"/>
            <a:ext cx="3143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125" b="1" i="0">
                <a:solidFill>
                  <a:srgbClr val="132735"/>
                </a:solidFill>
                <a:latin typeface="DejaVu Sans"/>
                <a:ea typeface="DejaVu Sans"/>
                <a:cs typeface="DejaVu Sans"/>
              </a:defRPr>
            </a:defPPr>
          </a:lstStyle>
          <a:p xmlns:a="http://schemas.openxmlformats.org/drawingml/2006/main">
            <a:pPr algn="l">
              <a:defRPr sz="1125" b="1" i="0">
                <a:solidFill>
                  <a:srgbClr val="132735"/>
                </a:solidFill>
                <a:latin typeface="DejaVu Sans"/>
                <a:ea typeface="DejaVu Sans"/>
                <a:cs typeface="DejaVu Sans"/>
              </a:defRPr>
            </a:pPr>
            <a:r>
              <a:rPr sz="1125" b="1" i="0">
                <a:solidFill>
                  <a:srgbClr val="132735"/>
                </a:solidFill>
                <a:latin typeface="DejaVu Sans"/>
                <a:ea typeface="DejaVu Sans"/>
                <a:cs typeface="DejaVu Sans"/>
              </a:rPr>
              <a:t>Confidence spreads and stopping may occur early</a:t>
            </a:r>
          </a:p>
        </p:txBody>
      </p:sp>
      <p:sp>
        <p:nvSpPr>
          <p:cNvPr id="22" name="">
            <a:extLst xmlns:a="http://schemas.openxmlformats.org/drawingml/2006/main">
              <a:ext uri="{FF2B5EF4-FFF2-40B4-BE49-F238E27FC236}">
                <a16:creationId xmlns:a16="http://schemas.microsoft.com/office/drawing/2014/main" id="{2F73968D-A198-4A51-8129-930D98F2C121}"/>
              </a:ext>
            </a:extLst>
          </p:cNvPr>
          <p:cNvSpPr>
            <a:spLocks xmlns:a="http://schemas.openxmlformats.org/drawingml/2006/main" noGrp="1"/>
          </p:cNvSpPr>
          <p:nvPr/>
        </p:nvSpPr>
        <p:spPr>
          <a:xfrm xmlns:a="http://schemas.openxmlformats.org/drawingml/2006/main">
            <a:off x="571500" y="3810000"/>
            <a:ext cx="10953750" cy="0"/>
          </a:xfrm>
          <a:prstGeom xmlns:a="http://schemas.openxmlformats.org/drawingml/2006/main" prst="line">
            <a:avLst/>
          </a:prstGeom>
          <a:noFill xmlns:a="http://schemas.openxmlformats.org/drawingml/2006/main"/>
          <a:ln xmlns:a="http://schemas.openxmlformats.org/drawingml/2006/main" w="9525">
            <a:solidFill>
              <a:srgbClr val="CAD4DA"/>
            </a:solidFill>
            <a:prstDash val="solid"/>
          </a:ln>
        </p:spPr>
      </p:sp>
      <p:sp>
        <p:nvSpPr>
          <p:cNvPr id="23" name="">
            <a:extLst xmlns:a="http://schemas.openxmlformats.org/drawingml/2006/main">
              <a:ext uri="{FF2B5EF4-FFF2-40B4-BE49-F238E27FC236}">
                <a16:creationId xmlns:a16="http://schemas.microsoft.com/office/drawing/2014/main" id="{96793166-772A-4535-98C7-85E6C1F1CB42}"/>
              </a:ext>
            </a:extLst>
          </p:cNvPr>
          <p:cNvSpPr>
            <a:spLocks xmlns:a="http://schemas.openxmlformats.org/drawingml/2006/main" noGrp="1"/>
          </p:cNvSpPr>
          <p:nvPr/>
        </p:nvSpPr>
        <p:spPr>
          <a:xfrm xmlns:a="http://schemas.openxmlformats.org/drawingml/2006/main">
            <a:off x="628650" y="3876675"/>
            <a:ext cx="1714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050" b="1" i="0">
                <a:solidFill>
                  <a:srgbClr val="132735"/>
                </a:solidFill>
                <a:latin typeface="DejaVu Sans"/>
                <a:ea typeface="DejaVu Sans"/>
                <a:cs typeface="DejaVu Sans"/>
              </a:defRPr>
            </a:defPPr>
          </a:lstStyle>
          <a:p xmlns:a="http://schemas.openxmlformats.org/drawingml/2006/main">
            <a:pPr algn="l">
              <a:defRPr sz="1050" b="1" i="0">
                <a:solidFill>
                  <a:srgbClr val="132735"/>
                </a:solidFill>
                <a:latin typeface="DejaVu Sans"/>
                <a:ea typeface="DejaVu Sans"/>
                <a:cs typeface="DejaVu Sans"/>
              </a:defRPr>
            </a:pPr>
            <a:r>
              <a:rPr sz="1050" b="1" i="0">
                <a:solidFill>
                  <a:srgbClr val="132735"/>
                </a:solidFill>
                <a:latin typeface="DejaVu Sans"/>
                <a:ea typeface="DejaVu Sans"/>
                <a:cs typeface="DejaVu Sans"/>
              </a:rPr>
              <a:t>Output scale σf²</a:t>
            </a:r>
          </a:p>
        </p:txBody>
      </p:sp>
      <p:sp>
        <p:nvSpPr>
          <p:cNvPr id="24" name="">
            <a:extLst xmlns:a="http://schemas.openxmlformats.org/drawingml/2006/main">
              <a:ext uri="{FF2B5EF4-FFF2-40B4-BE49-F238E27FC236}">
                <a16:creationId xmlns:a16="http://schemas.microsoft.com/office/drawing/2014/main" id="{BC3A8269-5C5E-4011-AFAB-E2F2A359FE47}"/>
              </a:ext>
            </a:extLst>
          </p:cNvPr>
          <p:cNvSpPr>
            <a:spLocks xmlns:a="http://schemas.openxmlformats.org/drawingml/2006/main" noGrp="1"/>
          </p:cNvSpPr>
          <p:nvPr/>
        </p:nvSpPr>
        <p:spPr>
          <a:xfrm xmlns:a="http://schemas.openxmlformats.org/drawingml/2006/main">
            <a:off x="2476500" y="3876675"/>
            <a:ext cx="26098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050" b="0" i="0">
                <a:solidFill>
                  <a:srgbClr val="132735"/>
                </a:solidFill>
                <a:latin typeface="DejaVu Sans"/>
                <a:ea typeface="DejaVu Sans"/>
                <a:cs typeface="DejaVu Sans"/>
              </a:defRPr>
            </a:defPPr>
          </a:lstStyle>
          <a:p xmlns:a="http://schemas.openxmlformats.org/drawingml/2006/main">
            <a:pPr algn="l">
              <a:defRPr sz="1050" b="0" i="0">
                <a:solidFill>
                  <a:srgbClr val="132735"/>
                </a:solidFill>
                <a:latin typeface="DejaVu Sans"/>
                <a:ea typeface="DejaVu Sans"/>
                <a:cs typeface="DejaVu Sans"/>
              </a:defRPr>
            </a:pPr>
            <a:r>
              <a:rPr sz="1050" b="0" i="0">
                <a:solidFill>
                  <a:srgbClr val="132735"/>
                </a:solidFill>
                <a:latin typeface="DejaVu Sans"/>
                <a:ea typeface="DejaVu Sans"/>
                <a:cs typeface="DejaVu Sans"/>
              </a:rPr>
              <a:t>Scales covariance K</a:t>
            </a:r>
          </a:p>
        </p:txBody>
      </p:sp>
      <p:sp>
        <p:nvSpPr>
          <p:cNvPr id="25" name="">
            <a:extLst xmlns:a="http://schemas.openxmlformats.org/drawingml/2006/main">
              <a:ext uri="{FF2B5EF4-FFF2-40B4-BE49-F238E27FC236}">
                <a16:creationId xmlns:a16="http://schemas.microsoft.com/office/drawing/2014/main" id="{F961BA69-27E5-41C6-B5EA-A7DFF58F9BC0}"/>
              </a:ext>
            </a:extLst>
          </p:cNvPr>
          <p:cNvSpPr>
            <a:spLocks xmlns:a="http://schemas.openxmlformats.org/drawingml/2006/main" noGrp="1"/>
          </p:cNvSpPr>
          <p:nvPr/>
        </p:nvSpPr>
        <p:spPr>
          <a:xfrm xmlns:a="http://schemas.openxmlformats.org/drawingml/2006/main">
            <a:off x="5219700" y="3876675"/>
            <a:ext cx="29718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050" b="0" i="0">
                <a:solidFill>
                  <a:srgbClr val="132735"/>
                </a:solidFill>
                <a:latin typeface="DejaVu Sans"/>
                <a:ea typeface="DejaVu Sans"/>
                <a:cs typeface="DejaVu Sans"/>
              </a:defRPr>
            </a:defPPr>
          </a:lstStyle>
          <a:p xmlns:a="http://schemas.openxmlformats.org/drawingml/2006/main">
            <a:pPr algn="l">
              <a:defRPr sz="1050" b="0" i="0">
                <a:solidFill>
                  <a:srgbClr val="132735"/>
                </a:solidFill>
                <a:latin typeface="DejaVu Sans"/>
                <a:ea typeface="DejaVu Sans"/>
                <a:cs typeface="DejaVu Sans"/>
              </a:defRPr>
            </a:pPr>
            <a:r>
              <a:rPr sz="1050" b="0" i="0">
                <a:solidFill>
                  <a:srgbClr val="132735"/>
                </a:solidFill>
                <a:latin typeface="DejaVu Sans"/>
                <a:ea typeface="DejaVu Sans"/>
                <a:cs typeface="DejaVu Sans"/>
              </a:rPr>
              <a:t>Large changes look unlikely</a:t>
            </a:r>
          </a:p>
        </p:txBody>
      </p:sp>
      <p:sp>
        <p:nvSpPr>
          <p:cNvPr id="26" name="">
            <a:extLst xmlns:a="http://schemas.openxmlformats.org/drawingml/2006/main">
              <a:ext uri="{FF2B5EF4-FFF2-40B4-BE49-F238E27FC236}">
                <a16:creationId xmlns:a16="http://schemas.microsoft.com/office/drawing/2014/main" id="{A68AC465-AFD8-40AC-9FE0-654BBF893D27}"/>
              </a:ext>
            </a:extLst>
          </p:cNvPr>
          <p:cNvSpPr>
            <a:spLocks xmlns:a="http://schemas.openxmlformats.org/drawingml/2006/main" noGrp="1"/>
          </p:cNvSpPr>
          <p:nvPr/>
        </p:nvSpPr>
        <p:spPr>
          <a:xfrm xmlns:a="http://schemas.openxmlformats.org/drawingml/2006/main">
            <a:off x="8334375" y="3876675"/>
            <a:ext cx="3143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050" b="0" i="0">
                <a:solidFill>
                  <a:srgbClr val="132735"/>
                </a:solidFill>
                <a:latin typeface="DejaVu Sans"/>
                <a:ea typeface="DejaVu Sans"/>
                <a:cs typeface="DejaVu Sans"/>
              </a:defRPr>
            </a:defPPr>
          </a:lstStyle>
          <a:p xmlns:a="http://schemas.openxmlformats.org/drawingml/2006/main">
            <a:pPr algn="l">
              <a:defRPr sz="1050" b="0" i="0">
                <a:solidFill>
                  <a:srgbClr val="132735"/>
                </a:solidFill>
                <a:latin typeface="DejaVu Sans"/>
                <a:ea typeface="DejaVu Sans"/>
                <a:cs typeface="DejaVu Sans"/>
              </a:defRPr>
            </a:pPr>
            <a:r>
              <a:rPr sz="1050" b="0" i="0">
                <a:solidFill>
                  <a:srgbClr val="132735"/>
                </a:solidFill>
                <a:latin typeface="DejaVu Sans"/>
                <a:ea typeface="DejaVu Sans"/>
                <a:cs typeface="DejaVu Sans"/>
              </a:rPr>
              <a:t>Wide intervals may delay stopping</a:t>
            </a:r>
          </a:p>
        </p:txBody>
      </p:sp>
      <p:sp>
        <p:nvSpPr>
          <p:cNvPr id="27" name="">
            <a:extLst xmlns:a="http://schemas.openxmlformats.org/drawingml/2006/main">
              <a:ext uri="{FF2B5EF4-FFF2-40B4-BE49-F238E27FC236}">
                <a16:creationId xmlns:a16="http://schemas.microsoft.com/office/drawing/2014/main" id="{C1BDF123-11C9-479C-8734-BD77BA852E5F}"/>
              </a:ext>
            </a:extLst>
          </p:cNvPr>
          <p:cNvSpPr>
            <a:spLocks xmlns:a="http://schemas.openxmlformats.org/drawingml/2006/main" noGrp="1"/>
          </p:cNvSpPr>
          <p:nvPr/>
        </p:nvSpPr>
        <p:spPr>
          <a:xfrm xmlns:a="http://schemas.openxmlformats.org/drawingml/2006/main">
            <a:off x="571500" y="4305300"/>
            <a:ext cx="10953750" cy="0"/>
          </a:xfrm>
          <a:prstGeom xmlns:a="http://schemas.openxmlformats.org/drawingml/2006/main" prst="line">
            <a:avLst/>
          </a:prstGeom>
          <a:noFill xmlns:a="http://schemas.openxmlformats.org/drawingml/2006/main"/>
          <a:ln xmlns:a="http://schemas.openxmlformats.org/drawingml/2006/main" w="9525">
            <a:solidFill>
              <a:srgbClr val="CAD4DA"/>
            </a:solidFill>
            <a:prstDash val="solid"/>
          </a:ln>
        </p:spPr>
      </p:sp>
      <p:sp>
        <p:nvSpPr>
          <p:cNvPr id="28" name="">
            <a:extLst xmlns:a="http://schemas.openxmlformats.org/drawingml/2006/main">
              <a:ext uri="{FF2B5EF4-FFF2-40B4-BE49-F238E27FC236}">
                <a16:creationId xmlns:a16="http://schemas.microsoft.com/office/drawing/2014/main" id="{03391B5E-131B-4A7C-84E2-841DB42585D2}"/>
              </a:ext>
            </a:extLst>
          </p:cNvPr>
          <p:cNvSpPr>
            <a:spLocks xmlns:a="http://schemas.openxmlformats.org/drawingml/2006/main" noGrp="1"/>
          </p:cNvSpPr>
          <p:nvPr/>
        </p:nvSpPr>
        <p:spPr>
          <a:xfrm xmlns:a="http://schemas.openxmlformats.org/drawingml/2006/main">
            <a:off x="628650" y="4371975"/>
            <a:ext cx="1714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050" b="1" i="0">
                <a:solidFill>
                  <a:srgbClr val="132735"/>
                </a:solidFill>
                <a:latin typeface="DejaVu Sans"/>
                <a:ea typeface="DejaVu Sans"/>
                <a:cs typeface="DejaVu Sans"/>
              </a:defRPr>
            </a:defPPr>
          </a:lstStyle>
          <a:p xmlns:a="http://schemas.openxmlformats.org/drawingml/2006/main">
            <a:pPr algn="l">
              <a:defRPr sz="1050" b="1" i="0">
                <a:solidFill>
                  <a:srgbClr val="132735"/>
                </a:solidFill>
                <a:latin typeface="DejaVu Sans"/>
                <a:ea typeface="DejaVu Sans"/>
                <a:cs typeface="DejaVu Sans"/>
              </a:defRPr>
            </a:pPr>
            <a:r>
              <a:rPr sz="1050" b="1" i="0">
                <a:solidFill>
                  <a:srgbClr val="132735"/>
                </a:solidFill>
                <a:latin typeface="DejaVu Sans"/>
                <a:ea typeface="DejaVu Sans"/>
                <a:cs typeface="DejaVu Sans"/>
              </a:rPr>
              <a:t>Noise σn²</a:t>
            </a:r>
          </a:p>
        </p:txBody>
      </p:sp>
      <p:sp>
        <p:nvSpPr>
          <p:cNvPr id="29" name="">
            <a:extLst xmlns:a="http://schemas.openxmlformats.org/drawingml/2006/main">
              <a:ext uri="{FF2B5EF4-FFF2-40B4-BE49-F238E27FC236}">
                <a16:creationId xmlns:a16="http://schemas.microsoft.com/office/drawing/2014/main" id="{9BA269DD-0ADA-43BA-AC41-B1367B3DBB77}"/>
              </a:ext>
            </a:extLst>
          </p:cNvPr>
          <p:cNvSpPr>
            <a:spLocks xmlns:a="http://schemas.openxmlformats.org/drawingml/2006/main" noGrp="1"/>
          </p:cNvSpPr>
          <p:nvPr/>
        </p:nvSpPr>
        <p:spPr>
          <a:xfrm xmlns:a="http://schemas.openxmlformats.org/drawingml/2006/main">
            <a:off x="2476500" y="4371975"/>
            <a:ext cx="26098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050" b="0" i="0">
                <a:solidFill>
                  <a:srgbClr val="132735"/>
                </a:solidFill>
                <a:latin typeface="DejaVu Sans"/>
                <a:ea typeface="DejaVu Sans"/>
                <a:cs typeface="DejaVu Sans"/>
              </a:defRPr>
            </a:defPPr>
          </a:lstStyle>
          <a:p xmlns:a="http://schemas.openxmlformats.org/drawingml/2006/main">
            <a:pPr algn="l">
              <a:defRPr sz="1050" b="0" i="0">
                <a:solidFill>
                  <a:srgbClr val="132735"/>
                </a:solidFill>
                <a:latin typeface="DejaVu Sans"/>
                <a:ea typeface="DejaVu Sans"/>
                <a:cs typeface="DejaVu Sans"/>
              </a:defRPr>
            </a:pPr>
            <a:r>
              <a:rPr sz="1050" b="0" i="0">
                <a:solidFill>
                  <a:srgbClr val="132735"/>
                </a:solidFill>
                <a:latin typeface="DejaVu Sans"/>
                <a:ea typeface="DejaVu Sans"/>
                <a:cs typeface="DejaVu Sans"/>
              </a:rPr>
              <a:t>Diagonal of C</a:t>
            </a:r>
          </a:p>
        </p:txBody>
      </p:sp>
      <p:sp>
        <p:nvSpPr>
          <p:cNvPr id="30" name="">
            <a:extLst xmlns:a="http://schemas.openxmlformats.org/drawingml/2006/main">
              <a:ext uri="{FF2B5EF4-FFF2-40B4-BE49-F238E27FC236}">
                <a16:creationId xmlns:a16="http://schemas.microsoft.com/office/drawing/2014/main" id="{6977A2CD-F55E-43C8-A19B-F241B5F0B19E}"/>
              </a:ext>
            </a:extLst>
          </p:cNvPr>
          <p:cNvSpPr>
            <a:spLocks xmlns:a="http://schemas.openxmlformats.org/drawingml/2006/main" noGrp="1"/>
          </p:cNvSpPr>
          <p:nvPr/>
        </p:nvSpPr>
        <p:spPr>
          <a:xfrm xmlns:a="http://schemas.openxmlformats.org/drawingml/2006/main">
            <a:off x="5219700" y="4371975"/>
            <a:ext cx="29718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050" b="0" i="0">
                <a:solidFill>
                  <a:srgbClr val="132735"/>
                </a:solidFill>
                <a:latin typeface="DejaVu Sans"/>
                <a:ea typeface="DejaVu Sans"/>
                <a:cs typeface="DejaVu Sans"/>
              </a:defRPr>
            </a:defPPr>
          </a:lstStyle>
          <a:p xmlns:a="http://schemas.openxmlformats.org/drawingml/2006/main">
            <a:pPr algn="l">
              <a:defRPr sz="1050" b="0" i="0">
                <a:solidFill>
                  <a:srgbClr val="132735"/>
                </a:solidFill>
                <a:latin typeface="DejaVu Sans"/>
                <a:ea typeface="DejaVu Sans"/>
                <a:cs typeface="DejaVu Sans"/>
              </a:defRPr>
            </a:pPr>
            <a:r>
              <a:rPr sz="1050" b="0" i="0">
                <a:solidFill>
                  <a:srgbClr val="132735"/>
                </a:solidFill>
                <a:latin typeface="DejaVu Sans"/>
                <a:ea typeface="DejaVu Sans"/>
                <a:cs typeface="DejaVu Sans"/>
              </a:rPr>
              <a:t>Fits random variation</a:t>
            </a:r>
          </a:p>
        </p:txBody>
      </p:sp>
      <p:sp>
        <p:nvSpPr>
          <p:cNvPr id="31" name="">
            <a:extLst xmlns:a="http://schemas.openxmlformats.org/drawingml/2006/main">
              <a:ext uri="{FF2B5EF4-FFF2-40B4-BE49-F238E27FC236}">
                <a16:creationId xmlns:a16="http://schemas.microsoft.com/office/drawing/2014/main" id="{DBDDA79A-6E7E-48D0-9F5B-274AFE587C1A}"/>
              </a:ext>
            </a:extLst>
          </p:cNvPr>
          <p:cNvSpPr>
            <a:spLocks xmlns:a="http://schemas.openxmlformats.org/drawingml/2006/main" noGrp="1"/>
          </p:cNvSpPr>
          <p:nvPr/>
        </p:nvSpPr>
        <p:spPr>
          <a:xfrm xmlns:a="http://schemas.openxmlformats.org/drawingml/2006/main">
            <a:off x="8334375" y="4371975"/>
            <a:ext cx="3143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050" b="0" i="0">
                <a:solidFill>
                  <a:srgbClr val="132735"/>
                </a:solidFill>
                <a:latin typeface="DejaVu Sans"/>
                <a:ea typeface="DejaVu Sans"/>
                <a:cs typeface="DejaVu Sans"/>
              </a:defRPr>
            </a:defPPr>
          </a:lstStyle>
          <a:p xmlns:a="http://schemas.openxmlformats.org/drawingml/2006/main">
            <a:pPr algn="l">
              <a:defRPr sz="1050" b="0" i="0">
                <a:solidFill>
                  <a:srgbClr val="132735"/>
                </a:solidFill>
                <a:latin typeface="DejaVu Sans"/>
                <a:ea typeface="DejaVu Sans"/>
                <a:cs typeface="DejaVu Sans"/>
              </a:defRPr>
            </a:pPr>
            <a:r>
              <a:rPr sz="1050" b="0" i="0">
                <a:solidFill>
                  <a:srgbClr val="132735"/>
                </a:solidFill>
                <a:latin typeface="DejaVu Sans"/>
                <a:ea typeface="DejaVu Sans"/>
                <a:cs typeface="DejaVu Sans"/>
              </a:rPr>
              <a:t>Smooths away real structure</a:t>
            </a:r>
          </a:p>
        </p:txBody>
      </p:sp>
      <p:sp>
        <p:nvSpPr>
          <p:cNvPr id="32" name="">
            <a:extLst xmlns:a="http://schemas.openxmlformats.org/drawingml/2006/main">
              <a:ext uri="{FF2B5EF4-FFF2-40B4-BE49-F238E27FC236}">
                <a16:creationId xmlns:a16="http://schemas.microsoft.com/office/drawing/2014/main" id="{97798BD9-45FE-4FBC-91BC-8612683A6857}"/>
              </a:ext>
            </a:extLst>
          </p:cNvPr>
          <p:cNvSpPr>
            <a:spLocks xmlns:a="http://schemas.openxmlformats.org/drawingml/2006/main" noGrp="1"/>
          </p:cNvSpPr>
          <p:nvPr/>
        </p:nvSpPr>
        <p:spPr>
          <a:xfrm xmlns:a="http://schemas.openxmlformats.org/drawingml/2006/main">
            <a:off x="571500" y="4800600"/>
            <a:ext cx="10953750" cy="0"/>
          </a:xfrm>
          <a:prstGeom xmlns:a="http://schemas.openxmlformats.org/drawingml/2006/main" prst="line">
            <a:avLst/>
          </a:prstGeom>
          <a:noFill xmlns:a="http://schemas.openxmlformats.org/drawingml/2006/main"/>
          <a:ln xmlns:a="http://schemas.openxmlformats.org/drawingml/2006/main" w="9525">
            <a:solidFill>
              <a:srgbClr val="CAD4DA"/>
            </a:solidFill>
            <a:prstDash val="solid"/>
          </a:ln>
        </p:spPr>
      </p:sp>
      <p:sp>
        <p:nvSpPr>
          <p:cNvPr id="33" name="">
            <a:extLst xmlns:a="http://schemas.openxmlformats.org/drawingml/2006/main">
              <a:ext uri="{FF2B5EF4-FFF2-40B4-BE49-F238E27FC236}">
                <a16:creationId xmlns:a16="http://schemas.microsoft.com/office/drawing/2014/main" id="{F582BD6E-2BCE-4074-B784-3B9A8D020F85}"/>
              </a:ext>
            </a:extLst>
          </p:cNvPr>
          <p:cNvSpPr>
            <a:spLocks xmlns:a="http://schemas.openxmlformats.org/drawingml/2006/main" noGrp="1"/>
          </p:cNvSpPr>
          <p:nvPr/>
        </p:nvSpPr>
        <p:spPr>
          <a:xfrm xmlns:a="http://schemas.openxmlformats.org/drawingml/2006/main">
            <a:off x="628650" y="4867275"/>
            <a:ext cx="1714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050" b="1" i="0">
                <a:solidFill>
                  <a:srgbClr val="132735"/>
                </a:solidFill>
                <a:latin typeface="DejaVu Sans"/>
                <a:ea typeface="DejaVu Sans"/>
                <a:cs typeface="DejaVu Sans"/>
              </a:defRPr>
            </a:defPPr>
          </a:lstStyle>
          <a:p xmlns:a="http://schemas.openxmlformats.org/drawingml/2006/main">
            <a:pPr algn="l">
              <a:defRPr sz="1050" b="1" i="0">
                <a:solidFill>
                  <a:srgbClr val="132735"/>
                </a:solidFill>
                <a:latin typeface="DejaVu Sans"/>
                <a:ea typeface="DejaVu Sans"/>
                <a:cs typeface="DejaVu Sans"/>
              </a:defRPr>
            </a:pPr>
            <a:r>
              <a:rPr sz="1050" b="1" i="0">
                <a:solidFill>
                  <a:srgbClr val="132735"/>
                </a:solidFill>
                <a:latin typeface="DejaVu Sans"/>
                <a:ea typeface="DejaVu Sans"/>
                <a:cs typeface="DejaVu Sans"/>
              </a:rPr>
              <a:t>Mean m(x)</a:t>
            </a:r>
          </a:p>
        </p:txBody>
      </p:sp>
      <p:sp>
        <p:nvSpPr>
          <p:cNvPr id="34" name="">
            <a:extLst xmlns:a="http://schemas.openxmlformats.org/drawingml/2006/main">
              <a:ext uri="{FF2B5EF4-FFF2-40B4-BE49-F238E27FC236}">
                <a16:creationId xmlns:a16="http://schemas.microsoft.com/office/drawing/2014/main" id="{D7E2FAA4-1E61-43FF-9C31-A89FD0719875}"/>
              </a:ext>
            </a:extLst>
          </p:cNvPr>
          <p:cNvSpPr>
            <a:spLocks xmlns:a="http://schemas.openxmlformats.org/drawingml/2006/main" noGrp="1"/>
          </p:cNvSpPr>
          <p:nvPr/>
        </p:nvSpPr>
        <p:spPr>
          <a:xfrm xmlns:a="http://schemas.openxmlformats.org/drawingml/2006/main">
            <a:off x="2476500" y="4867275"/>
            <a:ext cx="26098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050" b="0" i="0">
                <a:solidFill>
                  <a:srgbClr val="132735"/>
                </a:solidFill>
                <a:latin typeface="DejaVu Sans"/>
                <a:ea typeface="DejaVu Sans"/>
                <a:cs typeface="DejaVu Sans"/>
              </a:defRPr>
            </a:defPPr>
          </a:lstStyle>
          <a:p xmlns:a="http://schemas.openxmlformats.org/drawingml/2006/main">
            <a:pPr algn="l">
              <a:defRPr sz="1050" b="0" i="0">
                <a:solidFill>
                  <a:srgbClr val="132735"/>
                </a:solidFill>
                <a:latin typeface="DejaVu Sans"/>
                <a:ea typeface="DejaVu Sans"/>
                <a:cs typeface="DejaVu Sans"/>
              </a:defRPr>
            </a:pPr>
            <a:r>
              <a:rPr sz="1050" b="0" i="0">
                <a:solidFill>
                  <a:srgbClr val="132735"/>
                </a:solidFill>
                <a:latin typeface="DejaVu Sans"/>
                <a:ea typeface="DejaVu Sans"/>
                <a:cs typeface="DejaVu Sans"/>
              </a:rPr>
              <a:t>Baseline prediction</a:t>
            </a:r>
          </a:p>
        </p:txBody>
      </p:sp>
      <p:sp>
        <p:nvSpPr>
          <p:cNvPr id="35" name="">
            <a:extLst xmlns:a="http://schemas.openxmlformats.org/drawingml/2006/main">
              <a:ext uri="{FF2B5EF4-FFF2-40B4-BE49-F238E27FC236}">
                <a16:creationId xmlns:a16="http://schemas.microsoft.com/office/drawing/2014/main" id="{9E7C4994-F770-4535-B022-B02A02FC3FAB}"/>
              </a:ext>
            </a:extLst>
          </p:cNvPr>
          <p:cNvSpPr>
            <a:spLocks xmlns:a="http://schemas.openxmlformats.org/drawingml/2006/main" noGrp="1"/>
          </p:cNvSpPr>
          <p:nvPr/>
        </p:nvSpPr>
        <p:spPr>
          <a:xfrm xmlns:a="http://schemas.openxmlformats.org/drawingml/2006/main">
            <a:off x="5219700" y="4867275"/>
            <a:ext cx="29718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050" b="0" i="0">
                <a:solidFill>
                  <a:srgbClr val="132735"/>
                </a:solidFill>
                <a:latin typeface="DejaVu Sans"/>
                <a:ea typeface="DejaVu Sans"/>
                <a:cs typeface="DejaVu Sans"/>
              </a:defRPr>
            </a:defPPr>
          </a:lstStyle>
          <a:p xmlns:a="http://schemas.openxmlformats.org/drawingml/2006/main">
            <a:pPr algn="l">
              <a:defRPr sz="1050" b="0" i="0">
                <a:solidFill>
                  <a:srgbClr val="132735"/>
                </a:solidFill>
                <a:latin typeface="DejaVu Sans"/>
                <a:ea typeface="DejaVu Sans"/>
                <a:cs typeface="DejaVu Sans"/>
              </a:defRPr>
            </a:pPr>
            <a:r>
              <a:rPr sz="1050" b="0" i="0">
                <a:solidFill>
                  <a:srgbClr val="132735"/>
                </a:solidFill>
                <a:latin typeface="DejaVu Sans"/>
                <a:ea typeface="DejaVu Sans"/>
                <a:cs typeface="DejaVu Sans"/>
              </a:rPr>
              <a:t>Unseen regions biased low</a:t>
            </a:r>
          </a:p>
        </p:txBody>
      </p:sp>
      <p:sp>
        <p:nvSpPr>
          <p:cNvPr id="36" name="">
            <a:extLst xmlns:a="http://schemas.openxmlformats.org/drawingml/2006/main">
              <a:ext uri="{FF2B5EF4-FFF2-40B4-BE49-F238E27FC236}">
                <a16:creationId xmlns:a16="http://schemas.microsoft.com/office/drawing/2014/main" id="{1E171F3C-1EC1-4078-9E14-D6503FF14BDC}"/>
              </a:ext>
            </a:extLst>
          </p:cNvPr>
          <p:cNvSpPr>
            <a:spLocks xmlns:a="http://schemas.openxmlformats.org/drawingml/2006/main" noGrp="1"/>
          </p:cNvSpPr>
          <p:nvPr/>
        </p:nvSpPr>
        <p:spPr>
          <a:xfrm xmlns:a="http://schemas.openxmlformats.org/drawingml/2006/main">
            <a:off x="8334375" y="4867275"/>
            <a:ext cx="3143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050" b="0" i="0">
                <a:solidFill>
                  <a:srgbClr val="132735"/>
                </a:solidFill>
                <a:latin typeface="DejaVu Sans"/>
                <a:ea typeface="DejaVu Sans"/>
                <a:cs typeface="DejaVu Sans"/>
              </a:defRPr>
            </a:defPPr>
          </a:lstStyle>
          <a:p xmlns:a="http://schemas.openxmlformats.org/drawingml/2006/main">
            <a:pPr algn="l">
              <a:defRPr sz="1050" b="0" i="0">
                <a:solidFill>
                  <a:srgbClr val="132735"/>
                </a:solidFill>
                <a:latin typeface="DejaVu Sans"/>
                <a:ea typeface="DejaVu Sans"/>
                <a:cs typeface="DejaVu Sans"/>
              </a:defRPr>
            </a:pPr>
            <a:r>
              <a:rPr sz="1050" b="0" i="0">
                <a:solidFill>
                  <a:srgbClr val="132735"/>
                </a:solidFill>
                <a:latin typeface="DejaVu Sans"/>
                <a:ea typeface="DejaVu Sans"/>
                <a:cs typeface="DejaVu Sans"/>
              </a:rPr>
              <a:t>Unseen regions biased high</a:t>
            </a:r>
          </a:p>
        </p:txBody>
      </p:sp>
      <p:sp>
        <p:nvSpPr>
          <p:cNvPr id="37" name="">
            <a:extLst xmlns:a="http://schemas.openxmlformats.org/drawingml/2006/main">
              <a:ext uri="{FF2B5EF4-FFF2-40B4-BE49-F238E27FC236}">
                <a16:creationId xmlns:a16="http://schemas.microsoft.com/office/drawing/2014/main" id="{EC6DBC5A-DA83-411C-85F0-C3802C468CB8}"/>
              </a:ext>
            </a:extLst>
          </p:cNvPr>
          <p:cNvSpPr>
            <a:spLocks xmlns:a="http://schemas.openxmlformats.org/drawingml/2006/main" noGrp="1"/>
          </p:cNvSpPr>
          <p:nvPr/>
        </p:nvSpPr>
        <p:spPr>
          <a:xfrm xmlns:a="http://schemas.openxmlformats.org/drawingml/2006/main">
            <a:off x="571500" y="5295900"/>
            <a:ext cx="10953750" cy="0"/>
          </a:xfrm>
          <a:prstGeom xmlns:a="http://schemas.openxmlformats.org/drawingml/2006/main" prst="line">
            <a:avLst/>
          </a:prstGeom>
          <a:noFill xmlns:a="http://schemas.openxmlformats.org/drawingml/2006/main"/>
          <a:ln xmlns:a="http://schemas.openxmlformats.org/drawingml/2006/main" w="9525">
            <a:solidFill>
              <a:srgbClr val="CAD4DA"/>
            </a:solidFill>
            <a:prstDash val="solid"/>
          </a:ln>
        </p:spPr>
      </p:sp>
      <p:sp>
        <p:nvSpPr>
          <p:cNvPr id="38" name="">
            <a:extLst xmlns:a="http://schemas.openxmlformats.org/drawingml/2006/main">
              <a:ext uri="{FF2B5EF4-FFF2-40B4-BE49-F238E27FC236}">
                <a16:creationId xmlns:a16="http://schemas.microsoft.com/office/drawing/2014/main" id="{333C926A-9C3D-49EA-9A81-E3AA8F7E8215}"/>
              </a:ext>
            </a:extLst>
          </p:cNvPr>
          <p:cNvSpPr>
            <a:spLocks xmlns:a="http://schemas.openxmlformats.org/drawingml/2006/main" noGrp="1"/>
          </p:cNvSpPr>
          <p:nvPr/>
        </p:nvSpPr>
        <p:spPr>
          <a:xfrm xmlns:a="http://schemas.openxmlformats.org/drawingml/2006/main">
            <a:off x="1143000" y="5457825"/>
            <a:ext cx="9906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200" b="1" i="0">
                <a:solidFill>
                  <a:srgbClr val="238A7A"/>
                </a:solidFill>
                <a:latin typeface="DejaVu Sans"/>
                <a:ea typeface="DejaVu Sans"/>
                <a:cs typeface="DejaVu Sans"/>
              </a:defRPr>
            </a:defPPr>
          </a:lstStyle>
          <a:p xmlns:a="http://schemas.openxmlformats.org/drawingml/2006/main">
            <a:pPr algn="ctr">
              <a:defRPr sz="1200" b="1" i="0">
                <a:solidFill>
                  <a:srgbClr val="238A7A"/>
                </a:solidFill>
                <a:latin typeface="DejaVu Sans"/>
                <a:ea typeface="DejaVu Sans"/>
                <a:cs typeface="DejaVu Sans"/>
              </a:defRPr>
            </a:pPr>
            <a:r>
              <a:rPr sz="1200" b="1" i="0">
                <a:solidFill>
                  <a:srgbClr val="238A7A"/>
                </a:solidFill>
                <a:latin typeface="DejaVu Sans"/>
                <a:ea typeface="DejaVu Sans"/>
                <a:cs typeface="DejaVu Sans"/>
              </a:rPr>
              <a:t>ARD uses one ℓj per normalized input. Smaller ℓj means faster variation along dimension j.</a:t>
            </a:r>
          </a:p>
        </p:txBody>
      </p:sp>
      <p:sp>
        <p:nvSpPr>
          <p:cNvPr id="39" name="">
            <a:extLst xmlns:a="http://schemas.openxmlformats.org/drawingml/2006/main">
              <a:ext uri="{FF2B5EF4-FFF2-40B4-BE49-F238E27FC236}">
                <a16:creationId xmlns:a16="http://schemas.microsoft.com/office/drawing/2014/main" id="{BA20A776-BE54-4987-B71A-50C012015979}"/>
              </a:ext>
            </a:extLst>
          </p:cNvPr>
          <p:cNvSpPr>
            <a:spLocks xmlns:a="http://schemas.openxmlformats.org/drawingml/2006/main" noGrp="1"/>
          </p:cNvSpPr>
          <p:nvPr/>
        </p:nvSpPr>
        <p:spPr>
          <a:xfrm xmlns:a="http://schemas.openxmlformats.org/drawingml/2006/main">
            <a:off x="1000125" y="5848350"/>
            <a:ext cx="10191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200" b="1" i="0">
                <a:solidFill>
                  <a:srgbClr val="E76F51"/>
                </a:solidFill>
                <a:latin typeface="DejaVu Sans"/>
                <a:ea typeface="DejaVu Sans"/>
                <a:cs typeface="DejaVu Sans"/>
              </a:defRPr>
            </a:defPPr>
          </a:lstStyle>
          <a:p xmlns:a="http://schemas.openxmlformats.org/drawingml/2006/main">
            <a:pPr algn="ctr">
              <a:defRPr sz="1200" b="1" i="0">
                <a:solidFill>
                  <a:srgbClr val="E76F51"/>
                </a:solidFill>
                <a:latin typeface="DejaVu Sans"/>
                <a:ea typeface="DejaVu Sans"/>
                <a:cs typeface="DejaVu Sans"/>
              </a:defRPr>
            </a:pPr>
            <a:r>
              <a:rPr sz="1200" b="1" i="0">
                <a:solidFill>
                  <a:srgbClr val="E76F51"/>
                </a:solidFill>
                <a:latin typeface="DejaVu Sans"/>
                <a:ea typeface="DejaVu Sans"/>
                <a:cs typeface="DejaVu Sans"/>
              </a:rPr>
              <a:t>Decision settings κ, ε, and δ do not change the GP posterior. Jitter stabilizes computation and is not measurement noise.</a:t>
            </a:r>
          </a:p>
        </p:txBody>
      </p:sp>
      <p:sp>
        <p:nvSpPr>
          <p:cNvPr id="40" name="">
            <a:extLst xmlns:a="http://schemas.openxmlformats.org/drawingml/2006/main">
              <a:ext uri="{FF2B5EF4-FFF2-40B4-BE49-F238E27FC236}">
                <a16:creationId xmlns:a16="http://schemas.microsoft.com/office/drawing/2014/main" id="{ABB0FC5C-F08A-4938-9AA9-1CFA0916105F}"/>
              </a:ext>
            </a:extLst>
          </p:cNvPr>
          <p:cNvSpPr>
            <a:spLocks xmlns:a="http://schemas.openxmlformats.org/drawingml/2006/main" noGrp="1"/>
          </p:cNvSpPr>
          <p:nvPr/>
        </p:nvSpPr>
        <p:spPr>
          <a:xfrm xmlns:a="http://schemas.openxmlformats.org/drawingml/2006/main">
            <a:off x="685800" y="6477000"/>
            <a:ext cx="9810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675" b="0" i="0">
                <a:solidFill>
                  <a:srgbClr val="71808A"/>
                </a:solidFill>
                <a:latin typeface="DejaVu Sans"/>
                <a:ea typeface="DejaVu Sans"/>
                <a:cs typeface="DejaVu Sans"/>
              </a:defRPr>
            </a:defPPr>
          </a:lstStyle>
          <a:p xmlns:a="http://schemas.openxmlformats.org/drawingml/2006/main">
            <a:pPr algn="l">
              <a:defRPr sz="675" b="0" i="0">
                <a:solidFill>
                  <a:srgbClr val="71808A"/>
                </a:solidFill>
                <a:latin typeface="DejaVu Sans"/>
                <a:ea typeface="DejaVu Sans"/>
                <a:cs typeface="DejaVu Sans"/>
              </a:defRPr>
            </a:pPr>
            <a:r>
              <a:rPr sz="675" b="0" i="0">
                <a:solidFill>
                  <a:srgbClr val="71808A"/>
                </a:solidFill>
                <a:latin typeface="DejaVu Sans"/>
                <a:ea typeface="DejaVu Sans"/>
                <a:cs typeface="DejaVu Sans"/>
              </a:rPr>
              <a:t>Project hyperparameter guide; GP kernel and likelihood conventions</a:t>
            </a:r>
          </a:p>
        </p:txBody>
      </p:sp>
      <p:sp>
        <p:nvSpPr>
          <p:cNvPr id="41" name="">
            <a:extLst xmlns:a="http://schemas.openxmlformats.org/drawingml/2006/main">
              <a:ext uri="{FF2B5EF4-FFF2-40B4-BE49-F238E27FC236}">
                <a16:creationId xmlns:a16="http://schemas.microsoft.com/office/drawing/2014/main" id="{D325C708-4D2D-490A-8438-BD02F322600E}"/>
              </a:ext>
            </a:extLst>
          </p:cNvPr>
          <p:cNvSpPr>
            <a:spLocks xmlns:a="http://schemas.openxmlformats.org/drawingml/2006/main" noGrp="1"/>
          </p:cNvSpPr>
          <p:nvPr/>
        </p:nvSpPr>
        <p:spPr>
          <a:xfrm xmlns:a="http://schemas.openxmlformats.org/drawingml/2006/main">
            <a:off x="11001375" y="6429375"/>
            <a:ext cx="495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825" b="1" i="0">
                <a:solidFill>
                  <a:srgbClr val="71808A"/>
                </a:solidFill>
                <a:latin typeface="DejaVu Sans"/>
                <a:ea typeface="DejaVu Sans"/>
                <a:cs typeface="DejaVu Sans"/>
              </a:defRPr>
            </a:defPPr>
          </a:lstStyle>
          <a:p xmlns:a="http://schemas.openxmlformats.org/drawingml/2006/main">
            <a:pPr algn="r">
              <a:defRPr sz="825" b="1" i="0">
                <a:solidFill>
                  <a:srgbClr val="71808A"/>
                </a:solidFill>
                <a:latin typeface="DejaVu Sans"/>
                <a:ea typeface="DejaVu Sans"/>
                <a:cs typeface="DejaVu Sans"/>
              </a:defRPr>
            </a:pPr>
            <a:r>
              <a:rPr sz="825" b="1" i="0">
                <a:solidFill>
                  <a:srgbClr val="71808A"/>
                </a:solidFill>
                <a:latin typeface="DejaVu Sans"/>
                <a:ea typeface="DejaVu Sans"/>
                <a:cs typeface="DejaVu Sans"/>
              </a:rPr>
              <a:t>09</a:t>
            </a:r>
          </a:p>
        </p:txBody>
      </p:sp>
    </p:spTree>
    <p:extLst>
      <p:ext uri="{BB962C8B-B14F-4D97-AF65-F5344CB8AC3E}">
        <p14:creationId xmlns:p14="http://schemas.microsoft.com/office/powerpoint/2010/main" val="139764166"/>
      </p:ext>
    </p:extLst>
  </p:cSld>
</p:sld>
</file>

<file path=ppt/slides/slide10.xml><?xml version="1.0" encoding="utf-8"?>
<p:sld xmlns:p="http://schemas.openxmlformats.org/presentationml/2006/main">
  <p:cSld>
    <p:bg>
      <p:bgPr>
        <a:solidFill xmlns:a="http://schemas.openxmlformats.org/drawingml/2006/main">
          <a:srgbClr val="0B1F33"/>
        </a:solidFill>
      </p:bgPr>
    </p:bg>
    <p:spTree>
      <p:nvGrpSpPr>
        <p:cNvPr id="1" name=""/>
        <p:cNvGrpSpPr/>
        <p:nvPr/>
      </p:nvGrpSpPr>
      <p:grpSpPr>
        <a:xfrm xmlns:a="http://schemas.openxmlformats.org/drawingml/2006/main"/>
      </p:grpSpPr>
      <p:sp>
        <p:nvSpPr>
          <p:cNvPr id="28" name="slide-title">
            <a:extLst xmlns:a="http://schemas.openxmlformats.org/drawingml/2006/main">
              <a:ext uri="{FF2B5EF4-FFF2-40B4-BE49-F238E27FC236}">
                <a16:creationId xmlns:a16="http://schemas.microsoft.com/office/drawing/2014/main" id="{EA4171F1-95D8-4F17-915C-83FA142F267A}"/>
              </a:ext>
            </a:extLst>
          </p:cNvPr>
          <p:cNvSpPr>
            <a:spLocks xmlns:a="http://schemas.openxmlformats.org/drawingml/2006/main" noGrp="1"/>
          </p:cNvSpPr>
          <p:nvPr/>
        </p:nvSpPr>
        <p:spPr>
          <a:xfrm xmlns:a="http://schemas.openxmlformats.org/drawingml/2006/main">
            <a:off x="685800" y="419100"/>
            <a:ext cx="10382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550" b="1" i="0">
                <a:solidFill>
                  <a:srgbClr val="FFFFFF"/>
                </a:solidFill>
                <a:latin typeface="DejaVu Sans"/>
                <a:ea typeface="DejaVu Sans"/>
                <a:cs typeface="DejaVu Sans"/>
              </a:defRPr>
            </a:defPPr>
          </a:lstStyle>
          <a:p xmlns:a="http://schemas.openxmlformats.org/drawingml/2006/main">
            <a:pPr algn="l">
              <a:defRPr sz="2550" b="1" i="0">
                <a:solidFill>
                  <a:srgbClr val="FFFFFF"/>
                </a:solidFill>
                <a:latin typeface="DejaVu Sans"/>
                <a:ea typeface="DejaVu Sans"/>
                <a:cs typeface="DejaVu Sans"/>
              </a:defRPr>
            </a:pPr>
            <a:r>
              <a:rPr sz="2550" b="1" i="0">
                <a:solidFill>
                  <a:srgbClr val="FFFFFF"/>
                </a:solidFill>
                <a:latin typeface="DejaVu Sans"/>
                <a:ea typeface="DejaVu Sans"/>
                <a:cs typeface="DejaVu Sans"/>
              </a:rPr>
              <a:t>Model fitting and the next project phase</a:t>
            </a:r>
          </a:p>
        </p:txBody>
      </p:sp>
      <p:sp>
        <p:nvSpPr>
          <p:cNvPr id="2" name="slide-subtitle">
            <a:extLst xmlns:a="http://schemas.openxmlformats.org/drawingml/2006/main">
              <a:ext uri="{FF2B5EF4-FFF2-40B4-BE49-F238E27FC236}">
                <a16:creationId xmlns:a16="http://schemas.microsoft.com/office/drawing/2014/main" id="{98C8333C-47CF-4DA0-9F29-C3F2D0AB1EEC}"/>
              </a:ext>
            </a:extLst>
          </p:cNvPr>
          <p:cNvSpPr>
            <a:spLocks xmlns:a="http://schemas.openxmlformats.org/drawingml/2006/main" noGrp="1"/>
          </p:cNvSpPr>
          <p:nvPr/>
        </p:nvSpPr>
        <p:spPr>
          <a:xfrm xmlns:a="http://schemas.openxmlformats.org/drawingml/2006/main">
            <a:off x="704850" y="990600"/>
            <a:ext cx="1028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275" b="0" i="0">
                <a:solidFill>
                  <a:srgbClr val="C8D7E3"/>
                </a:solidFill>
                <a:latin typeface="DejaVu Sans"/>
                <a:ea typeface="DejaVu Sans"/>
                <a:cs typeface="DejaVu Sans"/>
              </a:defRPr>
            </a:defPPr>
          </a:lstStyle>
          <a:p xmlns:a="http://schemas.openxmlformats.org/drawingml/2006/main">
            <a:pPr algn="l">
              <a:defRPr sz="1275" b="0" i="0">
                <a:solidFill>
                  <a:srgbClr val="C8D7E3"/>
                </a:solidFill>
                <a:latin typeface="DejaVu Sans"/>
                <a:ea typeface="DejaVu Sans"/>
                <a:cs typeface="DejaVu Sans"/>
              </a:defRPr>
            </a:pPr>
            <a:r>
              <a:rPr sz="1275" b="0" i="0">
                <a:solidFill>
                  <a:srgbClr val="C8D7E3"/>
                </a:solidFill>
                <a:latin typeface="DejaVu Sans"/>
                <a:ea typeface="DejaVu Sans"/>
                <a:cs typeface="DejaVu Sans"/>
              </a:rPr>
              <a:t>Fit carefully, test failure conditions, then scale the experiment</a:t>
            </a:r>
          </a:p>
        </p:txBody>
      </p:sp>
      <p:sp>
        <p:nvSpPr>
          <p:cNvPr id="3" name="">
            <a:extLst xmlns:a="http://schemas.openxmlformats.org/drawingml/2006/main">
              <a:ext uri="{FF2B5EF4-FFF2-40B4-BE49-F238E27FC236}">
                <a16:creationId xmlns:a16="http://schemas.microsoft.com/office/drawing/2014/main" id="{83419FB0-C5EA-4F19-8166-C6D971174417}"/>
              </a:ext>
            </a:extLst>
          </p:cNvPr>
          <p:cNvSpPr>
            <a:spLocks xmlns:a="http://schemas.openxmlformats.org/drawingml/2006/main" noGrp="1"/>
          </p:cNvSpPr>
          <p:nvPr/>
        </p:nvSpPr>
        <p:spPr>
          <a:xfrm xmlns:a="http://schemas.openxmlformats.org/drawingml/2006/main">
            <a:off x="685800" y="1409700"/>
            <a:ext cx="3143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425" b="1" i="0">
                <a:solidFill>
                  <a:srgbClr val="5BC0BE"/>
                </a:solidFill>
                <a:latin typeface="DejaVu Sans"/>
                <a:ea typeface="DejaVu Sans"/>
                <a:cs typeface="DejaVu Sans"/>
              </a:defRPr>
            </a:defPPr>
          </a:lstStyle>
          <a:p xmlns:a="http://schemas.openxmlformats.org/drawingml/2006/main">
            <a:pPr algn="l">
              <a:defRPr sz="1425" b="1" i="0">
                <a:solidFill>
                  <a:srgbClr val="5BC0BE"/>
                </a:solidFill>
                <a:latin typeface="DejaVu Sans"/>
                <a:ea typeface="DejaVu Sans"/>
                <a:cs typeface="DejaVu Sans"/>
              </a:defRPr>
            </a:pPr>
            <a:r>
              <a:rPr sz="1425" b="1" i="0">
                <a:solidFill>
                  <a:srgbClr val="5BC0BE"/>
                </a:solidFill>
                <a:latin typeface="DejaVu Sans"/>
                <a:ea typeface="DejaVu Sans"/>
                <a:cs typeface="DejaVu Sans"/>
              </a:rPr>
              <a:t>How the model is fitted</a:t>
            </a:r>
          </a:p>
        </p:txBody>
      </p:sp>
      <p:sp>
        <p:nvSpPr>
          <p:cNvPr id="4" name="">
            <a:extLst xmlns:a="http://schemas.openxmlformats.org/drawingml/2006/main">
              <a:ext uri="{FF2B5EF4-FFF2-40B4-BE49-F238E27FC236}">
                <a16:creationId xmlns:a16="http://schemas.microsoft.com/office/drawing/2014/main" id="{CDD43421-6952-4FFA-B5DB-1522ED7AED55}"/>
              </a:ext>
            </a:extLst>
          </p:cNvPr>
          <p:cNvSpPr>
            <a:spLocks xmlns:a="http://schemas.openxmlformats.org/drawingml/2006/main" noGrp="1"/>
          </p:cNvSpPr>
          <p:nvPr/>
        </p:nvSpPr>
        <p:spPr>
          <a:xfrm xmlns:a="http://schemas.openxmlformats.org/drawingml/2006/main">
            <a:off x="723900" y="1847850"/>
            <a:ext cx="10668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575" b="1" i="0">
                <a:solidFill>
                  <a:srgbClr val="FFFFFF"/>
                </a:solidFill>
                <a:latin typeface="DejaVu Sans"/>
                <a:ea typeface="DejaVu Sans"/>
                <a:cs typeface="DejaVu Sans"/>
              </a:defRPr>
            </a:defPPr>
          </a:lstStyle>
          <a:p xmlns:a="http://schemas.openxmlformats.org/drawingml/2006/main">
            <a:pPr algn="ctr">
              <a:defRPr sz="1575" b="1" i="0">
                <a:solidFill>
                  <a:srgbClr val="FFFFFF"/>
                </a:solidFill>
                <a:latin typeface="DejaVu Sans"/>
                <a:ea typeface="DejaVu Sans"/>
                <a:cs typeface="DejaVu Sans"/>
              </a:defRPr>
            </a:pPr>
            <a:r>
              <a:rPr sz="1575" b="1" i="0">
                <a:solidFill>
                  <a:srgbClr val="FFFFFF"/>
                </a:solidFill>
                <a:latin typeface="DejaVu Sans"/>
                <a:ea typeface="DejaVu Sans"/>
                <a:cs typeface="DejaVu Sans"/>
              </a:rPr>
              <a:t>log p(y | X, θ) = −½(y−m)ᵀCθ⁻¹(y−m) − ½ log|Cθ| − n/2 log(2π)</a:t>
            </a:r>
          </a:p>
        </p:txBody>
      </p:sp>
      <p:sp>
        <p:nvSpPr>
          <p:cNvPr id="5" name="">
            <a:extLst xmlns:a="http://schemas.openxmlformats.org/drawingml/2006/main">
              <a:ext uri="{FF2B5EF4-FFF2-40B4-BE49-F238E27FC236}">
                <a16:creationId xmlns:a16="http://schemas.microsoft.com/office/drawing/2014/main" id="{363B6E03-1BC4-4B73-B73D-6F1109AE16EB}"/>
              </a:ext>
            </a:extLst>
          </p:cNvPr>
          <p:cNvSpPr>
            <a:spLocks xmlns:a="http://schemas.openxmlformats.org/drawingml/2006/main" noGrp="1"/>
          </p:cNvSpPr>
          <p:nvPr/>
        </p:nvSpPr>
        <p:spPr>
          <a:xfrm xmlns:a="http://schemas.openxmlformats.org/drawingml/2006/main">
            <a:off x="904875" y="2543175"/>
            <a:ext cx="257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350" b="1" i="0">
                <a:solidFill>
                  <a:srgbClr val="5BC0BE"/>
                </a:solidFill>
                <a:latin typeface="DejaVu Sans"/>
                <a:ea typeface="DejaVu Sans"/>
                <a:cs typeface="DejaVu Sans"/>
              </a:defRPr>
            </a:defPPr>
          </a:lstStyle>
          <a:p xmlns:a="http://schemas.openxmlformats.org/drawingml/2006/main">
            <a:pPr algn="ctr">
              <a:defRPr sz="1350" b="1" i="0">
                <a:solidFill>
                  <a:srgbClr val="5BC0BE"/>
                </a:solidFill>
                <a:latin typeface="DejaVu Sans"/>
                <a:ea typeface="DejaVu Sans"/>
                <a:cs typeface="DejaVu Sans"/>
              </a:defRPr>
            </a:pPr>
            <a:r>
              <a:rPr sz="1350" b="1" i="0">
                <a:solidFill>
                  <a:srgbClr val="5BC0BE"/>
                </a:solidFill>
                <a:latin typeface="DejaVu Sans"/>
                <a:ea typeface="DejaVu Sans"/>
                <a:cs typeface="DejaVu Sans"/>
              </a:rPr>
              <a:t>Data fit</a:t>
            </a:r>
          </a:p>
        </p:txBody>
      </p:sp>
      <p:sp>
        <p:nvSpPr>
          <p:cNvPr id="6" name="">
            <a:extLst xmlns:a="http://schemas.openxmlformats.org/drawingml/2006/main">
              <a:ext uri="{FF2B5EF4-FFF2-40B4-BE49-F238E27FC236}">
                <a16:creationId xmlns:a16="http://schemas.microsoft.com/office/drawing/2014/main" id="{4F985AD4-F2B8-4A58-8FB6-4FDA8B91C226}"/>
              </a:ext>
            </a:extLst>
          </p:cNvPr>
          <p:cNvSpPr>
            <a:spLocks xmlns:a="http://schemas.openxmlformats.org/drawingml/2006/main" noGrp="1"/>
          </p:cNvSpPr>
          <p:nvPr/>
        </p:nvSpPr>
        <p:spPr>
          <a:xfrm xmlns:a="http://schemas.openxmlformats.org/drawingml/2006/main">
            <a:off x="781050" y="2905125"/>
            <a:ext cx="2857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125" b="0" i="0">
                <a:solidFill>
                  <a:srgbClr val="CFDCE4"/>
                </a:solidFill>
                <a:latin typeface="DejaVu Sans"/>
                <a:ea typeface="DejaVu Sans"/>
                <a:cs typeface="DejaVu Sans"/>
              </a:defRPr>
            </a:defPPr>
          </a:lstStyle>
          <a:p xmlns:a="http://schemas.openxmlformats.org/drawingml/2006/main">
            <a:pPr algn="ctr">
              <a:defRPr sz="1125" b="0" i="0">
                <a:solidFill>
                  <a:srgbClr val="CFDCE4"/>
                </a:solidFill>
                <a:latin typeface="DejaVu Sans"/>
                <a:ea typeface="DejaVu Sans"/>
                <a:cs typeface="DejaVu Sans"/>
              </a:defRPr>
            </a:pPr>
            <a:r>
              <a:rPr sz="1125" b="0" i="0">
                <a:solidFill>
                  <a:srgbClr val="CFDCE4"/>
                </a:solidFill>
                <a:latin typeface="DejaVu Sans"/>
                <a:ea typeface="DejaVu Sans"/>
                <a:cs typeface="DejaVu Sans"/>
              </a:rPr>
              <a:t>The quadratic term rewards covariance settings that explain the observed values.</a:t>
            </a:r>
          </a:p>
        </p:txBody>
      </p:sp>
      <p:sp>
        <p:nvSpPr>
          <p:cNvPr id="7" name="">
            <a:extLst xmlns:a="http://schemas.openxmlformats.org/drawingml/2006/main">
              <a:ext uri="{FF2B5EF4-FFF2-40B4-BE49-F238E27FC236}">
                <a16:creationId xmlns:a16="http://schemas.microsoft.com/office/drawing/2014/main" id="{9B0BF8EA-BDA4-44F6-AD2A-83A7E73E5112}"/>
              </a:ext>
            </a:extLst>
          </p:cNvPr>
          <p:cNvSpPr>
            <a:spLocks xmlns:a="http://schemas.openxmlformats.org/drawingml/2006/main" noGrp="1"/>
          </p:cNvSpPr>
          <p:nvPr/>
        </p:nvSpPr>
        <p:spPr>
          <a:xfrm xmlns:a="http://schemas.openxmlformats.org/drawingml/2006/main">
            <a:off x="4810125" y="2543175"/>
            <a:ext cx="257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350" b="1" i="0">
                <a:solidFill>
                  <a:srgbClr val="F4A261"/>
                </a:solidFill>
                <a:latin typeface="DejaVu Sans"/>
                <a:ea typeface="DejaVu Sans"/>
                <a:cs typeface="DejaVu Sans"/>
              </a:defRPr>
            </a:defPPr>
          </a:lstStyle>
          <a:p xmlns:a="http://schemas.openxmlformats.org/drawingml/2006/main">
            <a:pPr algn="ctr">
              <a:defRPr sz="1350" b="1" i="0">
                <a:solidFill>
                  <a:srgbClr val="F4A261"/>
                </a:solidFill>
                <a:latin typeface="DejaVu Sans"/>
                <a:ea typeface="DejaVu Sans"/>
                <a:cs typeface="DejaVu Sans"/>
              </a:defRPr>
            </a:pPr>
            <a:r>
              <a:rPr sz="1350" b="1" i="0">
                <a:solidFill>
                  <a:srgbClr val="F4A261"/>
                </a:solidFill>
                <a:latin typeface="DejaVu Sans"/>
                <a:ea typeface="DejaVu Sans"/>
                <a:cs typeface="DejaVu Sans"/>
              </a:rPr>
              <a:t>Complexity control</a:t>
            </a:r>
          </a:p>
        </p:txBody>
      </p:sp>
      <p:sp>
        <p:nvSpPr>
          <p:cNvPr id="8" name="">
            <a:extLst xmlns:a="http://schemas.openxmlformats.org/drawingml/2006/main">
              <a:ext uri="{FF2B5EF4-FFF2-40B4-BE49-F238E27FC236}">
                <a16:creationId xmlns:a16="http://schemas.microsoft.com/office/drawing/2014/main" id="{AA2F10BA-FB23-468B-BBC2-3746F989EB3F}"/>
              </a:ext>
            </a:extLst>
          </p:cNvPr>
          <p:cNvSpPr>
            <a:spLocks xmlns:a="http://schemas.openxmlformats.org/drawingml/2006/main" noGrp="1"/>
          </p:cNvSpPr>
          <p:nvPr/>
        </p:nvSpPr>
        <p:spPr>
          <a:xfrm xmlns:a="http://schemas.openxmlformats.org/drawingml/2006/main">
            <a:off x="4686300" y="2905125"/>
            <a:ext cx="2857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125" b="0" i="0">
                <a:solidFill>
                  <a:srgbClr val="CFDCE4"/>
                </a:solidFill>
                <a:latin typeface="DejaVu Sans"/>
                <a:ea typeface="DejaVu Sans"/>
                <a:cs typeface="DejaVu Sans"/>
              </a:defRPr>
            </a:defPPr>
          </a:lstStyle>
          <a:p xmlns:a="http://schemas.openxmlformats.org/drawingml/2006/main">
            <a:pPr algn="ctr">
              <a:defRPr sz="1125" b="0" i="0">
                <a:solidFill>
                  <a:srgbClr val="CFDCE4"/>
                </a:solidFill>
                <a:latin typeface="DejaVu Sans"/>
                <a:ea typeface="DejaVu Sans"/>
                <a:cs typeface="DejaVu Sans"/>
              </a:defRPr>
            </a:pPr>
            <a:r>
              <a:rPr sz="1125" b="0" i="0">
                <a:solidFill>
                  <a:srgbClr val="CFDCE4"/>
                </a:solidFill>
                <a:latin typeface="DejaVu Sans"/>
                <a:ea typeface="DejaVu Sans"/>
                <a:cs typeface="DejaVu Sans"/>
              </a:rPr>
              <a:t>The log determinant prevents the model from gaining likelihood through unlimited flexibility.</a:t>
            </a:r>
          </a:p>
        </p:txBody>
      </p:sp>
      <p:sp>
        <p:nvSpPr>
          <p:cNvPr id="9" name="">
            <a:extLst xmlns:a="http://schemas.openxmlformats.org/drawingml/2006/main">
              <a:ext uri="{FF2B5EF4-FFF2-40B4-BE49-F238E27FC236}">
                <a16:creationId xmlns:a16="http://schemas.microsoft.com/office/drawing/2014/main" id="{CBBA747E-5AAE-46E9-A3B2-74837132EE88}"/>
              </a:ext>
            </a:extLst>
          </p:cNvPr>
          <p:cNvSpPr>
            <a:spLocks xmlns:a="http://schemas.openxmlformats.org/drawingml/2006/main" noGrp="1"/>
          </p:cNvSpPr>
          <p:nvPr/>
        </p:nvSpPr>
        <p:spPr>
          <a:xfrm xmlns:a="http://schemas.openxmlformats.org/drawingml/2006/main">
            <a:off x="8715375" y="2543175"/>
            <a:ext cx="257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350" b="1" i="0">
                <a:solidFill>
                  <a:srgbClr val="5BC0BE"/>
                </a:solidFill>
                <a:latin typeface="DejaVu Sans"/>
                <a:ea typeface="DejaVu Sans"/>
                <a:cs typeface="DejaVu Sans"/>
              </a:defRPr>
            </a:defPPr>
          </a:lstStyle>
          <a:p xmlns:a="http://schemas.openxmlformats.org/drawingml/2006/main">
            <a:pPr algn="ctr">
              <a:defRPr sz="1350" b="1" i="0">
                <a:solidFill>
                  <a:srgbClr val="5BC0BE"/>
                </a:solidFill>
                <a:latin typeface="DejaVu Sans"/>
                <a:ea typeface="DejaVu Sans"/>
                <a:cs typeface="DejaVu Sans"/>
              </a:defRPr>
            </a:pPr>
            <a:r>
              <a:rPr sz="1350" b="1" i="0">
                <a:solidFill>
                  <a:srgbClr val="5BC0BE"/>
                </a:solidFill>
                <a:latin typeface="DejaVu Sans"/>
                <a:ea typeface="DejaVu Sans"/>
                <a:cs typeface="DejaVu Sans"/>
              </a:rPr>
              <a:t>Numerical fitting</a:t>
            </a:r>
          </a:p>
        </p:txBody>
      </p:sp>
      <p:sp>
        <p:nvSpPr>
          <p:cNvPr id="10" name="">
            <a:extLst xmlns:a="http://schemas.openxmlformats.org/drawingml/2006/main">
              <a:ext uri="{FF2B5EF4-FFF2-40B4-BE49-F238E27FC236}">
                <a16:creationId xmlns:a16="http://schemas.microsoft.com/office/drawing/2014/main" id="{03872A12-A4C8-4543-A4B6-0B9CDFB55630}"/>
              </a:ext>
            </a:extLst>
          </p:cNvPr>
          <p:cNvSpPr>
            <a:spLocks xmlns:a="http://schemas.openxmlformats.org/drawingml/2006/main" noGrp="1"/>
          </p:cNvSpPr>
          <p:nvPr/>
        </p:nvSpPr>
        <p:spPr>
          <a:xfrm xmlns:a="http://schemas.openxmlformats.org/drawingml/2006/main">
            <a:off x="8591550" y="2905125"/>
            <a:ext cx="2857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125" b="0" i="0">
                <a:solidFill>
                  <a:srgbClr val="CFDCE4"/>
                </a:solidFill>
                <a:latin typeface="DejaVu Sans"/>
                <a:ea typeface="DejaVu Sans"/>
                <a:cs typeface="DejaVu Sans"/>
              </a:defRPr>
            </a:defPPr>
          </a:lstStyle>
          <a:p xmlns:a="http://schemas.openxmlformats.org/drawingml/2006/main">
            <a:pPr algn="ctr">
              <a:defRPr sz="1125" b="0" i="0">
                <a:solidFill>
                  <a:srgbClr val="CFDCE4"/>
                </a:solidFill>
                <a:latin typeface="DejaVu Sans"/>
                <a:ea typeface="DejaVu Sans"/>
                <a:cs typeface="DejaVu Sans"/>
              </a:defRPr>
            </a:pPr>
            <a:r>
              <a:rPr sz="1125" b="0" i="0">
                <a:solidFill>
                  <a:srgbClr val="CFDCE4"/>
                </a:solidFill>
                <a:latin typeface="DejaVu Sans"/>
                <a:ea typeface="DejaVu Sans"/>
                <a:cs typeface="DejaVu Sans"/>
              </a:rPr>
              <a:t>Normalize x, standardize y, use Cholesky solves, optimize in log space, and use multiple restarts.</a:t>
            </a:r>
          </a:p>
        </p:txBody>
      </p:sp>
      <p:sp>
        <p:nvSpPr>
          <p:cNvPr id="11" name="">
            <a:extLst xmlns:a="http://schemas.openxmlformats.org/drawingml/2006/main">
              <a:ext uri="{FF2B5EF4-FFF2-40B4-BE49-F238E27FC236}">
                <a16:creationId xmlns:a16="http://schemas.microsoft.com/office/drawing/2014/main" id="{F0349847-9D5D-4CA0-90BE-A630E39AF1C6}"/>
              </a:ext>
            </a:extLst>
          </p:cNvPr>
          <p:cNvSpPr>
            <a:spLocks xmlns:a="http://schemas.openxmlformats.org/drawingml/2006/main" noGrp="1"/>
          </p:cNvSpPr>
          <p:nvPr/>
        </p:nvSpPr>
        <p:spPr>
          <a:xfrm xmlns:a="http://schemas.openxmlformats.org/drawingml/2006/main">
            <a:off x="704850" y="3781425"/>
            <a:ext cx="10782300" cy="0"/>
          </a:xfrm>
          <a:prstGeom xmlns:a="http://schemas.openxmlformats.org/drawingml/2006/main" prst="line">
            <a:avLst/>
          </a:prstGeom>
          <a:noFill xmlns:a="http://schemas.openxmlformats.org/drawingml/2006/main"/>
          <a:ln xmlns:a="http://schemas.openxmlformats.org/drawingml/2006/main" w="19050">
            <a:solidFill>
              <a:srgbClr val="365061"/>
            </a:solidFill>
            <a:prstDash val="solid"/>
          </a:ln>
        </p:spPr>
      </p:sp>
      <p:sp>
        <p:nvSpPr>
          <p:cNvPr id="12" name="">
            <a:extLst xmlns:a="http://schemas.openxmlformats.org/drawingml/2006/main">
              <a:ext uri="{FF2B5EF4-FFF2-40B4-BE49-F238E27FC236}">
                <a16:creationId xmlns:a16="http://schemas.microsoft.com/office/drawing/2014/main" id="{6F3B07E3-7D5B-49E3-90A3-6CCC9452A79C}"/>
              </a:ext>
            </a:extLst>
          </p:cNvPr>
          <p:cNvSpPr>
            <a:spLocks xmlns:a="http://schemas.openxmlformats.org/drawingml/2006/main" noGrp="1"/>
          </p:cNvSpPr>
          <p:nvPr/>
        </p:nvSpPr>
        <p:spPr>
          <a:xfrm xmlns:a="http://schemas.openxmlformats.org/drawingml/2006/main">
            <a:off x="685800" y="4048125"/>
            <a:ext cx="4000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500" b="1" i="0">
                <a:solidFill>
                  <a:srgbClr val="F4A261"/>
                </a:solidFill>
                <a:latin typeface="DejaVu Sans"/>
                <a:ea typeface="DejaVu Sans"/>
                <a:cs typeface="DejaVu Sans"/>
              </a:defRPr>
            </a:defPPr>
          </a:lstStyle>
          <a:p xmlns:a="http://schemas.openxmlformats.org/drawingml/2006/main">
            <a:pPr algn="l">
              <a:defRPr sz="1500" b="1" i="0">
                <a:solidFill>
                  <a:srgbClr val="F4A261"/>
                </a:solidFill>
                <a:latin typeface="DejaVu Sans"/>
                <a:ea typeface="DejaVu Sans"/>
                <a:cs typeface="DejaVu Sans"/>
              </a:defRPr>
            </a:pPr>
            <a:r>
              <a:rPr sz="1500" b="1" i="0">
                <a:solidFill>
                  <a:srgbClr val="F4A261"/>
                </a:solidFill>
                <a:latin typeface="DejaVu Sans"/>
                <a:ea typeface="DejaVu Sans"/>
                <a:cs typeface="DejaVu Sans"/>
              </a:rPr>
              <a:t>Immediate next steps with Peter</a:t>
            </a:r>
          </a:p>
        </p:txBody>
      </p:sp>
      <p:sp>
        <p:nvSpPr>
          <p:cNvPr id="13" name="">
            <a:extLst xmlns:a="http://schemas.openxmlformats.org/drawingml/2006/main">
              <a:ext uri="{FF2B5EF4-FFF2-40B4-BE49-F238E27FC236}">
                <a16:creationId xmlns:a16="http://schemas.microsoft.com/office/drawing/2014/main" id="{F8CA5D99-607D-41EE-B51F-7F0AB23F8127}"/>
              </a:ext>
            </a:extLst>
          </p:cNvPr>
          <p:cNvSpPr>
            <a:spLocks xmlns:a="http://schemas.openxmlformats.org/drawingml/2006/main" noGrp="1"/>
          </p:cNvSpPr>
          <p:nvPr/>
        </p:nvSpPr>
        <p:spPr>
          <a:xfrm xmlns:a="http://schemas.openxmlformats.org/drawingml/2006/main">
            <a:off x="704850" y="4619625"/>
            <a:ext cx="3238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500" b="1" i="0">
                <a:solidFill>
                  <a:srgbClr val="5BC0BE"/>
                </a:solidFill>
                <a:latin typeface="DejaVu Sans"/>
                <a:ea typeface="DejaVu Sans"/>
                <a:cs typeface="DejaVu Sans"/>
              </a:defRPr>
            </a:defPPr>
          </a:lstStyle>
          <a:p xmlns:a="http://schemas.openxmlformats.org/drawingml/2006/main">
            <a:pPr algn="l">
              <a:defRPr sz="1500" b="1" i="0">
                <a:solidFill>
                  <a:srgbClr val="5BC0BE"/>
                </a:solidFill>
                <a:latin typeface="DejaVu Sans"/>
                <a:ea typeface="DejaVu Sans"/>
                <a:cs typeface="DejaVu Sans"/>
              </a:defRPr>
            </a:pPr>
            <a:r>
              <a:rPr sz="1500" b="1" i="0">
                <a:solidFill>
                  <a:srgbClr val="5BC0BE"/>
                </a:solidFill>
                <a:latin typeface="DejaVu Sans"/>
                <a:ea typeface="DejaVu Sans"/>
                <a:cs typeface="DejaVu Sans"/>
              </a:rPr>
              <a:t>1</a:t>
            </a:r>
          </a:p>
        </p:txBody>
      </p:sp>
      <p:sp>
        <p:nvSpPr>
          <p:cNvPr id="14" name="">
            <a:extLst xmlns:a="http://schemas.openxmlformats.org/drawingml/2006/main">
              <a:ext uri="{FF2B5EF4-FFF2-40B4-BE49-F238E27FC236}">
                <a16:creationId xmlns:a16="http://schemas.microsoft.com/office/drawing/2014/main" id="{7B3FFDED-8FDC-43C6-9E38-9C0DEF2D2BC6}"/>
              </a:ext>
            </a:extLst>
          </p:cNvPr>
          <p:cNvSpPr>
            <a:spLocks xmlns:a="http://schemas.openxmlformats.org/drawingml/2006/main" noGrp="1"/>
          </p:cNvSpPr>
          <p:nvPr/>
        </p:nvSpPr>
        <p:spPr>
          <a:xfrm xmlns:a="http://schemas.openxmlformats.org/drawingml/2006/main">
            <a:off x="1066800" y="4581525"/>
            <a:ext cx="2190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200" b="1" i="0">
                <a:solidFill>
                  <a:srgbClr val="FFFFFF"/>
                </a:solidFill>
                <a:latin typeface="DejaVu Sans"/>
                <a:ea typeface="DejaVu Sans"/>
                <a:cs typeface="DejaVu Sans"/>
              </a:defRPr>
            </a:defPPr>
          </a:lstStyle>
          <a:p xmlns:a="http://schemas.openxmlformats.org/drawingml/2006/main">
            <a:pPr algn="ctr">
              <a:defRPr sz="1200" b="1" i="0">
                <a:solidFill>
                  <a:srgbClr val="FFFFFF"/>
                </a:solidFill>
                <a:latin typeface="DejaVu Sans"/>
                <a:ea typeface="DejaVu Sans"/>
                <a:cs typeface="DejaVu Sans"/>
              </a:defRPr>
            </a:pPr>
            <a:r>
              <a:rPr sz="1200" b="1" i="0">
                <a:solidFill>
                  <a:srgbClr val="FFFFFF"/>
                </a:solidFill>
                <a:latin typeface="DejaVu Sans"/>
                <a:ea typeface="DejaVu Sans"/>
                <a:cs typeface="DejaVu Sans"/>
              </a:rPr>
              <a:t>Build a varied 2D function suite</a:t>
            </a:r>
          </a:p>
        </p:txBody>
      </p:sp>
      <p:sp>
        <p:nvSpPr>
          <p:cNvPr id="15" name="">
            <a:extLst xmlns:a="http://schemas.openxmlformats.org/drawingml/2006/main">
              <a:ext uri="{FF2B5EF4-FFF2-40B4-BE49-F238E27FC236}">
                <a16:creationId xmlns:a16="http://schemas.microsoft.com/office/drawing/2014/main" id="{43C010D6-A091-4C15-B5DB-028B76A05C33}"/>
              </a:ext>
            </a:extLst>
          </p:cNvPr>
          <p:cNvSpPr>
            <a:spLocks xmlns:a="http://schemas.openxmlformats.org/drawingml/2006/main" noGrp="1"/>
          </p:cNvSpPr>
          <p:nvPr/>
        </p:nvSpPr>
        <p:spPr>
          <a:xfrm xmlns:a="http://schemas.openxmlformats.org/drawingml/2006/main">
            <a:off x="838200" y="5162550"/>
            <a:ext cx="23812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050" b="0" i="0">
                <a:solidFill>
                  <a:srgbClr val="CFDCE4"/>
                </a:solidFill>
                <a:latin typeface="DejaVu Sans"/>
                <a:ea typeface="DejaVu Sans"/>
                <a:cs typeface="DejaVu Sans"/>
              </a:defRPr>
            </a:defPPr>
          </a:lstStyle>
          <a:p xmlns:a="http://schemas.openxmlformats.org/drawingml/2006/main">
            <a:pPr algn="ctr">
              <a:defRPr sz="1050" b="0" i="0">
                <a:solidFill>
                  <a:srgbClr val="CFDCE4"/>
                </a:solidFill>
                <a:latin typeface="DejaVu Sans"/>
                <a:ea typeface="DejaVu Sans"/>
                <a:cs typeface="DejaVu Sans"/>
              </a:defRPr>
            </a:pPr>
            <a:r>
              <a:rPr sz="1050" b="0" i="0">
                <a:solidFill>
                  <a:srgbClr val="CFDCE4"/>
                </a:solidFill>
                <a:latin typeface="DejaVu Sans"/>
                <a:ea typeface="DejaVu Sans"/>
                <a:cs typeface="DejaVu Sans"/>
              </a:rPr>
              <a:t>Smooth, multimodal, narrow-peak, ridge, anisotropic, and noisy cases</a:t>
            </a:r>
          </a:p>
        </p:txBody>
      </p:sp>
      <p:sp>
        <p:nvSpPr>
          <p:cNvPr id="16" name="">
            <a:extLst xmlns:a="http://schemas.openxmlformats.org/drawingml/2006/main">
              <a:ext uri="{FF2B5EF4-FFF2-40B4-BE49-F238E27FC236}">
                <a16:creationId xmlns:a16="http://schemas.microsoft.com/office/drawing/2014/main" id="{4F421B0C-3CC7-4EF4-BC3E-CB0CC3418E87}"/>
              </a:ext>
            </a:extLst>
          </p:cNvPr>
          <p:cNvSpPr>
            <a:spLocks xmlns:a="http://schemas.openxmlformats.org/drawingml/2006/main" noGrp="1"/>
          </p:cNvSpPr>
          <p:nvPr/>
        </p:nvSpPr>
        <p:spPr>
          <a:xfrm xmlns:a="http://schemas.openxmlformats.org/drawingml/2006/main">
            <a:off x="3448050" y="4619625"/>
            <a:ext cx="3238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500" b="1" i="0">
                <a:solidFill>
                  <a:srgbClr val="5BC0BE"/>
                </a:solidFill>
                <a:latin typeface="DejaVu Sans"/>
                <a:ea typeface="DejaVu Sans"/>
                <a:cs typeface="DejaVu Sans"/>
              </a:defRPr>
            </a:defPPr>
          </a:lstStyle>
          <a:p xmlns:a="http://schemas.openxmlformats.org/drawingml/2006/main">
            <a:pPr algn="l">
              <a:defRPr sz="1500" b="1" i="0">
                <a:solidFill>
                  <a:srgbClr val="5BC0BE"/>
                </a:solidFill>
                <a:latin typeface="DejaVu Sans"/>
                <a:ea typeface="DejaVu Sans"/>
                <a:cs typeface="DejaVu Sans"/>
              </a:defRPr>
            </a:pPr>
            <a:r>
              <a:rPr sz="1500" b="1" i="0">
                <a:solidFill>
                  <a:srgbClr val="5BC0BE"/>
                </a:solidFill>
                <a:latin typeface="DejaVu Sans"/>
                <a:ea typeface="DejaVu Sans"/>
                <a:cs typeface="DejaVu Sans"/>
              </a:rPr>
              <a:t>2</a:t>
            </a:r>
          </a:p>
        </p:txBody>
      </p:sp>
      <p:sp>
        <p:nvSpPr>
          <p:cNvPr id="17" name="">
            <a:extLst xmlns:a="http://schemas.openxmlformats.org/drawingml/2006/main">
              <a:ext uri="{FF2B5EF4-FFF2-40B4-BE49-F238E27FC236}">
                <a16:creationId xmlns:a16="http://schemas.microsoft.com/office/drawing/2014/main" id="{67CF83FC-E7AC-47AA-A869-23EA11F0199B}"/>
              </a:ext>
            </a:extLst>
          </p:cNvPr>
          <p:cNvSpPr>
            <a:spLocks xmlns:a="http://schemas.openxmlformats.org/drawingml/2006/main" noGrp="1"/>
          </p:cNvSpPr>
          <p:nvPr/>
        </p:nvSpPr>
        <p:spPr>
          <a:xfrm xmlns:a="http://schemas.openxmlformats.org/drawingml/2006/main">
            <a:off x="3810000" y="4581525"/>
            <a:ext cx="2190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200" b="1" i="0">
                <a:solidFill>
                  <a:srgbClr val="FFFFFF"/>
                </a:solidFill>
                <a:latin typeface="DejaVu Sans"/>
                <a:ea typeface="DejaVu Sans"/>
                <a:cs typeface="DejaVu Sans"/>
              </a:defRPr>
            </a:defPPr>
          </a:lstStyle>
          <a:p xmlns:a="http://schemas.openxmlformats.org/drawingml/2006/main">
            <a:pPr algn="ctr">
              <a:defRPr sz="1200" b="1" i="0">
                <a:solidFill>
                  <a:srgbClr val="FFFFFF"/>
                </a:solidFill>
                <a:latin typeface="DejaVu Sans"/>
                <a:ea typeface="DejaVu Sans"/>
                <a:cs typeface="DejaVu Sans"/>
              </a:defRPr>
            </a:pPr>
            <a:r>
              <a:rPr sz="1200" b="1" i="0">
                <a:solidFill>
                  <a:srgbClr val="FFFFFF"/>
                </a:solidFill>
                <a:latin typeface="DejaVu Sans"/>
                <a:ea typeface="DejaVu Sans"/>
                <a:cs typeface="DejaVu Sans"/>
              </a:rPr>
              <a:t>Record ground truth and properties</a:t>
            </a:r>
          </a:p>
        </p:txBody>
      </p:sp>
      <p:sp>
        <p:nvSpPr>
          <p:cNvPr id="18" name="">
            <a:extLst xmlns:a="http://schemas.openxmlformats.org/drawingml/2006/main">
              <a:ext uri="{FF2B5EF4-FFF2-40B4-BE49-F238E27FC236}">
                <a16:creationId xmlns:a16="http://schemas.microsoft.com/office/drawing/2014/main" id="{37AD0E61-FEE0-4E37-9440-B37C1B8E5D11}"/>
              </a:ext>
            </a:extLst>
          </p:cNvPr>
          <p:cNvSpPr>
            <a:spLocks xmlns:a="http://schemas.openxmlformats.org/drawingml/2006/main" noGrp="1"/>
          </p:cNvSpPr>
          <p:nvPr/>
        </p:nvSpPr>
        <p:spPr>
          <a:xfrm xmlns:a="http://schemas.openxmlformats.org/drawingml/2006/main">
            <a:off x="3581400" y="5162550"/>
            <a:ext cx="23812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050" b="0" i="0">
                <a:solidFill>
                  <a:srgbClr val="CFDCE4"/>
                </a:solidFill>
                <a:latin typeface="DejaVu Sans"/>
                <a:ea typeface="DejaVu Sans"/>
                <a:cs typeface="DejaVu Sans"/>
              </a:defRPr>
            </a:defPPr>
          </a:lstStyle>
          <a:p xmlns:a="http://schemas.openxmlformats.org/drawingml/2006/main">
            <a:pPr algn="ctr">
              <a:defRPr sz="1050" b="0" i="0">
                <a:solidFill>
                  <a:srgbClr val="CFDCE4"/>
                </a:solidFill>
                <a:latin typeface="DejaVu Sans"/>
                <a:ea typeface="DejaVu Sans"/>
                <a:cs typeface="DejaVu Sans"/>
              </a:defRPr>
            </a:pPr>
            <a:r>
              <a:rPr sz="1050" b="0" i="0">
                <a:solidFill>
                  <a:srgbClr val="CFDCE4"/>
                </a:solidFill>
                <a:latin typeface="DejaVu Sans"/>
                <a:ea typeface="DejaVu Sans"/>
                <a:cs typeface="DejaVu Sans"/>
              </a:rPr>
              <a:t>Known optimum, domain, scaling, noise, and intended failure condition</a:t>
            </a:r>
          </a:p>
        </p:txBody>
      </p:sp>
      <p:sp>
        <p:nvSpPr>
          <p:cNvPr id="19" name="">
            <a:extLst xmlns:a="http://schemas.openxmlformats.org/drawingml/2006/main">
              <a:ext uri="{FF2B5EF4-FFF2-40B4-BE49-F238E27FC236}">
                <a16:creationId xmlns:a16="http://schemas.microsoft.com/office/drawing/2014/main" id="{BE34BA7E-0A1D-4BAF-B1A0-CEEFB4119D65}"/>
              </a:ext>
            </a:extLst>
          </p:cNvPr>
          <p:cNvSpPr>
            <a:spLocks xmlns:a="http://schemas.openxmlformats.org/drawingml/2006/main" noGrp="1"/>
          </p:cNvSpPr>
          <p:nvPr/>
        </p:nvSpPr>
        <p:spPr>
          <a:xfrm xmlns:a="http://schemas.openxmlformats.org/drawingml/2006/main">
            <a:off x="6191250" y="4619625"/>
            <a:ext cx="3238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500" b="1" i="0">
                <a:solidFill>
                  <a:srgbClr val="5BC0BE"/>
                </a:solidFill>
                <a:latin typeface="DejaVu Sans"/>
                <a:ea typeface="DejaVu Sans"/>
                <a:cs typeface="DejaVu Sans"/>
              </a:defRPr>
            </a:defPPr>
          </a:lstStyle>
          <a:p xmlns:a="http://schemas.openxmlformats.org/drawingml/2006/main">
            <a:pPr algn="l">
              <a:defRPr sz="1500" b="1" i="0">
                <a:solidFill>
                  <a:srgbClr val="5BC0BE"/>
                </a:solidFill>
                <a:latin typeface="DejaVu Sans"/>
                <a:ea typeface="DejaVu Sans"/>
                <a:cs typeface="DejaVu Sans"/>
              </a:defRPr>
            </a:pPr>
            <a:r>
              <a:rPr sz="1500" b="1" i="0">
                <a:solidFill>
                  <a:srgbClr val="5BC0BE"/>
                </a:solidFill>
                <a:latin typeface="DejaVu Sans"/>
                <a:ea typeface="DejaVu Sans"/>
                <a:cs typeface="DejaVu Sans"/>
              </a:rPr>
              <a:t>3</a:t>
            </a:r>
          </a:p>
        </p:txBody>
      </p:sp>
      <p:sp>
        <p:nvSpPr>
          <p:cNvPr id="20" name="">
            <a:extLst xmlns:a="http://schemas.openxmlformats.org/drawingml/2006/main">
              <a:ext uri="{FF2B5EF4-FFF2-40B4-BE49-F238E27FC236}">
                <a16:creationId xmlns:a16="http://schemas.microsoft.com/office/drawing/2014/main" id="{4E4B52FB-D288-4489-A9F5-8166B02A4766}"/>
              </a:ext>
            </a:extLst>
          </p:cNvPr>
          <p:cNvSpPr>
            <a:spLocks xmlns:a="http://schemas.openxmlformats.org/drawingml/2006/main" noGrp="1"/>
          </p:cNvSpPr>
          <p:nvPr/>
        </p:nvSpPr>
        <p:spPr>
          <a:xfrm xmlns:a="http://schemas.openxmlformats.org/drawingml/2006/main">
            <a:off x="6553200" y="4581525"/>
            <a:ext cx="2190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200" b="1" i="0">
                <a:solidFill>
                  <a:srgbClr val="FFFFFF"/>
                </a:solidFill>
                <a:latin typeface="DejaVu Sans"/>
                <a:ea typeface="DejaVu Sans"/>
                <a:cs typeface="DejaVu Sans"/>
              </a:defRPr>
            </a:defPPr>
          </a:lstStyle>
          <a:p xmlns:a="http://schemas.openxmlformats.org/drawingml/2006/main">
            <a:pPr algn="ctr">
              <a:defRPr sz="1200" b="1" i="0">
                <a:solidFill>
                  <a:srgbClr val="FFFFFF"/>
                </a:solidFill>
                <a:latin typeface="DejaVu Sans"/>
                <a:ea typeface="DejaVu Sans"/>
                <a:cs typeface="DejaVu Sans"/>
              </a:defRPr>
            </a:pPr>
            <a:r>
              <a:rPr sz="1200" b="1" i="0">
                <a:solidFill>
                  <a:srgbClr val="FFFFFF"/>
                </a:solidFill>
                <a:latin typeface="DejaVu Sans"/>
                <a:ea typeface="DejaVu Sans"/>
                <a:cs typeface="DejaVu Sans"/>
              </a:rPr>
              <a:t>Add BO policies and observers</a:t>
            </a:r>
          </a:p>
        </p:txBody>
      </p:sp>
      <p:sp>
        <p:nvSpPr>
          <p:cNvPr id="21" name="">
            <a:extLst xmlns:a="http://schemas.openxmlformats.org/drawingml/2006/main">
              <a:ext uri="{FF2B5EF4-FFF2-40B4-BE49-F238E27FC236}">
                <a16:creationId xmlns:a16="http://schemas.microsoft.com/office/drawing/2014/main" id="{9E2D0639-03FC-469C-B6CB-6A3254E88B3A}"/>
              </a:ext>
            </a:extLst>
          </p:cNvPr>
          <p:cNvSpPr>
            <a:spLocks xmlns:a="http://schemas.openxmlformats.org/drawingml/2006/main" noGrp="1"/>
          </p:cNvSpPr>
          <p:nvPr/>
        </p:nvSpPr>
        <p:spPr>
          <a:xfrm xmlns:a="http://schemas.openxmlformats.org/drawingml/2006/main">
            <a:off x="6324600" y="5162550"/>
            <a:ext cx="23812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050" b="0" i="0">
                <a:solidFill>
                  <a:srgbClr val="CFDCE4"/>
                </a:solidFill>
                <a:latin typeface="DejaVu Sans"/>
                <a:ea typeface="DejaVu Sans"/>
                <a:cs typeface="DejaVu Sans"/>
              </a:defRPr>
            </a:defPPr>
          </a:lstStyle>
          <a:p xmlns:a="http://schemas.openxmlformats.org/drawingml/2006/main">
            <a:pPr algn="ctr">
              <a:defRPr sz="1050" b="0" i="0">
                <a:solidFill>
                  <a:srgbClr val="CFDCE4"/>
                </a:solidFill>
                <a:latin typeface="DejaVu Sans"/>
                <a:ea typeface="DejaVu Sans"/>
                <a:cs typeface="DejaVu Sans"/>
              </a:defRPr>
            </a:pPr>
            <a:r>
              <a:rPr sz="1050" b="0" i="0">
                <a:solidFill>
                  <a:srgbClr val="CFDCE4"/>
                </a:solidFill>
                <a:latin typeface="DejaVu Sans"/>
                <a:ea typeface="DejaVu Sans"/>
                <a:cs typeface="DejaVu Sans"/>
              </a:rPr>
              <a:t>EI, PI, UCB, Thompson sampling, MVES, plus stopping rules</a:t>
            </a:r>
          </a:p>
        </p:txBody>
      </p:sp>
      <p:sp>
        <p:nvSpPr>
          <p:cNvPr id="22" name="">
            <a:extLst xmlns:a="http://schemas.openxmlformats.org/drawingml/2006/main">
              <a:ext uri="{FF2B5EF4-FFF2-40B4-BE49-F238E27FC236}">
                <a16:creationId xmlns:a16="http://schemas.microsoft.com/office/drawing/2014/main" id="{C326C012-874E-4753-84A6-1AAA4ABB8BAB}"/>
              </a:ext>
            </a:extLst>
          </p:cNvPr>
          <p:cNvSpPr>
            <a:spLocks xmlns:a="http://schemas.openxmlformats.org/drawingml/2006/main" noGrp="1"/>
          </p:cNvSpPr>
          <p:nvPr/>
        </p:nvSpPr>
        <p:spPr>
          <a:xfrm xmlns:a="http://schemas.openxmlformats.org/drawingml/2006/main">
            <a:off x="8934450" y="4619625"/>
            <a:ext cx="3238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500" b="1" i="0">
                <a:solidFill>
                  <a:srgbClr val="5BC0BE"/>
                </a:solidFill>
                <a:latin typeface="DejaVu Sans"/>
                <a:ea typeface="DejaVu Sans"/>
                <a:cs typeface="DejaVu Sans"/>
              </a:defRPr>
            </a:defPPr>
          </a:lstStyle>
          <a:p xmlns:a="http://schemas.openxmlformats.org/drawingml/2006/main">
            <a:pPr algn="l">
              <a:defRPr sz="1500" b="1" i="0">
                <a:solidFill>
                  <a:srgbClr val="5BC0BE"/>
                </a:solidFill>
                <a:latin typeface="DejaVu Sans"/>
                <a:ea typeface="DejaVu Sans"/>
                <a:cs typeface="DejaVu Sans"/>
              </a:defRPr>
            </a:pPr>
            <a:r>
              <a:rPr sz="1500" b="1" i="0">
                <a:solidFill>
                  <a:srgbClr val="5BC0BE"/>
                </a:solidFill>
                <a:latin typeface="DejaVu Sans"/>
                <a:ea typeface="DejaVu Sans"/>
                <a:cs typeface="DejaVu Sans"/>
              </a:rPr>
              <a:t>4</a:t>
            </a:r>
          </a:p>
        </p:txBody>
      </p:sp>
      <p:sp>
        <p:nvSpPr>
          <p:cNvPr id="23" name="">
            <a:extLst xmlns:a="http://schemas.openxmlformats.org/drawingml/2006/main">
              <a:ext uri="{FF2B5EF4-FFF2-40B4-BE49-F238E27FC236}">
                <a16:creationId xmlns:a16="http://schemas.microsoft.com/office/drawing/2014/main" id="{F6CB8417-0DB6-473D-97C9-357343C526A8}"/>
              </a:ext>
            </a:extLst>
          </p:cNvPr>
          <p:cNvSpPr>
            <a:spLocks xmlns:a="http://schemas.openxmlformats.org/drawingml/2006/main" noGrp="1"/>
          </p:cNvSpPr>
          <p:nvPr/>
        </p:nvSpPr>
        <p:spPr>
          <a:xfrm xmlns:a="http://schemas.openxmlformats.org/drawingml/2006/main">
            <a:off x="9296400" y="4581525"/>
            <a:ext cx="2190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200" b="1" i="0">
                <a:solidFill>
                  <a:srgbClr val="FFFFFF"/>
                </a:solidFill>
                <a:latin typeface="DejaVu Sans"/>
                <a:ea typeface="DejaVu Sans"/>
                <a:cs typeface="DejaVu Sans"/>
              </a:defRPr>
            </a:defPPr>
          </a:lstStyle>
          <a:p xmlns:a="http://schemas.openxmlformats.org/drawingml/2006/main">
            <a:pPr algn="ctr">
              <a:defRPr sz="1200" b="1" i="0">
                <a:solidFill>
                  <a:srgbClr val="FFFFFF"/>
                </a:solidFill>
                <a:latin typeface="DejaVu Sans"/>
                <a:ea typeface="DejaVu Sans"/>
                <a:cs typeface="DejaVu Sans"/>
              </a:defRPr>
            </a:pPr>
            <a:r>
              <a:rPr sz="1200" b="1" i="0">
                <a:solidFill>
                  <a:srgbClr val="FFFFFF"/>
                </a:solidFill>
                <a:latin typeface="DejaVu Sans"/>
                <a:ea typeface="DejaVu Sans"/>
                <a:cs typeface="DejaVu Sans"/>
              </a:rPr>
              <a:t>Run a small pilot before scaling</a:t>
            </a:r>
          </a:p>
        </p:txBody>
      </p:sp>
      <p:sp>
        <p:nvSpPr>
          <p:cNvPr id="24" name="">
            <a:extLst xmlns:a="http://schemas.openxmlformats.org/drawingml/2006/main">
              <a:ext uri="{FF2B5EF4-FFF2-40B4-BE49-F238E27FC236}">
                <a16:creationId xmlns:a16="http://schemas.microsoft.com/office/drawing/2014/main" id="{E2012036-6301-4FA8-945E-E45A5749AF66}"/>
              </a:ext>
            </a:extLst>
          </p:cNvPr>
          <p:cNvSpPr>
            <a:spLocks xmlns:a="http://schemas.openxmlformats.org/drawingml/2006/main" noGrp="1"/>
          </p:cNvSpPr>
          <p:nvPr/>
        </p:nvSpPr>
        <p:spPr>
          <a:xfrm xmlns:a="http://schemas.openxmlformats.org/drawingml/2006/main">
            <a:off x="9067800" y="5162550"/>
            <a:ext cx="23812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050" b="0" i="0">
                <a:solidFill>
                  <a:srgbClr val="CFDCE4"/>
                </a:solidFill>
                <a:latin typeface="DejaVu Sans"/>
                <a:ea typeface="DejaVu Sans"/>
                <a:cs typeface="DejaVu Sans"/>
              </a:defRPr>
            </a:defPPr>
          </a:lstStyle>
          <a:p xmlns:a="http://schemas.openxmlformats.org/drawingml/2006/main">
            <a:pPr algn="ctr">
              <a:defRPr sz="1050" b="0" i="0">
                <a:solidFill>
                  <a:srgbClr val="CFDCE4"/>
                </a:solidFill>
                <a:latin typeface="DejaVu Sans"/>
                <a:ea typeface="DejaVu Sans"/>
                <a:cs typeface="DejaVu Sans"/>
              </a:defRPr>
            </a:pPr>
            <a:r>
              <a:rPr sz="1050" b="0" i="0">
                <a:solidFill>
                  <a:srgbClr val="CFDCE4"/>
                </a:solidFill>
                <a:latin typeface="DejaVu Sans"/>
                <a:ea typeface="DejaVu Sans"/>
                <a:cs typeface="DejaVu Sans"/>
              </a:rPr>
              <a:t>Check code, runtime, calibration, false stops, and parameter trajectories</a:t>
            </a:r>
          </a:p>
        </p:txBody>
      </p:sp>
      <p:sp>
        <p:nvSpPr>
          <p:cNvPr id="25" name="">
            <a:extLst xmlns:a="http://schemas.openxmlformats.org/drawingml/2006/main">
              <a:ext uri="{FF2B5EF4-FFF2-40B4-BE49-F238E27FC236}">
                <a16:creationId xmlns:a16="http://schemas.microsoft.com/office/drawing/2014/main" id="{43E0C1AE-44EB-4916-BD9E-4B4F6225340A}"/>
              </a:ext>
            </a:extLst>
          </p:cNvPr>
          <p:cNvSpPr>
            <a:spLocks xmlns:a="http://schemas.openxmlformats.org/drawingml/2006/main" noGrp="1"/>
          </p:cNvSpPr>
          <p:nvPr/>
        </p:nvSpPr>
        <p:spPr>
          <a:xfrm xmlns:a="http://schemas.openxmlformats.org/drawingml/2006/main">
            <a:off x="1428750" y="6048375"/>
            <a:ext cx="9334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425" b="1" i="0">
                <a:solidFill>
                  <a:srgbClr val="FFFFFF"/>
                </a:solidFill>
                <a:latin typeface="DejaVu Sans"/>
                <a:ea typeface="DejaVu Sans"/>
                <a:cs typeface="DejaVu Sans"/>
              </a:defRPr>
            </a:defPPr>
          </a:lstStyle>
          <a:p xmlns:a="http://schemas.openxmlformats.org/drawingml/2006/main">
            <a:pPr algn="ctr">
              <a:defRPr sz="1425" b="1" i="0">
                <a:solidFill>
                  <a:srgbClr val="FFFFFF"/>
                </a:solidFill>
                <a:latin typeface="DejaVu Sans"/>
                <a:ea typeface="DejaVu Sans"/>
                <a:cs typeface="DejaVu Sans"/>
              </a:defRPr>
            </a:pPr>
            <a:r>
              <a:rPr sz="1425" b="1" i="0">
                <a:solidFill>
                  <a:srgbClr val="FFFFFF"/>
                </a:solidFill>
                <a:latin typeface="DejaVu Sans"/>
                <a:ea typeface="DejaVu Sans"/>
                <a:cs typeface="DejaVu Sans"/>
              </a:rPr>
              <a:t>First deliverable: runnable 2D benchmark functions, a property table, reference optima, plots, and basic tests.</a:t>
            </a:r>
          </a:p>
        </p:txBody>
      </p:sp>
      <p:sp>
        <p:nvSpPr>
          <p:cNvPr id="26" name="">
            <a:extLst xmlns:a="http://schemas.openxmlformats.org/drawingml/2006/main">
              <a:ext uri="{FF2B5EF4-FFF2-40B4-BE49-F238E27FC236}">
                <a16:creationId xmlns:a16="http://schemas.microsoft.com/office/drawing/2014/main" id="{66B884C3-93BE-4DDB-B67F-1436F43B0115}"/>
              </a:ext>
            </a:extLst>
          </p:cNvPr>
          <p:cNvSpPr>
            <a:spLocks xmlns:a="http://schemas.openxmlformats.org/drawingml/2006/main" noGrp="1"/>
          </p:cNvSpPr>
          <p:nvPr/>
        </p:nvSpPr>
        <p:spPr>
          <a:xfrm xmlns:a="http://schemas.openxmlformats.org/drawingml/2006/main">
            <a:off x="685800" y="6477000"/>
            <a:ext cx="9810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675" b="0" i="0">
                <a:solidFill>
                  <a:srgbClr val="9EB1BE"/>
                </a:solidFill>
                <a:latin typeface="DejaVu Sans"/>
                <a:ea typeface="DejaVu Sans"/>
                <a:cs typeface="DejaVu Sans"/>
              </a:defRPr>
            </a:defPPr>
          </a:lstStyle>
          <a:p xmlns:a="http://schemas.openxmlformats.org/drawingml/2006/main">
            <a:pPr algn="l">
              <a:defRPr sz="675" b="0" i="0">
                <a:solidFill>
                  <a:srgbClr val="9EB1BE"/>
                </a:solidFill>
                <a:latin typeface="DejaVu Sans"/>
                <a:ea typeface="DejaVu Sans"/>
                <a:cs typeface="DejaVu Sans"/>
              </a:defRPr>
            </a:pPr>
            <a:r>
              <a:rPr sz="675" b="0" i="0">
                <a:solidFill>
                  <a:srgbClr val="9EB1BE"/>
                </a:solidFill>
                <a:latin typeface="DejaVu Sans"/>
                <a:ea typeface="DejaVu Sans"/>
                <a:cs typeface="DejaVu Sans"/>
              </a:rPr>
              <a:t>Project work plan; current direction from Dr. Petrus Zwart</a:t>
            </a:r>
          </a:p>
        </p:txBody>
      </p:sp>
      <p:sp>
        <p:nvSpPr>
          <p:cNvPr id="27" name="">
            <a:extLst xmlns:a="http://schemas.openxmlformats.org/drawingml/2006/main">
              <a:ext uri="{FF2B5EF4-FFF2-40B4-BE49-F238E27FC236}">
                <a16:creationId xmlns:a16="http://schemas.microsoft.com/office/drawing/2014/main" id="{AA8FF83E-9AC9-4916-8D91-6A74E17C446D}"/>
              </a:ext>
            </a:extLst>
          </p:cNvPr>
          <p:cNvSpPr>
            <a:spLocks xmlns:a="http://schemas.openxmlformats.org/drawingml/2006/main" noGrp="1"/>
          </p:cNvSpPr>
          <p:nvPr/>
        </p:nvSpPr>
        <p:spPr>
          <a:xfrm xmlns:a="http://schemas.openxmlformats.org/drawingml/2006/main">
            <a:off x="11001375" y="6429375"/>
            <a:ext cx="495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825" b="1" i="0">
                <a:solidFill>
                  <a:srgbClr val="9EB1BE"/>
                </a:solidFill>
                <a:latin typeface="DejaVu Sans"/>
                <a:ea typeface="DejaVu Sans"/>
                <a:cs typeface="DejaVu Sans"/>
              </a:defRPr>
            </a:defPPr>
          </a:lstStyle>
          <a:p xmlns:a="http://schemas.openxmlformats.org/drawingml/2006/main">
            <a:pPr algn="r">
              <a:defRPr sz="825" b="1" i="0">
                <a:solidFill>
                  <a:srgbClr val="9EB1BE"/>
                </a:solidFill>
                <a:latin typeface="DejaVu Sans"/>
                <a:ea typeface="DejaVu Sans"/>
                <a:cs typeface="DejaVu Sans"/>
              </a:defRPr>
            </a:pPr>
            <a:r>
              <a:rPr sz="825" b="1" i="0">
                <a:solidFill>
                  <a:srgbClr val="9EB1BE"/>
                </a:solidFill>
                <a:latin typeface="DejaVu Sans"/>
                <a:ea typeface="DejaVu Sans"/>
                <a:cs typeface="DejaVu Sans"/>
              </a:rPr>
              <a:t>10</a:t>
            </a:r>
          </a:p>
        </p:txBody>
      </p:sp>
    </p:spTree>
    <p:extLst>
      <p:ext uri="{BB962C8B-B14F-4D97-AF65-F5344CB8AC3E}">
        <p14:creationId xmlns:p14="http://schemas.microsoft.com/office/powerpoint/2010/main" val="108663653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DejaVu Sans"/>
        <a:ea typeface=""/>
        <a:cs typeface=""/>
      </a:majorFont>
      <a:minorFont>
        <a:latin typeface="DejaVu San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2026-10-13T08:33:50.0010000Z</dcterms:created>
  <dcterms:modified xsi:type="dcterms:W3CDTF">2026-10-13T08:33:50.0010000Z</dcterms:modified>
</coreProperties>
</file>